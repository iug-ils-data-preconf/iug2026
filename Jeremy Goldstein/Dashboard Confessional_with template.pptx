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7" r:id="rId2"/>
    <p:sldId id="265" r:id="rId3"/>
    <p:sldId id="258" r:id="rId4"/>
    <p:sldId id="264" r:id="rId5"/>
    <p:sldId id="263" r:id="rId6"/>
    <p:sldId id="269" r:id="rId7"/>
    <p:sldId id="268" r:id="rId8"/>
    <p:sldId id="267" r:id="rId9"/>
    <p:sldId id="270" r:id="rId10"/>
    <p:sldId id="271" r:id="rId11"/>
    <p:sldId id="272" r:id="rId12"/>
    <p:sldId id="273" r:id="rId13"/>
    <p:sldId id="274" r:id="rId14"/>
    <p:sldId id="275" r:id="rId15"/>
    <p:sldId id="278" r:id="rId16"/>
    <p:sldId id="276" r:id="rId17"/>
    <p:sldId id="281" r:id="rId18"/>
    <p:sldId id="279"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3842"/>
    <a:srgbClr val="00223D"/>
    <a:srgbClr val="620E28"/>
    <a:srgbClr val="F3E4C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4756" autoAdjust="0"/>
    <p:restoredTop sz="81765" autoAdjust="0"/>
  </p:normalViewPr>
  <p:slideViewPr>
    <p:cSldViewPr snapToGrid="0">
      <p:cViewPr varScale="1">
        <p:scale>
          <a:sx n="81" d="100"/>
          <a:sy n="81" d="100"/>
        </p:scale>
        <p:origin x="739"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5E792A-D199-4740-A380-51F76153B224}" type="datetimeFigureOut">
              <a:rPr lang="en-US" smtClean="0"/>
              <a:t>4/2/2026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8DACD6-92EE-45CE-A7B0-1F123E9D0438}" type="slidenum">
              <a:rPr lang="en-US" smtClean="0"/>
              <a:t>‹#›</a:t>
            </a:fld>
            <a:endParaRPr lang="en-US"/>
          </a:p>
        </p:txBody>
      </p:sp>
    </p:spTree>
    <p:extLst>
      <p:ext uri="{BB962C8B-B14F-4D97-AF65-F5344CB8AC3E}">
        <p14:creationId xmlns:p14="http://schemas.microsoft.com/office/powerpoint/2010/main" val="25360312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We primarily</a:t>
            </a:r>
            <a:r>
              <a:rPr lang="en-US" baseline="0" dirty="0" smtClean="0"/>
              <a:t> build our dashboards within Minuteman using Google’s Looker Studio as we’re largely a Google shop already, it plays nicely with other Google tools, the sharing options work perfectly for our needs, and it’s FREE!  And we do a lot with them.  For just a few of the more interesting example we have out Overdrive dashboard tying together our Consortia, advantage and state-wide collections with some Sierra data.  We have an attempt at a DEI collection development dashboard based around LC subjects and a whole lot of truly terrible regular expressions.  And we have our Census dashboard linking patron addresses to census demographics.</a:t>
            </a:r>
            <a:endParaRPr lang="en-US" dirty="0"/>
          </a:p>
        </p:txBody>
      </p:sp>
      <p:sp>
        <p:nvSpPr>
          <p:cNvPr id="4" name="Slide Number Placeholder 3"/>
          <p:cNvSpPr>
            <a:spLocks noGrp="1"/>
          </p:cNvSpPr>
          <p:nvPr>
            <p:ph type="sldNum" sz="quarter" idx="5"/>
          </p:nvPr>
        </p:nvSpPr>
        <p:spPr/>
        <p:txBody>
          <a:bodyPr/>
          <a:lstStyle/>
          <a:p>
            <a:fld id="{678DACD6-92EE-45CE-A7B0-1F123E9D0438}" type="slidenum">
              <a:rPr lang="en-US" smtClean="0"/>
              <a:t>2</a:t>
            </a:fld>
            <a:endParaRPr lang="en-US"/>
          </a:p>
        </p:txBody>
      </p:sp>
    </p:spTree>
    <p:extLst>
      <p:ext uri="{BB962C8B-B14F-4D97-AF65-F5344CB8AC3E}">
        <p14:creationId xmlns:p14="http://schemas.microsoft.com/office/powerpoint/2010/main" val="23681067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Behind every</a:t>
            </a:r>
            <a:r>
              <a:rPr lang="en-US" baseline="0" dirty="0" smtClean="0"/>
              <a:t> visualization is a table, sometimes a few and the data structure of that table informs what you can and can’t do.  For us most of these are simply Google private Google docs that work as data sources, though we’ve also taken to storing data in a </a:t>
            </a:r>
            <a:r>
              <a:rPr lang="en-US" baseline="0" dirty="0" err="1" smtClean="0"/>
              <a:t>bigquery</a:t>
            </a:r>
            <a:r>
              <a:rPr lang="en-US" baseline="0" dirty="0" smtClean="0"/>
              <a:t> database for a few projects.</a:t>
            </a:r>
          </a:p>
          <a:p>
            <a:endParaRPr lang="en-US" dirty="0"/>
          </a:p>
        </p:txBody>
      </p:sp>
      <p:sp>
        <p:nvSpPr>
          <p:cNvPr id="4" name="Slide Number Placeholder 3"/>
          <p:cNvSpPr>
            <a:spLocks noGrp="1"/>
          </p:cNvSpPr>
          <p:nvPr>
            <p:ph type="sldNum" sz="quarter" idx="5"/>
          </p:nvPr>
        </p:nvSpPr>
        <p:spPr/>
        <p:txBody>
          <a:bodyPr/>
          <a:lstStyle/>
          <a:p>
            <a:fld id="{678DACD6-92EE-45CE-A7B0-1F123E9D0438}" type="slidenum">
              <a:rPr lang="en-US" smtClean="0"/>
              <a:t>3</a:t>
            </a:fld>
            <a:endParaRPr lang="en-US"/>
          </a:p>
        </p:txBody>
      </p:sp>
    </p:spTree>
    <p:extLst>
      <p:ext uri="{BB962C8B-B14F-4D97-AF65-F5344CB8AC3E}">
        <p14:creationId xmlns:p14="http://schemas.microsoft.com/office/powerpoint/2010/main" val="1596217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If you’re here you know what a table is, but the structure of the table you’re working with can</a:t>
            </a:r>
            <a:r>
              <a:rPr lang="en-US" baseline="0" dirty="0" smtClean="0"/>
              <a:t> be critical to what you may wish to accomplish with </a:t>
            </a:r>
            <a:r>
              <a:rPr lang="en-US" baseline="0" dirty="0" smtClean="0"/>
              <a:t>it.  As a table each column is narrowly defined to contain data of a particular data type: text, integers, timestamps, Boolean values, each of which may be controlled in other ways as well such as whether or not null values are allowed.  Rows are then individual instances within the table representing a record, a transaction, an object representing something that can be represented by the combination of those particular fields.</a:t>
            </a:r>
            <a:endParaRPr lang="en-US" dirty="0"/>
          </a:p>
        </p:txBody>
      </p:sp>
      <p:sp>
        <p:nvSpPr>
          <p:cNvPr id="4" name="Slide Number Placeholder 3"/>
          <p:cNvSpPr>
            <a:spLocks noGrp="1"/>
          </p:cNvSpPr>
          <p:nvPr>
            <p:ph type="sldNum" sz="quarter" idx="5"/>
          </p:nvPr>
        </p:nvSpPr>
        <p:spPr/>
        <p:txBody>
          <a:bodyPr/>
          <a:lstStyle/>
          <a:p>
            <a:fld id="{678DACD6-92EE-45CE-A7B0-1F123E9D0438}" type="slidenum">
              <a:rPr lang="en-US" smtClean="0"/>
              <a:t>4</a:t>
            </a:fld>
            <a:endParaRPr lang="en-US"/>
          </a:p>
        </p:txBody>
      </p:sp>
    </p:spTree>
    <p:extLst>
      <p:ext uri="{BB962C8B-B14F-4D97-AF65-F5344CB8AC3E}">
        <p14:creationId xmlns:p14="http://schemas.microsoft.com/office/powerpoint/2010/main" val="4148309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Taking this table into the real of data visualization tools there’s an additional way we need to consider the table structure and that is which columns represent dimensions and which are metrics.</a:t>
            </a:r>
          </a:p>
          <a:p>
            <a:r>
              <a:rPr lang="en-US" baseline="0" dirty="0" smtClean="0"/>
              <a:t>Dimensions are attributes of your data, generally text (potentially numbers being treated as text) or dates.  These are the elements that populate the axes of charts or that may provide filtering options.  Metrics are quantitative data, the information that you wish to use a chart to actually measure.</a:t>
            </a:r>
          </a:p>
          <a:p>
            <a:r>
              <a:rPr lang="en-US" baseline="0" dirty="0" smtClean="0"/>
              <a:t>You </a:t>
            </a:r>
            <a:r>
              <a:rPr lang="en-US" baseline="0" dirty="0" smtClean="0"/>
              <a:t>will almost always have </a:t>
            </a:r>
            <a:r>
              <a:rPr lang="en-US" baseline="0" dirty="0" smtClean="0"/>
              <a:t>metrics, </a:t>
            </a:r>
            <a:r>
              <a:rPr lang="en-US" baseline="0" dirty="0" smtClean="0"/>
              <a:t>but </a:t>
            </a:r>
            <a:r>
              <a:rPr lang="en-US" baseline="0" dirty="0" smtClean="0"/>
              <a:t>they are technically optional as there </a:t>
            </a:r>
            <a:r>
              <a:rPr lang="en-US" baseline="0" dirty="0" smtClean="0"/>
              <a:t>are visualizations that do not require them or </a:t>
            </a:r>
            <a:r>
              <a:rPr lang="en-US" baseline="0" dirty="0" smtClean="0"/>
              <a:t>that can </a:t>
            </a:r>
            <a:r>
              <a:rPr lang="en-US" baseline="0" dirty="0" smtClean="0"/>
              <a:t>work by </a:t>
            </a:r>
            <a:r>
              <a:rPr lang="en-US" baseline="0" dirty="0" smtClean="0"/>
              <a:t>simply providing counts of the dimensions themselves</a:t>
            </a:r>
            <a:endParaRPr lang="en-US" baseline="0" dirty="0" smtClean="0"/>
          </a:p>
          <a:p>
            <a:r>
              <a:rPr lang="en-US" baseline="0" dirty="0" smtClean="0"/>
              <a:t>In this example the dimensions are the transaction dates and the stat group column representing the terminal where each transaction occurred.</a:t>
            </a:r>
            <a:endParaRPr lang="en-US" dirty="0" smtClean="0"/>
          </a:p>
          <a:p>
            <a:endParaRPr lang="en-US" dirty="0"/>
          </a:p>
        </p:txBody>
      </p:sp>
      <p:sp>
        <p:nvSpPr>
          <p:cNvPr id="4" name="Slide Number Placeholder 3"/>
          <p:cNvSpPr>
            <a:spLocks noGrp="1"/>
          </p:cNvSpPr>
          <p:nvPr>
            <p:ph type="sldNum" sz="quarter" idx="5"/>
          </p:nvPr>
        </p:nvSpPr>
        <p:spPr/>
        <p:txBody>
          <a:bodyPr/>
          <a:lstStyle/>
          <a:p>
            <a:fld id="{678DACD6-92EE-45CE-A7B0-1F123E9D0438}" type="slidenum">
              <a:rPr lang="en-US" smtClean="0"/>
              <a:t>5</a:t>
            </a:fld>
            <a:endParaRPr lang="en-US"/>
          </a:p>
        </p:txBody>
      </p:sp>
    </p:spTree>
    <p:extLst>
      <p:ext uri="{BB962C8B-B14F-4D97-AF65-F5344CB8AC3E}">
        <p14:creationId xmlns:p14="http://schemas.microsoft.com/office/powerpoint/2010/main" val="35118310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Here’s the edit mode in looker studio.</a:t>
            </a:r>
            <a:r>
              <a:rPr lang="en-US" baseline="0" dirty="0" smtClean="0"/>
              <a:t>  For a line graph of this sort it requires a dimension field (</a:t>
            </a:r>
            <a:r>
              <a:rPr lang="en-US" baseline="0" dirty="0" smtClean="0"/>
              <a:t>date…which can be aggregated if we wish into different timespans) </a:t>
            </a:r>
            <a:r>
              <a:rPr lang="en-US" baseline="0" dirty="0" smtClean="0"/>
              <a:t>for the x axis and at least one metric field (various transaction types) as the y axis.  Then the y dimension is just calculated from the sum of that </a:t>
            </a:r>
            <a:r>
              <a:rPr lang="en-US" baseline="0" dirty="0" smtClean="0"/>
              <a:t>metric, in this case, given the nature of our data we can include separate metrics for each of our transaction types, all mapped to the y axis.</a:t>
            </a:r>
            <a:endParaRPr lang="en-US" dirty="0" smtClean="0"/>
          </a:p>
          <a:p>
            <a:endParaRPr lang="en-US" dirty="0"/>
          </a:p>
        </p:txBody>
      </p:sp>
      <p:sp>
        <p:nvSpPr>
          <p:cNvPr id="4" name="Slide Number Placeholder 3"/>
          <p:cNvSpPr>
            <a:spLocks noGrp="1"/>
          </p:cNvSpPr>
          <p:nvPr>
            <p:ph type="sldNum" sz="quarter" idx="5"/>
          </p:nvPr>
        </p:nvSpPr>
        <p:spPr/>
        <p:txBody>
          <a:bodyPr/>
          <a:lstStyle/>
          <a:p>
            <a:fld id="{678DACD6-92EE-45CE-A7B0-1F123E9D0438}" type="slidenum">
              <a:rPr lang="en-US" smtClean="0"/>
              <a:t>6</a:t>
            </a:fld>
            <a:endParaRPr lang="en-US"/>
          </a:p>
        </p:txBody>
      </p:sp>
    </p:spTree>
    <p:extLst>
      <p:ext uri="{BB962C8B-B14F-4D97-AF65-F5344CB8AC3E}">
        <p14:creationId xmlns:p14="http://schemas.microsoft.com/office/powerpoint/2010/main" val="973437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Now for my favorite</a:t>
            </a:r>
            <a:r>
              <a:rPr lang="en-US" baseline="0" dirty="0" smtClean="0"/>
              <a:t> thing to do in excel.  </a:t>
            </a:r>
            <a:r>
              <a:rPr lang="en-US" dirty="0" smtClean="0"/>
              <a:t>Here’s </a:t>
            </a:r>
            <a:r>
              <a:rPr lang="en-US" dirty="0" smtClean="0"/>
              <a:t>the raw form of the chart we were just looking at,</a:t>
            </a:r>
            <a:r>
              <a:rPr lang="en-US" baseline="0" dirty="0" smtClean="0"/>
              <a:t> and we’re going to just Excel’s Get and Transform / Power Query to change the shape of the data and unlock different ways to use the data.  This is using Excel 2016 which I will cling to for as long as I possibly </a:t>
            </a:r>
            <a:r>
              <a:rPr lang="en-US" baseline="0" dirty="0" smtClean="0"/>
              <a:t>can as the get and transform features in office 365 are more restrictive from what I’ve seen, at least in the cheaper versions.</a:t>
            </a:r>
            <a:endParaRPr lang="en-US" dirty="0"/>
          </a:p>
        </p:txBody>
      </p:sp>
      <p:sp>
        <p:nvSpPr>
          <p:cNvPr id="4" name="Slide Number Placeholder 3"/>
          <p:cNvSpPr>
            <a:spLocks noGrp="1"/>
          </p:cNvSpPr>
          <p:nvPr>
            <p:ph type="sldNum" sz="quarter" idx="5"/>
          </p:nvPr>
        </p:nvSpPr>
        <p:spPr/>
        <p:txBody>
          <a:bodyPr/>
          <a:lstStyle/>
          <a:p>
            <a:fld id="{678DACD6-92EE-45CE-A7B0-1F123E9D0438}" type="slidenum">
              <a:rPr lang="en-US" smtClean="0"/>
              <a:t>7</a:t>
            </a:fld>
            <a:endParaRPr lang="en-US"/>
          </a:p>
        </p:txBody>
      </p:sp>
    </p:spTree>
    <p:extLst>
      <p:ext uri="{BB962C8B-B14F-4D97-AF65-F5344CB8AC3E}">
        <p14:creationId xmlns:p14="http://schemas.microsoft.com/office/powerpoint/2010/main" val="28196503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smtClean="0"/>
              <a:t>Unpivot</a:t>
            </a:r>
            <a:r>
              <a:rPr lang="en-US" dirty="0" smtClean="0"/>
              <a:t> is found under the transform tab.  </a:t>
            </a:r>
            <a:r>
              <a:rPr lang="en-US" dirty="0" smtClean="0"/>
              <a:t>Here you can select all the columns representing different transaction types,</a:t>
            </a:r>
            <a:r>
              <a:rPr lang="en-US" baseline="0" dirty="0" smtClean="0"/>
              <a:t> click on </a:t>
            </a:r>
            <a:r>
              <a:rPr lang="en-US" baseline="0" dirty="0" err="1" smtClean="0"/>
              <a:t>unpivot</a:t>
            </a:r>
            <a:r>
              <a:rPr lang="en-US" baseline="0" dirty="0" smtClean="0"/>
              <a:t>, and suddenly we have reduced our table to four columns in such a way that transaction type can be treated as a dimension.</a:t>
            </a:r>
            <a:endParaRPr lang="en-US" dirty="0" smtClean="0"/>
          </a:p>
          <a:p>
            <a:endParaRPr lang="en-US" dirty="0"/>
          </a:p>
        </p:txBody>
      </p:sp>
      <p:sp>
        <p:nvSpPr>
          <p:cNvPr id="4" name="Slide Number Placeholder 3"/>
          <p:cNvSpPr>
            <a:spLocks noGrp="1"/>
          </p:cNvSpPr>
          <p:nvPr>
            <p:ph type="sldNum" sz="quarter" idx="5"/>
          </p:nvPr>
        </p:nvSpPr>
        <p:spPr/>
        <p:txBody>
          <a:bodyPr/>
          <a:lstStyle/>
          <a:p>
            <a:fld id="{678DACD6-92EE-45CE-A7B0-1F123E9D0438}" type="slidenum">
              <a:rPr lang="en-US" smtClean="0"/>
              <a:t>8</a:t>
            </a:fld>
            <a:endParaRPr lang="en-US"/>
          </a:p>
        </p:txBody>
      </p:sp>
    </p:spTree>
    <p:extLst>
      <p:ext uri="{BB962C8B-B14F-4D97-AF65-F5344CB8AC3E}">
        <p14:creationId xmlns:p14="http://schemas.microsoft.com/office/powerpoint/2010/main" val="19510315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Now the </a:t>
            </a:r>
            <a:r>
              <a:rPr lang="en-US" dirty="0" err="1" smtClean="0"/>
              <a:t>unpivoted</a:t>
            </a:r>
            <a:r>
              <a:rPr lang="en-US" baseline="0" dirty="0" smtClean="0"/>
              <a:t> is essentially the more natural way for the data to exist in SQL already, but this is one example showing that by considering the query you write you can reshape your data to fit your exact needs</a:t>
            </a:r>
            <a:r>
              <a:rPr lang="en-US" baseline="0" dirty="0" smtClean="0"/>
              <a:t>.  On the left we have a query output matching our original table, using a bunch of filter() functions to provide different subsets of the total transaction count.  On the right we have a form matching our </a:t>
            </a:r>
            <a:r>
              <a:rPr lang="en-US" baseline="0" dirty="0" err="1" smtClean="0"/>
              <a:t>unpivoted</a:t>
            </a:r>
            <a:r>
              <a:rPr lang="en-US" baseline="0" dirty="0" smtClean="0"/>
              <a:t> table, here using a case state to break out the transaction types that we care to group our totals on.  </a:t>
            </a:r>
          </a:p>
        </p:txBody>
      </p:sp>
      <p:sp>
        <p:nvSpPr>
          <p:cNvPr id="4" name="Slide Number Placeholder 3"/>
          <p:cNvSpPr>
            <a:spLocks noGrp="1"/>
          </p:cNvSpPr>
          <p:nvPr>
            <p:ph type="sldNum" sz="quarter" idx="5"/>
          </p:nvPr>
        </p:nvSpPr>
        <p:spPr/>
        <p:txBody>
          <a:bodyPr/>
          <a:lstStyle/>
          <a:p>
            <a:fld id="{678DACD6-92EE-45CE-A7B0-1F123E9D0438}" type="slidenum">
              <a:rPr lang="en-US" smtClean="0"/>
              <a:t>9</a:t>
            </a:fld>
            <a:endParaRPr lang="en-US"/>
          </a:p>
        </p:txBody>
      </p:sp>
    </p:spTree>
    <p:extLst>
      <p:ext uri="{BB962C8B-B14F-4D97-AF65-F5344CB8AC3E}">
        <p14:creationId xmlns:p14="http://schemas.microsoft.com/office/powerpoint/2010/main" val="14278362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For a practical example of this in action, our holdings dashboard takes</a:t>
            </a:r>
            <a:r>
              <a:rPr lang="en-US" baseline="0" dirty="0" smtClean="0"/>
              <a:t> the turnover by owning location and item type report from Decision Center, which produces separate spreadsheets </a:t>
            </a:r>
            <a:r>
              <a:rPr lang="en-US" baseline="0" dirty="0" smtClean="0"/>
              <a:t>for </a:t>
            </a:r>
            <a:r>
              <a:rPr lang="en-US" baseline="0" dirty="0" smtClean="0"/>
              <a:t>item counts and </a:t>
            </a:r>
            <a:r>
              <a:rPr lang="en-US" baseline="0" dirty="0" err="1" smtClean="0"/>
              <a:t>circ</a:t>
            </a:r>
            <a:r>
              <a:rPr lang="en-US" baseline="0" dirty="0" smtClean="0"/>
              <a:t> counts. </a:t>
            </a:r>
            <a:r>
              <a:rPr lang="en-US" baseline="0" dirty="0" smtClean="0"/>
              <a:t>  These can be exported in the format you see at the top.  So you do have to edit that a bit before doing anything else to eliminate the excess spacing and get rid of the All item types column that we don’t actually need as our visualization tool will handle totaling.  With that formatted to our needs we can </a:t>
            </a:r>
            <a:r>
              <a:rPr lang="en-US" baseline="0" dirty="0" err="1" smtClean="0"/>
              <a:t>unpivot</a:t>
            </a:r>
            <a:r>
              <a:rPr lang="en-US" baseline="0" dirty="0" smtClean="0"/>
              <a:t> the data as we just saw producing a pair of tables similar to what you see in the left with 3 columns, library, item type and a total.  Once we have those two tables we can use the merge function to join them together on </a:t>
            </a:r>
            <a:r>
              <a:rPr lang="en-US" baseline="0" dirty="0" smtClean="0"/>
              <a:t>library and </a:t>
            </a:r>
            <a:r>
              <a:rPr lang="en-US" baseline="0" dirty="0" err="1" smtClean="0"/>
              <a:t>itype</a:t>
            </a:r>
            <a:r>
              <a:rPr lang="en-US" baseline="0" dirty="0" smtClean="0"/>
              <a:t> to get our final </a:t>
            </a:r>
            <a:r>
              <a:rPr lang="en-US" baseline="0" dirty="0" smtClean="0"/>
              <a:t>table.  The date column I just add in manually since it’s a single value representing the month for all rows, which only matters when we’re tracking this information over time.</a:t>
            </a:r>
            <a:endParaRPr lang="en-US" dirty="0" smtClean="0"/>
          </a:p>
          <a:p>
            <a:endParaRPr lang="en-US" dirty="0"/>
          </a:p>
        </p:txBody>
      </p:sp>
      <p:sp>
        <p:nvSpPr>
          <p:cNvPr id="4" name="Slide Number Placeholder 3"/>
          <p:cNvSpPr>
            <a:spLocks noGrp="1"/>
          </p:cNvSpPr>
          <p:nvPr>
            <p:ph type="sldNum" sz="quarter" idx="5"/>
          </p:nvPr>
        </p:nvSpPr>
        <p:spPr/>
        <p:txBody>
          <a:bodyPr/>
          <a:lstStyle/>
          <a:p>
            <a:fld id="{678DACD6-92EE-45CE-A7B0-1F123E9D0438}" type="slidenum">
              <a:rPr lang="en-US" smtClean="0"/>
              <a:t>10</a:t>
            </a:fld>
            <a:endParaRPr lang="en-US"/>
          </a:p>
        </p:txBody>
      </p:sp>
    </p:spTree>
    <p:extLst>
      <p:ext uri="{BB962C8B-B14F-4D97-AF65-F5344CB8AC3E}">
        <p14:creationId xmlns:p14="http://schemas.microsoft.com/office/powerpoint/2010/main" val="22017347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As in our dashboard which features</a:t>
            </a:r>
            <a:r>
              <a:rPr lang="en-US" baseline="0" dirty="0" smtClean="0"/>
              <a:t> a w</a:t>
            </a:r>
            <a:r>
              <a:rPr lang="en-US" dirty="0" smtClean="0"/>
              <a:t>hole</a:t>
            </a:r>
            <a:r>
              <a:rPr lang="en-US" baseline="0" dirty="0" smtClean="0"/>
              <a:t> </a:t>
            </a:r>
            <a:r>
              <a:rPr lang="en-US" baseline="0" dirty="0" smtClean="0"/>
              <a:t>bunch of charts</a:t>
            </a:r>
            <a:r>
              <a:rPr lang="en-US" baseline="0" dirty="0" smtClean="0"/>
              <a:t>, all using this </a:t>
            </a:r>
            <a:r>
              <a:rPr lang="en-US" baseline="0" dirty="0" smtClean="0"/>
              <a:t>single considered table taken from </a:t>
            </a:r>
            <a:r>
              <a:rPr lang="en-US" baseline="0" dirty="0" err="1" smtClean="0"/>
              <a:t>unpivoting</a:t>
            </a:r>
            <a:r>
              <a:rPr lang="en-US" baseline="0" dirty="0" smtClean="0"/>
              <a:t> a report produced in Decision Center on a monthly basis</a:t>
            </a:r>
          </a:p>
          <a:p>
            <a:r>
              <a:rPr lang="en-US" baseline="0" dirty="0" smtClean="0"/>
              <a:t>For the sunburst chart example the two percentages are showing that the </a:t>
            </a:r>
            <a:r>
              <a:rPr lang="en-US" baseline="0" dirty="0" err="1" smtClean="0"/>
              <a:t>dvd</a:t>
            </a:r>
            <a:r>
              <a:rPr lang="en-US" baseline="0" dirty="0" smtClean="0"/>
              <a:t> f </a:t>
            </a:r>
            <a:r>
              <a:rPr lang="en-US" baseline="0" dirty="0" err="1" smtClean="0"/>
              <a:t>itype</a:t>
            </a:r>
            <a:r>
              <a:rPr lang="en-US" baseline="0" dirty="0" smtClean="0"/>
              <a:t> represents 10% of the checkouts among items in the adult segment of that chart (the middle ring) and 6% overall.  Compare to 6% and 4% of holdings (2</a:t>
            </a:r>
            <a:r>
              <a:rPr lang="en-US" baseline="30000" dirty="0" smtClean="0"/>
              <a:t>nd</a:t>
            </a:r>
            <a:r>
              <a:rPr lang="en-US" baseline="0" dirty="0" smtClean="0"/>
              <a:t> largest segment) in the chart to the left</a:t>
            </a:r>
            <a:r>
              <a:rPr lang="en-US" baseline="0" dirty="0" smtClean="0"/>
              <a:t>.  And yeah you can very clearly see the drop off in the use of books on cd’s since lockdown.</a:t>
            </a:r>
            <a:endParaRPr lang="en-US" dirty="0" smtClean="0"/>
          </a:p>
          <a:p>
            <a:endParaRPr lang="en-US" dirty="0"/>
          </a:p>
        </p:txBody>
      </p:sp>
      <p:sp>
        <p:nvSpPr>
          <p:cNvPr id="4" name="Slide Number Placeholder 3"/>
          <p:cNvSpPr>
            <a:spLocks noGrp="1"/>
          </p:cNvSpPr>
          <p:nvPr>
            <p:ph type="sldNum" sz="quarter" idx="5"/>
          </p:nvPr>
        </p:nvSpPr>
        <p:spPr/>
        <p:txBody>
          <a:bodyPr/>
          <a:lstStyle/>
          <a:p>
            <a:fld id="{678DACD6-92EE-45CE-A7B0-1F123E9D0438}" type="slidenum">
              <a:rPr lang="en-US" smtClean="0"/>
              <a:t>11</a:t>
            </a:fld>
            <a:endParaRPr lang="en-US"/>
          </a:p>
        </p:txBody>
      </p:sp>
    </p:spTree>
    <p:extLst>
      <p:ext uri="{BB962C8B-B14F-4D97-AF65-F5344CB8AC3E}">
        <p14:creationId xmlns:p14="http://schemas.microsoft.com/office/powerpoint/2010/main" val="2004325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That dashboard is updated manually each month, but many of ours such as </a:t>
            </a:r>
            <a:r>
              <a:rPr lang="en-US" dirty="0" smtClean="0"/>
              <a:t>this</a:t>
            </a:r>
            <a:r>
              <a:rPr lang="en-US" baseline="0" dirty="0" smtClean="0"/>
              <a:t> piece </a:t>
            </a:r>
            <a:r>
              <a:rPr lang="en-US" baseline="0" dirty="0" smtClean="0"/>
              <a:t>of </a:t>
            </a:r>
            <a:r>
              <a:rPr lang="en-US" baseline="0" dirty="0" smtClean="0"/>
              <a:t>our </a:t>
            </a:r>
            <a:r>
              <a:rPr lang="en-US" baseline="0" dirty="0" err="1" smtClean="0"/>
              <a:t>circ</a:t>
            </a:r>
            <a:r>
              <a:rPr lang="en-US" baseline="0" dirty="0" smtClean="0"/>
              <a:t> dashboard </a:t>
            </a:r>
            <a:r>
              <a:rPr lang="en-US" baseline="0" dirty="0" smtClean="0"/>
              <a:t>are </a:t>
            </a:r>
            <a:r>
              <a:rPr lang="en-US" baseline="0" dirty="0" smtClean="0"/>
              <a:t>purely automated.  </a:t>
            </a:r>
            <a:r>
              <a:rPr lang="en-US" baseline="0" dirty="0" smtClean="0"/>
              <a:t>This dashboard currently </a:t>
            </a:r>
            <a:r>
              <a:rPr lang="en-US" baseline="0" dirty="0" smtClean="0"/>
              <a:t>has 13 pages of charts in total, providing DAILY counts of transactions, records of fines, online registrations, unique user counts and as seen here that state of items moving through between libraries in the network, </a:t>
            </a:r>
            <a:r>
              <a:rPr lang="en-US" baseline="0" dirty="0" smtClean="0"/>
              <a:t>generally tracing back to 2020.  All </a:t>
            </a:r>
            <a:r>
              <a:rPr lang="en-US" baseline="0" dirty="0" smtClean="0"/>
              <a:t>of this is way too much to handle manually on a daily </a:t>
            </a:r>
            <a:r>
              <a:rPr lang="en-US" baseline="0" dirty="0" smtClean="0"/>
              <a:t>basis but automating it has made these charts into something I can set and forget.  </a:t>
            </a:r>
            <a:r>
              <a:rPr lang="en-US" baseline="0" dirty="0" smtClean="0"/>
              <a:t>Incidentally the weird spike seen here in the transit counts is because the state’s delivery service had their two largest trucks out of commission for a bit on this library’s route and it was painful.</a:t>
            </a:r>
            <a:endParaRPr lang="en-US" dirty="0" smtClean="0"/>
          </a:p>
          <a:p>
            <a:endParaRPr lang="en-US" dirty="0"/>
          </a:p>
        </p:txBody>
      </p:sp>
      <p:sp>
        <p:nvSpPr>
          <p:cNvPr id="4" name="Slide Number Placeholder 3"/>
          <p:cNvSpPr>
            <a:spLocks noGrp="1"/>
          </p:cNvSpPr>
          <p:nvPr>
            <p:ph type="sldNum" sz="quarter" idx="5"/>
          </p:nvPr>
        </p:nvSpPr>
        <p:spPr/>
        <p:txBody>
          <a:bodyPr/>
          <a:lstStyle/>
          <a:p>
            <a:fld id="{678DACD6-92EE-45CE-A7B0-1F123E9D0438}" type="slidenum">
              <a:rPr lang="en-US" smtClean="0"/>
              <a:t>12</a:t>
            </a:fld>
            <a:endParaRPr lang="en-US"/>
          </a:p>
        </p:txBody>
      </p:sp>
    </p:spTree>
    <p:extLst>
      <p:ext uri="{BB962C8B-B14F-4D97-AF65-F5344CB8AC3E}">
        <p14:creationId xmlns:p14="http://schemas.microsoft.com/office/powerpoint/2010/main" val="33127658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The</a:t>
            </a:r>
            <a:r>
              <a:rPr lang="en-US" baseline="0" dirty="0" smtClean="0"/>
              <a:t> script used to run all these searches each day and update a set of Google sheets serving as our data sources is available here</a:t>
            </a:r>
            <a:r>
              <a:rPr lang="en-US" baseline="0" dirty="0" smtClean="0"/>
              <a:t>.  And if you are interested in learning more about how to develop scripts like that please come to my session on Tuesday.</a:t>
            </a:r>
            <a:endParaRPr lang="en-US" dirty="0" smtClean="0"/>
          </a:p>
          <a:p>
            <a:endParaRPr lang="en-US" dirty="0"/>
          </a:p>
        </p:txBody>
      </p:sp>
      <p:sp>
        <p:nvSpPr>
          <p:cNvPr id="4" name="Slide Number Placeholder 3"/>
          <p:cNvSpPr>
            <a:spLocks noGrp="1"/>
          </p:cNvSpPr>
          <p:nvPr>
            <p:ph type="sldNum" sz="quarter" idx="5"/>
          </p:nvPr>
        </p:nvSpPr>
        <p:spPr/>
        <p:txBody>
          <a:bodyPr/>
          <a:lstStyle/>
          <a:p>
            <a:fld id="{678DACD6-92EE-45CE-A7B0-1F123E9D0438}" type="slidenum">
              <a:rPr lang="en-US" smtClean="0"/>
              <a:t>13</a:t>
            </a:fld>
            <a:endParaRPr lang="en-US"/>
          </a:p>
        </p:txBody>
      </p:sp>
    </p:spTree>
    <p:extLst>
      <p:ext uri="{BB962C8B-B14F-4D97-AF65-F5344CB8AC3E}">
        <p14:creationId xmlns:p14="http://schemas.microsoft.com/office/powerpoint/2010/main" val="18920122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Going</a:t>
            </a:r>
            <a:r>
              <a:rPr lang="en-US" baseline="0" dirty="0" smtClean="0"/>
              <a:t> to something a bit more ambitious, our most popular dashboard is our collection of census maps that combine anonymized patron data from Sierra (aggregated on census tract id stored in a </a:t>
            </a:r>
            <a:r>
              <a:rPr lang="en-US" baseline="0" dirty="0" err="1" smtClean="0"/>
              <a:t>varfield</a:t>
            </a:r>
            <a:r>
              <a:rPr lang="en-US" baseline="0" dirty="0" smtClean="0"/>
              <a:t>) with census bureau demographics</a:t>
            </a:r>
            <a:r>
              <a:rPr lang="en-US" baseline="0" dirty="0" smtClean="0"/>
              <a:t>.  Using these our libraries can quickly pinpoint neighborhoods within their communities that they are serving well or possibly underserving and get a sense of the demographic make up of those areas.</a:t>
            </a:r>
            <a:endParaRPr lang="en-US" dirty="0" smtClean="0"/>
          </a:p>
          <a:p>
            <a:endParaRPr lang="en-US" dirty="0"/>
          </a:p>
        </p:txBody>
      </p:sp>
      <p:sp>
        <p:nvSpPr>
          <p:cNvPr id="4" name="Slide Number Placeholder 3"/>
          <p:cNvSpPr>
            <a:spLocks noGrp="1"/>
          </p:cNvSpPr>
          <p:nvPr>
            <p:ph type="sldNum" sz="quarter" idx="5"/>
          </p:nvPr>
        </p:nvSpPr>
        <p:spPr/>
        <p:txBody>
          <a:bodyPr/>
          <a:lstStyle/>
          <a:p>
            <a:fld id="{678DACD6-92EE-45CE-A7B0-1F123E9D0438}" type="slidenum">
              <a:rPr lang="en-US" smtClean="0"/>
              <a:t>14</a:t>
            </a:fld>
            <a:endParaRPr lang="en-US"/>
          </a:p>
        </p:txBody>
      </p:sp>
    </p:spTree>
    <p:extLst>
      <p:ext uri="{BB962C8B-B14F-4D97-AF65-F5344CB8AC3E}">
        <p14:creationId xmlns:p14="http://schemas.microsoft.com/office/powerpoint/2010/main" val="4220244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Most of the underlying table here is actually pretty straightforward,</a:t>
            </a:r>
            <a:r>
              <a:rPr lang="en-US" baseline="0" dirty="0" smtClean="0"/>
              <a:t> and exposed right in the dashboard.  The exception being the GIS data needed for the map, which we’re getting right from the census bureau…along with the </a:t>
            </a:r>
            <a:r>
              <a:rPr lang="en-US" baseline="0" dirty="0" err="1" smtClean="0"/>
              <a:t>estimated_population</a:t>
            </a:r>
            <a:r>
              <a:rPr lang="en-US" baseline="0" dirty="0" smtClean="0"/>
              <a:t> stat.  The one key bit that isn’t visible </a:t>
            </a:r>
            <a:r>
              <a:rPr lang="en-US" baseline="0" dirty="0" smtClean="0"/>
              <a:t>(because it’s not really intended to be human readable) is </a:t>
            </a:r>
            <a:r>
              <a:rPr lang="en-US" baseline="0" dirty="0" smtClean="0"/>
              <a:t>the geometry field that provides the coordinates necessary to describe each region of the map…again data that’s available via the census bureau.  Then we simply merge our data with theirs on a point in common, in this case the geoid value that we happen to plug into our patron records.  Now I said simple, but the obnoxious bit with Looker Studio at the moment is that the current limitation on using custom geographic areas with a map is that the data needs to be stored in a </a:t>
            </a:r>
            <a:r>
              <a:rPr lang="en-US" baseline="0" dirty="0" err="1" smtClean="0"/>
              <a:t>geojson</a:t>
            </a:r>
            <a:r>
              <a:rPr lang="en-US" baseline="0" dirty="0" smtClean="0"/>
              <a:t> </a:t>
            </a:r>
            <a:r>
              <a:rPr lang="en-US" baseline="0" dirty="0" smtClean="0"/>
              <a:t>format (which is not what the census bureau provides, though it can be converted without too much trouble) </a:t>
            </a:r>
            <a:r>
              <a:rPr lang="en-US" baseline="0" dirty="0" smtClean="0"/>
              <a:t>in Google’s big query service.  So this one is a bit more difficult to manage than our other automated dashboards and can actually accumulate some </a:t>
            </a:r>
            <a:r>
              <a:rPr lang="en-US" baseline="0" dirty="0" smtClean="0"/>
              <a:t>costs.  Our </a:t>
            </a:r>
            <a:r>
              <a:rPr lang="en-US" baseline="0" dirty="0" err="1" smtClean="0"/>
              <a:t>bigquery</a:t>
            </a:r>
            <a:r>
              <a:rPr lang="en-US" baseline="0" dirty="0" smtClean="0"/>
              <a:t> usage comes out to something like 20 cents a month between this and the database we’re storing our overdrive data extracts in.</a:t>
            </a:r>
            <a:endParaRPr lang="en-US" dirty="0" smtClean="0"/>
          </a:p>
          <a:p>
            <a:endParaRPr lang="en-US" dirty="0"/>
          </a:p>
        </p:txBody>
      </p:sp>
      <p:sp>
        <p:nvSpPr>
          <p:cNvPr id="4" name="Slide Number Placeholder 3"/>
          <p:cNvSpPr>
            <a:spLocks noGrp="1"/>
          </p:cNvSpPr>
          <p:nvPr>
            <p:ph type="sldNum" sz="quarter" idx="5"/>
          </p:nvPr>
        </p:nvSpPr>
        <p:spPr/>
        <p:txBody>
          <a:bodyPr/>
          <a:lstStyle/>
          <a:p>
            <a:fld id="{678DACD6-92EE-45CE-A7B0-1F123E9D0438}" type="slidenum">
              <a:rPr lang="en-US" smtClean="0"/>
              <a:t>15</a:t>
            </a:fld>
            <a:endParaRPr lang="en-US"/>
          </a:p>
        </p:txBody>
      </p:sp>
    </p:spTree>
    <p:extLst>
      <p:ext uri="{BB962C8B-B14F-4D97-AF65-F5344CB8AC3E}">
        <p14:creationId xmlns:p14="http://schemas.microsoft.com/office/powerpoint/2010/main" val="9612103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If that’s too complicated we</a:t>
            </a:r>
            <a:r>
              <a:rPr lang="en-US" baseline="0" dirty="0" smtClean="0"/>
              <a:t> </a:t>
            </a:r>
            <a:r>
              <a:rPr lang="en-US" baseline="0" dirty="0" smtClean="0"/>
              <a:t>also produce html versions of some of these sorts of charts using the more granular (but less accurate) census block group geography.  These are automatically created using Python scripts </a:t>
            </a:r>
            <a:r>
              <a:rPr lang="en-US" baseline="0" dirty="0" smtClean="0"/>
              <a:t>to produce .html files.  You </a:t>
            </a:r>
            <a:r>
              <a:rPr lang="en-US" baseline="0" dirty="0" smtClean="0"/>
              <a:t>are welcome to copy </a:t>
            </a:r>
            <a:r>
              <a:rPr lang="en-US" baseline="0" dirty="0" smtClean="0"/>
              <a:t>our script here </a:t>
            </a:r>
            <a:r>
              <a:rPr lang="en-US" baseline="0" dirty="0" smtClean="0"/>
              <a:t>(for tips on running reports like this, come to my main conference presentation).  As mentioned with the prior slide, all this information is dependent on having census geoids in our patron records which we also have a script to accomplish that can be accessed from the readme at that link.</a:t>
            </a:r>
            <a:endParaRPr lang="en-US" dirty="0" smtClean="0"/>
          </a:p>
          <a:p>
            <a:endParaRPr lang="en-US" dirty="0"/>
          </a:p>
        </p:txBody>
      </p:sp>
      <p:sp>
        <p:nvSpPr>
          <p:cNvPr id="4" name="Slide Number Placeholder 3"/>
          <p:cNvSpPr>
            <a:spLocks noGrp="1"/>
          </p:cNvSpPr>
          <p:nvPr>
            <p:ph type="sldNum" sz="quarter" idx="5"/>
          </p:nvPr>
        </p:nvSpPr>
        <p:spPr/>
        <p:txBody>
          <a:bodyPr/>
          <a:lstStyle/>
          <a:p>
            <a:fld id="{678DACD6-92EE-45CE-A7B0-1F123E9D0438}" type="slidenum">
              <a:rPr lang="en-US" smtClean="0"/>
              <a:t>16</a:t>
            </a:fld>
            <a:endParaRPr lang="en-US"/>
          </a:p>
        </p:txBody>
      </p:sp>
    </p:spTree>
    <p:extLst>
      <p:ext uri="{BB962C8B-B14F-4D97-AF65-F5344CB8AC3E}">
        <p14:creationId xmlns:p14="http://schemas.microsoft.com/office/powerpoint/2010/main" val="8289951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Finally</a:t>
            </a:r>
            <a:r>
              <a:rPr lang="en-US" baseline="0" dirty="0" smtClean="0"/>
              <a:t> just for some inspiration on a different sort of </a:t>
            </a:r>
            <a:r>
              <a:rPr lang="en-US" baseline="0" dirty="0" smtClean="0"/>
              <a:t>dashboard.  </a:t>
            </a:r>
            <a:r>
              <a:rPr lang="en-US" baseline="0" dirty="0" smtClean="0"/>
              <a:t>We have one that purely exists to make it easier to review the loan rule and loan rule determiner tables.  This one does take some manual work to maintain as we have to export the tables directly from </a:t>
            </a:r>
            <a:r>
              <a:rPr lang="en-US" baseline="0" dirty="0" smtClean="0"/>
              <a:t>the Sierra client </a:t>
            </a:r>
            <a:r>
              <a:rPr lang="en-US" baseline="0" dirty="0" smtClean="0"/>
              <a:t>on a regular basis, run them through a script that splits apart ranges of </a:t>
            </a:r>
            <a:r>
              <a:rPr lang="en-US" baseline="0" dirty="0" err="1" smtClean="0"/>
              <a:t>itype</a:t>
            </a:r>
            <a:r>
              <a:rPr lang="en-US" baseline="0" dirty="0" smtClean="0"/>
              <a:t> and </a:t>
            </a:r>
            <a:r>
              <a:rPr lang="en-US" baseline="0" dirty="0" err="1" smtClean="0"/>
              <a:t>ptype</a:t>
            </a:r>
            <a:r>
              <a:rPr lang="en-US" baseline="0" dirty="0" smtClean="0"/>
              <a:t> values and then overwrite tables in the database this is reading from…which we do about every 6 weeks with the occasional bonus if working through a project involving a large number of updates.  But that’s worth it for the ability to freely explore our 700+ rule table.  We can do things like you see here to identify </a:t>
            </a:r>
            <a:r>
              <a:rPr lang="en-US" baseline="0" dirty="0" err="1" smtClean="0"/>
              <a:t>itypes</a:t>
            </a:r>
            <a:r>
              <a:rPr lang="en-US" baseline="0" dirty="0" smtClean="0"/>
              <a:t> that have been assigned to multiple lines by mistake, or haven’t been assigned at all by one of our libraries.  Beyond that staff can model which rule a given combination of </a:t>
            </a:r>
            <a:r>
              <a:rPr lang="en-US" baseline="0" dirty="0" err="1" smtClean="0"/>
              <a:t>itype</a:t>
            </a:r>
            <a:r>
              <a:rPr lang="en-US" baseline="0" dirty="0" smtClean="0"/>
              <a:t>/</a:t>
            </a:r>
            <a:r>
              <a:rPr lang="en-US" baseline="0" dirty="0" err="1" smtClean="0"/>
              <a:t>ptype</a:t>
            </a:r>
            <a:r>
              <a:rPr lang="en-US" baseline="0" dirty="0" smtClean="0"/>
              <a:t>/checkout location will resolve to and see at a glance what loan policies other libraries in the network have opted to use to help inform their own decision making.</a:t>
            </a:r>
            <a:endParaRPr lang="en-US" dirty="0" smtClean="0"/>
          </a:p>
          <a:p>
            <a:endParaRPr lang="en-US" dirty="0"/>
          </a:p>
        </p:txBody>
      </p:sp>
      <p:sp>
        <p:nvSpPr>
          <p:cNvPr id="4" name="Slide Number Placeholder 3"/>
          <p:cNvSpPr>
            <a:spLocks noGrp="1"/>
          </p:cNvSpPr>
          <p:nvPr>
            <p:ph type="sldNum" sz="quarter" idx="5"/>
          </p:nvPr>
        </p:nvSpPr>
        <p:spPr/>
        <p:txBody>
          <a:bodyPr/>
          <a:lstStyle/>
          <a:p>
            <a:fld id="{678DACD6-92EE-45CE-A7B0-1F123E9D0438}" type="slidenum">
              <a:rPr lang="en-US" smtClean="0"/>
              <a:t>17</a:t>
            </a:fld>
            <a:endParaRPr lang="en-US"/>
          </a:p>
        </p:txBody>
      </p:sp>
    </p:spTree>
    <p:extLst>
      <p:ext uri="{BB962C8B-B14F-4D97-AF65-F5344CB8AC3E}">
        <p14:creationId xmlns:p14="http://schemas.microsoft.com/office/powerpoint/2010/main" val="27385736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78DACD6-92EE-45CE-A7B0-1F123E9D0438}" type="slidenum">
              <a:rPr lang="en-US" smtClean="0"/>
              <a:t>18</a:t>
            </a:fld>
            <a:endParaRPr lang="en-US"/>
          </a:p>
        </p:txBody>
      </p:sp>
    </p:spTree>
    <p:extLst>
      <p:ext uri="{BB962C8B-B14F-4D97-AF65-F5344CB8AC3E}">
        <p14:creationId xmlns:p14="http://schemas.microsoft.com/office/powerpoint/2010/main" val="6591001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E5546-A0B0-873F-4B93-FA53C20388BF}"/>
              </a:ext>
            </a:extLst>
          </p:cNvPr>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a:extLst>
              <a:ext uri="{FF2B5EF4-FFF2-40B4-BE49-F238E27FC236}">
                <a16:creationId xmlns:a16="http://schemas.microsoft.com/office/drawing/2014/main" id="{A00C24A3-68F5-2154-88A1-C0A55B9772C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a:extLst>
              <a:ext uri="{FF2B5EF4-FFF2-40B4-BE49-F238E27FC236}">
                <a16:creationId xmlns:a16="http://schemas.microsoft.com/office/drawing/2014/main" id="{A27784B3-3349-A367-1B72-022DA7F3A17A}"/>
              </a:ext>
            </a:extLst>
          </p:cNvPr>
          <p:cNvSpPr>
            <a:spLocks noGrp="1"/>
          </p:cNvSpPr>
          <p:nvPr>
            <p:ph type="dt" sz="half" idx="10"/>
          </p:nvPr>
        </p:nvSpPr>
        <p:spPr/>
        <p:txBody>
          <a:bodyPr/>
          <a:lstStyle/>
          <a:p>
            <a:fld id="{30B7B0CA-7F1D-7440-BF86-78A318A6FD35}" type="datetimeFigureOut">
              <a:rPr lang="en-US" smtClean="0"/>
              <a:t>4/2/2026</a:t>
            </a:fld>
            <a:endParaRPr lang="en-US"/>
          </a:p>
        </p:txBody>
      </p:sp>
      <p:sp>
        <p:nvSpPr>
          <p:cNvPr id="5" name="Footer Placeholder 4">
            <a:extLst>
              <a:ext uri="{FF2B5EF4-FFF2-40B4-BE49-F238E27FC236}">
                <a16:creationId xmlns:a16="http://schemas.microsoft.com/office/drawing/2014/main" id="{E8CBA541-64FA-2A41-BF6F-DC1C11C4C3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60787D-DE34-D87C-3D20-6C0A367B44C1}"/>
              </a:ext>
            </a:extLst>
          </p:cNvPr>
          <p:cNvSpPr>
            <a:spLocks noGrp="1"/>
          </p:cNvSpPr>
          <p:nvPr>
            <p:ph type="sldNum" sz="quarter" idx="12"/>
          </p:nvPr>
        </p:nvSpPr>
        <p:spPr/>
        <p:txBody>
          <a:bodyPr/>
          <a:lstStyle/>
          <a:p>
            <a:fld id="{CD1E35B7-D1A3-FA48-9136-E65B2C08304D}" type="slidenum">
              <a:rPr lang="en-US" smtClean="0"/>
              <a:t>‹#›</a:t>
            </a:fld>
            <a:endParaRPr lang="en-US"/>
          </a:p>
        </p:txBody>
      </p:sp>
    </p:spTree>
    <p:extLst>
      <p:ext uri="{BB962C8B-B14F-4D97-AF65-F5344CB8AC3E}">
        <p14:creationId xmlns:p14="http://schemas.microsoft.com/office/powerpoint/2010/main" val="9158479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C0722-635C-6F57-F475-4C9D6989E39F}"/>
              </a:ext>
            </a:extLst>
          </p:cNvPr>
          <p:cNvSpPr>
            <a:spLocks noGrp="1"/>
          </p:cNvSpPr>
          <p:nvPr>
            <p:ph type="title"/>
          </p:nvPr>
        </p:nvSpPr>
        <p:spPr/>
        <p:txBody>
          <a:bodyPr/>
          <a:lstStyle/>
          <a:p>
            <a:r>
              <a:rPr lang="en-US" smtClean="0"/>
              <a:t>Click to edit Master title style</a:t>
            </a:r>
            <a:endParaRPr lang="en-US"/>
          </a:p>
        </p:txBody>
      </p:sp>
      <p:sp>
        <p:nvSpPr>
          <p:cNvPr id="3" name="Content Placeholder 2">
            <a:extLst>
              <a:ext uri="{FF2B5EF4-FFF2-40B4-BE49-F238E27FC236}">
                <a16:creationId xmlns:a16="http://schemas.microsoft.com/office/drawing/2014/main" id="{CDD07767-09FC-688D-E4DB-3B3667ADFC58}"/>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a:extLst>
              <a:ext uri="{FF2B5EF4-FFF2-40B4-BE49-F238E27FC236}">
                <a16:creationId xmlns:a16="http://schemas.microsoft.com/office/drawing/2014/main" id="{D6552C65-A02E-C096-F624-81B71B05F27F}"/>
              </a:ext>
            </a:extLst>
          </p:cNvPr>
          <p:cNvSpPr>
            <a:spLocks noGrp="1"/>
          </p:cNvSpPr>
          <p:nvPr>
            <p:ph type="dt" sz="half" idx="10"/>
          </p:nvPr>
        </p:nvSpPr>
        <p:spPr/>
        <p:txBody>
          <a:bodyPr/>
          <a:lstStyle/>
          <a:p>
            <a:fld id="{30B7B0CA-7F1D-7440-BF86-78A318A6FD35}" type="datetimeFigureOut">
              <a:rPr lang="en-US" smtClean="0"/>
              <a:t>4/2/2026</a:t>
            </a:fld>
            <a:endParaRPr lang="en-US"/>
          </a:p>
        </p:txBody>
      </p:sp>
      <p:sp>
        <p:nvSpPr>
          <p:cNvPr id="5" name="Footer Placeholder 4">
            <a:extLst>
              <a:ext uri="{FF2B5EF4-FFF2-40B4-BE49-F238E27FC236}">
                <a16:creationId xmlns:a16="http://schemas.microsoft.com/office/drawing/2014/main" id="{9A93D793-508C-7A97-962C-56B0EC1DBE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E5C939-BAFA-F0C8-9164-B4502ECA5AC4}"/>
              </a:ext>
            </a:extLst>
          </p:cNvPr>
          <p:cNvSpPr>
            <a:spLocks noGrp="1"/>
          </p:cNvSpPr>
          <p:nvPr>
            <p:ph type="sldNum" sz="quarter" idx="12"/>
          </p:nvPr>
        </p:nvSpPr>
        <p:spPr/>
        <p:txBody>
          <a:bodyPr/>
          <a:lstStyle/>
          <a:p>
            <a:fld id="{CD1E35B7-D1A3-FA48-9136-E65B2C08304D}" type="slidenum">
              <a:rPr lang="en-US" smtClean="0"/>
              <a:t>‹#›</a:t>
            </a:fld>
            <a:endParaRPr lang="en-US"/>
          </a:p>
        </p:txBody>
      </p:sp>
    </p:spTree>
    <p:extLst>
      <p:ext uri="{BB962C8B-B14F-4D97-AF65-F5344CB8AC3E}">
        <p14:creationId xmlns:p14="http://schemas.microsoft.com/office/powerpoint/2010/main" val="16572241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14210-2259-F5E8-FF94-506854DC90CD}"/>
              </a:ext>
            </a:extLst>
          </p:cNvPr>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a:extLst>
              <a:ext uri="{FF2B5EF4-FFF2-40B4-BE49-F238E27FC236}">
                <a16:creationId xmlns:a16="http://schemas.microsoft.com/office/drawing/2014/main" id="{F4AEA7DB-9680-B5D9-59D6-1508B26A551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smtClean="0"/>
              <a:t>Edit Master text styles</a:t>
            </a:r>
          </a:p>
        </p:txBody>
      </p:sp>
      <p:sp>
        <p:nvSpPr>
          <p:cNvPr id="4" name="Date Placeholder 3">
            <a:extLst>
              <a:ext uri="{FF2B5EF4-FFF2-40B4-BE49-F238E27FC236}">
                <a16:creationId xmlns:a16="http://schemas.microsoft.com/office/drawing/2014/main" id="{16DCE019-F28D-8B89-315B-C7377D987A1F}"/>
              </a:ext>
            </a:extLst>
          </p:cNvPr>
          <p:cNvSpPr>
            <a:spLocks noGrp="1"/>
          </p:cNvSpPr>
          <p:nvPr>
            <p:ph type="dt" sz="half" idx="10"/>
          </p:nvPr>
        </p:nvSpPr>
        <p:spPr/>
        <p:txBody>
          <a:bodyPr/>
          <a:lstStyle/>
          <a:p>
            <a:fld id="{30B7B0CA-7F1D-7440-BF86-78A318A6FD35}" type="datetimeFigureOut">
              <a:rPr lang="en-US" smtClean="0"/>
              <a:t>4/2/2026</a:t>
            </a:fld>
            <a:endParaRPr lang="en-US"/>
          </a:p>
        </p:txBody>
      </p:sp>
      <p:sp>
        <p:nvSpPr>
          <p:cNvPr id="5" name="Footer Placeholder 4">
            <a:extLst>
              <a:ext uri="{FF2B5EF4-FFF2-40B4-BE49-F238E27FC236}">
                <a16:creationId xmlns:a16="http://schemas.microsoft.com/office/drawing/2014/main" id="{3A8A3B03-057F-F58E-D5EB-D9A59DF00E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D0021C-08DA-442C-76E4-736D9ECF4A95}"/>
              </a:ext>
            </a:extLst>
          </p:cNvPr>
          <p:cNvSpPr>
            <a:spLocks noGrp="1"/>
          </p:cNvSpPr>
          <p:nvPr>
            <p:ph type="sldNum" sz="quarter" idx="12"/>
          </p:nvPr>
        </p:nvSpPr>
        <p:spPr/>
        <p:txBody>
          <a:bodyPr/>
          <a:lstStyle/>
          <a:p>
            <a:fld id="{CD1E35B7-D1A3-FA48-9136-E65B2C08304D}" type="slidenum">
              <a:rPr lang="en-US" smtClean="0"/>
              <a:t>‹#›</a:t>
            </a:fld>
            <a:endParaRPr lang="en-US"/>
          </a:p>
        </p:txBody>
      </p:sp>
    </p:spTree>
    <p:extLst>
      <p:ext uri="{BB962C8B-B14F-4D97-AF65-F5344CB8AC3E}">
        <p14:creationId xmlns:p14="http://schemas.microsoft.com/office/powerpoint/2010/main" val="25933255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4F825-B759-C3AA-9982-866C94315B0A}"/>
              </a:ext>
            </a:extLst>
          </p:cNvPr>
          <p:cNvSpPr>
            <a:spLocks noGrp="1"/>
          </p:cNvSpPr>
          <p:nvPr>
            <p:ph type="title"/>
          </p:nvPr>
        </p:nvSpPr>
        <p:spPr/>
        <p:txBody>
          <a:bodyPr/>
          <a:lstStyle/>
          <a:p>
            <a:r>
              <a:rPr lang="en-US" smtClean="0"/>
              <a:t>Click to edit Master title style</a:t>
            </a:r>
            <a:endParaRPr lang="en-US"/>
          </a:p>
        </p:txBody>
      </p:sp>
      <p:sp>
        <p:nvSpPr>
          <p:cNvPr id="3" name="Content Placeholder 2">
            <a:extLst>
              <a:ext uri="{FF2B5EF4-FFF2-40B4-BE49-F238E27FC236}">
                <a16:creationId xmlns:a16="http://schemas.microsoft.com/office/drawing/2014/main" id="{87D56AB7-2038-A70C-A5B2-AF71135241CD}"/>
              </a:ext>
            </a:extLst>
          </p:cNvPr>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a:extLst>
              <a:ext uri="{FF2B5EF4-FFF2-40B4-BE49-F238E27FC236}">
                <a16:creationId xmlns:a16="http://schemas.microsoft.com/office/drawing/2014/main" id="{C50B5ABD-09CF-5CBD-4F63-C2AB60A051DD}"/>
              </a:ext>
            </a:extLst>
          </p:cNvPr>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a:extLst>
              <a:ext uri="{FF2B5EF4-FFF2-40B4-BE49-F238E27FC236}">
                <a16:creationId xmlns:a16="http://schemas.microsoft.com/office/drawing/2014/main" id="{9B4F7A95-5A12-2A75-4E9B-E7E0A73C117C}"/>
              </a:ext>
            </a:extLst>
          </p:cNvPr>
          <p:cNvSpPr>
            <a:spLocks noGrp="1"/>
          </p:cNvSpPr>
          <p:nvPr>
            <p:ph type="dt" sz="half" idx="10"/>
          </p:nvPr>
        </p:nvSpPr>
        <p:spPr/>
        <p:txBody>
          <a:bodyPr/>
          <a:lstStyle/>
          <a:p>
            <a:fld id="{30B7B0CA-7F1D-7440-BF86-78A318A6FD35}" type="datetimeFigureOut">
              <a:rPr lang="en-US" smtClean="0"/>
              <a:t>4/2/2026</a:t>
            </a:fld>
            <a:endParaRPr lang="en-US"/>
          </a:p>
        </p:txBody>
      </p:sp>
      <p:sp>
        <p:nvSpPr>
          <p:cNvPr id="6" name="Footer Placeholder 5">
            <a:extLst>
              <a:ext uri="{FF2B5EF4-FFF2-40B4-BE49-F238E27FC236}">
                <a16:creationId xmlns:a16="http://schemas.microsoft.com/office/drawing/2014/main" id="{665321FD-0397-42BE-8235-94E51D7FCD8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8074E65-FC6A-29FB-70B5-F405D7993A3B}"/>
              </a:ext>
            </a:extLst>
          </p:cNvPr>
          <p:cNvSpPr>
            <a:spLocks noGrp="1"/>
          </p:cNvSpPr>
          <p:nvPr>
            <p:ph type="sldNum" sz="quarter" idx="12"/>
          </p:nvPr>
        </p:nvSpPr>
        <p:spPr/>
        <p:txBody>
          <a:bodyPr/>
          <a:lstStyle/>
          <a:p>
            <a:fld id="{CD1E35B7-D1A3-FA48-9136-E65B2C08304D}" type="slidenum">
              <a:rPr lang="en-US" smtClean="0"/>
              <a:t>‹#›</a:t>
            </a:fld>
            <a:endParaRPr lang="en-US"/>
          </a:p>
        </p:txBody>
      </p:sp>
    </p:spTree>
    <p:extLst>
      <p:ext uri="{BB962C8B-B14F-4D97-AF65-F5344CB8AC3E}">
        <p14:creationId xmlns:p14="http://schemas.microsoft.com/office/powerpoint/2010/main" val="26374573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28916-B5BB-A7D9-7A17-B27796770428}"/>
              </a:ext>
            </a:extLst>
          </p:cNvPr>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a:extLst>
              <a:ext uri="{FF2B5EF4-FFF2-40B4-BE49-F238E27FC236}">
                <a16:creationId xmlns:a16="http://schemas.microsoft.com/office/drawing/2014/main" id="{18583B3B-0B44-66A1-4A84-CBDB09F5BFF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a:extLst>
              <a:ext uri="{FF2B5EF4-FFF2-40B4-BE49-F238E27FC236}">
                <a16:creationId xmlns:a16="http://schemas.microsoft.com/office/drawing/2014/main" id="{CC76D406-9984-09E5-9B83-0B39C475B871}"/>
              </a:ext>
            </a:extLst>
          </p:cNvPr>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a:extLst>
              <a:ext uri="{FF2B5EF4-FFF2-40B4-BE49-F238E27FC236}">
                <a16:creationId xmlns:a16="http://schemas.microsoft.com/office/drawing/2014/main" id="{EBE915E0-9D33-9ECA-89E3-9CC077F70B3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a:extLst>
              <a:ext uri="{FF2B5EF4-FFF2-40B4-BE49-F238E27FC236}">
                <a16:creationId xmlns:a16="http://schemas.microsoft.com/office/drawing/2014/main" id="{C7379F8C-0231-44AC-6B23-94A5AE30FE58}"/>
              </a:ext>
            </a:extLst>
          </p:cNvPr>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a:extLst>
              <a:ext uri="{FF2B5EF4-FFF2-40B4-BE49-F238E27FC236}">
                <a16:creationId xmlns:a16="http://schemas.microsoft.com/office/drawing/2014/main" id="{F5E38855-F9DF-D576-8457-22162804560A}"/>
              </a:ext>
            </a:extLst>
          </p:cNvPr>
          <p:cNvSpPr>
            <a:spLocks noGrp="1"/>
          </p:cNvSpPr>
          <p:nvPr>
            <p:ph type="dt" sz="half" idx="10"/>
          </p:nvPr>
        </p:nvSpPr>
        <p:spPr/>
        <p:txBody>
          <a:bodyPr/>
          <a:lstStyle/>
          <a:p>
            <a:fld id="{30B7B0CA-7F1D-7440-BF86-78A318A6FD35}" type="datetimeFigureOut">
              <a:rPr lang="en-US" smtClean="0"/>
              <a:t>4/2/2026</a:t>
            </a:fld>
            <a:endParaRPr lang="en-US"/>
          </a:p>
        </p:txBody>
      </p:sp>
      <p:sp>
        <p:nvSpPr>
          <p:cNvPr id="8" name="Footer Placeholder 7">
            <a:extLst>
              <a:ext uri="{FF2B5EF4-FFF2-40B4-BE49-F238E27FC236}">
                <a16:creationId xmlns:a16="http://schemas.microsoft.com/office/drawing/2014/main" id="{9F170EEE-B57C-D2BF-D8F8-D9B8415CD5D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32B8F2B-F16A-0573-6A83-11CC0F2B632D}"/>
              </a:ext>
            </a:extLst>
          </p:cNvPr>
          <p:cNvSpPr>
            <a:spLocks noGrp="1"/>
          </p:cNvSpPr>
          <p:nvPr>
            <p:ph type="sldNum" sz="quarter" idx="12"/>
          </p:nvPr>
        </p:nvSpPr>
        <p:spPr/>
        <p:txBody>
          <a:bodyPr/>
          <a:lstStyle/>
          <a:p>
            <a:fld id="{CD1E35B7-D1A3-FA48-9136-E65B2C08304D}" type="slidenum">
              <a:rPr lang="en-US" smtClean="0"/>
              <a:t>‹#›</a:t>
            </a:fld>
            <a:endParaRPr lang="en-US"/>
          </a:p>
        </p:txBody>
      </p:sp>
    </p:spTree>
    <p:extLst>
      <p:ext uri="{BB962C8B-B14F-4D97-AF65-F5344CB8AC3E}">
        <p14:creationId xmlns:p14="http://schemas.microsoft.com/office/powerpoint/2010/main" val="8055695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A6569-E350-D295-6848-F8A135D842C4}"/>
              </a:ext>
            </a:extLst>
          </p:cNvPr>
          <p:cNvSpPr>
            <a:spLocks noGrp="1"/>
          </p:cNvSpPr>
          <p:nvPr>
            <p:ph type="title"/>
          </p:nvPr>
        </p:nvSpPr>
        <p:spPr/>
        <p:txBody>
          <a:bodyPr/>
          <a:lstStyle/>
          <a:p>
            <a:r>
              <a:rPr lang="en-US" smtClean="0"/>
              <a:t>Click to edit Master title style</a:t>
            </a:r>
            <a:endParaRPr lang="en-US"/>
          </a:p>
        </p:txBody>
      </p:sp>
      <p:sp>
        <p:nvSpPr>
          <p:cNvPr id="3" name="Date Placeholder 2">
            <a:extLst>
              <a:ext uri="{FF2B5EF4-FFF2-40B4-BE49-F238E27FC236}">
                <a16:creationId xmlns:a16="http://schemas.microsoft.com/office/drawing/2014/main" id="{4F336050-7FF0-C6F6-112C-772F06197071}"/>
              </a:ext>
            </a:extLst>
          </p:cNvPr>
          <p:cNvSpPr>
            <a:spLocks noGrp="1"/>
          </p:cNvSpPr>
          <p:nvPr>
            <p:ph type="dt" sz="half" idx="10"/>
          </p:nvPr>
        </p:nvSpPr>
        <p:spPr/>
        <p:txBody>
          <a:bodyPr/>
          <a:lstStyle/>
          <a:p>
            <a:fld id="{30B7B0CA-7F1D-7440-BF86-78A318A6FD35}" type="datetimeFigureOut">
              <a:rPr lang="en-US" smtClean="0"/>
              <a:t>4/2/2026</a:t>
            </a:fld>
            <a:endParaRPr lang="en-US"/>
          </a:p>
        </p:txBody>
      </p:sp>
      <p:sp>
        <p:nvSpPr>
          <p:cNvPr id="4" name="Footer Placeholder 3">
            <a:extLst>
              <a:ext uri="{FF2B5EF4-FFF2-40B4-BE49-F238E27FC236}">
                <a16:creationId xmlns:a16="http://schemas.microsoft.com/office/drawing/2014/main" id="{0C60740C-6938-B0BD-E258-6D6756162CC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5DE41E3-FF6C-058B-3BD4-2271A4CA2ACC}"/>
              </a:ext>
            </a:extLst>
          </p:cNvPr>
          <p:cNvSpPr>
            <a:spLocks noGrp="1"/>
          </p:cNvSpPr>
          <p:nvPr>
            <p:ph type="sldNum" sz="quarter" idx="12"/>
          </p:nvPr>
        </p:nvSpPr>
        <p:spPr/>
        <p:txBody>
          <a:bodyPr/>
          <a:lstStyle/>
          <a:p>
            <a:fld id="{CD1E35B7-D1A3-FA48-9136-E65B2C08304D}" type="slidenum">
              <a:rPr lang="en-US" smtClean="0"/>
              <a:t>‹#›</a:t>
            </a:fld>
            <a:endParaRPr lang="en-US"/>
          </a:p>
        </p:txBody>
      </p:sp>
    </p:spTree>
    <p:extLst>
      <p:ext uri="{BB962C8B-B14F-4D97-AF65-F5344CB8AC3E}">
        <p14:creationId xmlns:p14="http://schemas.microsoft.com/office/powerpoint/2010/main" val="7899275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1969C63-B11B-2B8C-367D-81E74AE9282B}"/>
              </a:ext>
            </a:extLst>
          </p:cNvPr>
          <p:cNvSpPr>
            <a:spLocks noGrp="1"/>
          </p:cNvSpPr>
          <p:nvPr>
            <p:ph type="dt" sz="half" idx="10"/>
          </p:nvPr>
        </p:nvSpPr>
        <p:spPr/>
        <p:txBody>
          <a:bodyPr/>
          <a:lstStyle/>
          <a:p>
            <a:fld id="{30B7B0CA-7F1D-7440-BF86-78A318A6FD35}" type="datetimeFigureOut">
              <a:rPr lang="en-US" smtClean="0"/>
              <a:t>4/2/2026</a:t>
            </a:fld>
            <a:endParaRPr lang="en-US"/>
          </a:p>
        </p:txBody>
      </p:sp>
      <p:sp>
        <p:nvSpPr>
          <p:cNvPr id="3" name="Footer Placeholder 2">
            <a:extLst>
              <a:ext uri="{FF2B5EF4-FFF2-40B4-BE49-F238E27FC236}">
                <a16:creationId xmlns:a16="http://schemas.microsoft.com/office/drawing/2014/main" id="{3BADF0EE-CA44-6835-ABFE-CA7E6586A69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64EBE21-29E0-0354-D5EC-087E3C46284E}"/>
              </a:ext>
            </a:extLst>
          </p:cNvPr>
          <p:cNvSpPr>
            <a:spLocks noGrp="1"/>
          </p:cNvSpPr>
          <p:nvPr>
            <p:ph type="sldNum" sz="quarter" idx="12"/>
          </p:nvPr>
        </p:nvSpPr>
        <p:spPr/>
        <p:txBody>
          <a:bodyPr/>
          <a:lstStyle/>
          <a:p>
            <a:fld id="{CD1E35B7-D1A3-FA48-9136-E65B2C08304D}" type="slidenum">
              <a:rPr lang="en-US" smtClean="0"/>
              <a:t>‹#›</a:t>
            </a:fld>
            <a:endParaRPr lang="en-US"/>
          </a:p>
        </p:txBody>
      </p:sp>
    </p:spTree>
    <p:extLst>
      <p:ext uri="{BB962C8B-B14F-4D97-AF65-F5344CB8AC3E}">
        <p14:creationId xmlns:p14="http://schemas.microsoft.com/office/powerpoint/2010/main" val="7840373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F4407-4B25-FCBE-57E4-A7829219934A}"/>
              </a:ext>
            </a:extLst>
          </p:cNvPr>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a:extLst>
              <a:ext uri="{FF2B5EF4-FFF2-40B4-BE49-F238E27FC236}">
                <a16:creationId xmlns:a16="http://schemas.microsoft.com/office/drawing/2014/main" id="{738E5552-7962-CC6F-6E3E-8B1C1483560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a:extLst>
              <a:ext uri="{FF2B5EF4-FFF2-40B4-BE49-F238E27FC236}">
                <a16:creationId xmlns:a16="http://schemas.microsoft.com/office/drawing/2014/main" id="{1BE16A62-5B97-7A97-74CF-E161EAE8B1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a:extLst>
              <a:ext uri="{FF2B5EF4-FFF2-40B4-BE49-F238E27FC236}">
                <a16:creationId xmlns:a16="http://schemas.microsoft.com/office/drawing/2014/main" id="{BB250EC4-4976-6539-FC2F-6FACBD6D65DB}"/>
              </a:ext>
            </a:extLst>
          </p:cNvPr>
          <p:cNvSpPr>
            <a:spLocks noGrp="1"/>
          </p:cNvSpPr>
          <p:nvPr>
            <p:ph type="dt" sz="half" idx="10"/>
          </p:nvPr>
        </p:nvSpPr>
        <p:spPr/>
        <p:txBody>
          <a:bodyPr/>
          <a:lstStyle/>
          <a:p>
            <a:fld id="{30B7B0CA-7F1D-7440-BF86-78A318A6FD35}" type="datetimeFigureOut">
              <a:rPr lang="en-US" smtClean="0"/>
              <a:t>4/2/2026</a:t>
            </a:fld>
            <a:endParaRPr lang="en-US"/>
          </a:p>
        </p:txBody>
      </p:sp>
      <p:sp>
        <p:nvSpPr>
          <p:cNvPr id="6" name="Footer Placeholder 5">
            <a:extLst>
              <a:ext uri="{FF2B5EF4-FFF2-40B4-BE49-F238E27FC236}">
                <a16:creationId xmlns:a16="http://schemas.microsoft.com/office/drawing/2014/main" id="{5C5B1BB4-1AC6-8C66-ABC6-EEB41CA3E3E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F4F9FFF-E253-F74C-60B9-C27FB55F2221}"/>
              </a:ext>
            </a:extLst>
          </p:cNvPr>
          <p:cNvSpPr>
            <a:spLocks noGrp="1"/>
          </p:cNvSpPr>
          <p:nvPr>
            <p:ph type="sldNum" sz="quarter" idx="12"/>
          </p:nvPr>
        </p:nvSpPr>
        <p:spPr/>
        <p:txBody>
          <a:bodyPr/>
          <a:lstStyle/>
          <a:p>
            <a:fld id="{CD1E35B7-D1A3-FA48-9136-E65B2C08304D}" type="slidenum">
              <a:rPr lang="en-US" smtClean="0"/>
              <a:t>‹#›</a:t>
            </a:fld>
            <a:endParaRPr lang="en-US"/>
          </a:p>
        </p:txBody>
      </p:sp>
    </p:spTree>
    <p:extLst>
      <p:ext uri="{BB962C8B-B14F-4D97-AF65-F5344CB8AC3E}">
        <p14:creationId xmlns:p14="http://schemas.microsoft.com/office/powerpoint/2010/main" val="32684810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9D88D-91FB-9C15-8A6A-169FC239A355}"/>
              </a:ext>
            </a:extLst>
          </p:cNvPr>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a:extLst>
              <a:ext uri="{FF2B5EF4-FFF2-40B4-BE49-F238E27FC236}">
                <a16:creationId xmlns:a16="http://schemas.microsoft.com/office/drawing/2014/main" id="{C298C644-9EAB-286C-9D20-C383922C49B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a:extLst>
              <a:ext uri="{FF2B5EF4-FFF2-40B4-BE49-F238E27FC236}">
                <a16:creationId xmlns:a16="http://schemas.microsoft.com/office/drawing/2014/main" id="{92BC56BC-D659-830F-3A76-5BB988EAAA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a:extLst>
              <a:ext uri="{FF2B5EF4-FFF2-40B4-BE49-F238E27FC236}">
                <a16:creationId xmlns:a16="http://schemas.microsoft.com/office/drawing/2014/main" id="{B45AD851-A8CC-14F7-9E06-C50619BCA366}"/>
              </a:ext>
            </a:extLst>
          </p:cNvPr>
          <p:cNvSpPr>
            <a:spLocks noGrp="1"/>
          </p:cNvSpPr>
          <p:nvPr>
            <p:ph type="dt" sz="half" idx="10"/>
          </p:nvPr>
        </p:nvSpPr>
        <p:spPr/>
        <p:txBody>
          <a:bodyPr/>
          <a:lstStyle/>
          <a:p>
            <a:fld id="{30B7B0CA-7F1D-7440-BF86-78A318A6FD35}" type="datetimeFigureOut">
              <a:rPr lang="en-US" smtClean="0"/>
              <a:t>4/2/2026</a:t>
            </a:fld>
            <a:endParaRPr lang="en-US"/>
          </a:p>
        </p:txBody>
      </p:sp>
      <p:sp>
        <p:nvSpPr>
          <p:cNvPr id="6" name="Footer Placeholder 5">
            <a:extLst>
              <a:ext uri="{FF2B5EF4-FFF2-40B4-BE49-F238E27FC236}">
                <a16:creationId xmlns:a16="http://schemas.microsoft.com/office/drawing/2014/main" id="{478CC1A1-6D99-CF83-3D14-7B7984A769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5CC82D1-29F8-6B10-A341-2799BA66AB3F}"/>
              </a:ext>
            </a:extLst>
          </p:cNvPr>
          <p:cNvSpPr>
            <a:spLocks noGrp="1"/>
          </p:cNvSpPr>
          <p:nvPr>
            <p:ph type="sldNum" sz="quarter" idx="12"/>
          </p:nvPr>
        </p:nvSpPr>
        <p:spPr/>
        <p:txBody>
          <a:bodyPr/>
          <a:lstStyle/>
          <a:p>
            <a:fld id="{CD1E35B7-D1A3-FA48-9136-E65B2C08304D}" type="slidenum">
              <a:rPr lang="en-US" smtClean="0"/>
              <a:t>‹#›</a:t>
            </a:fld>
            <a:endParaRPr lang="en-US"/>
          </a:p>
        </p:txBody>
      </p:sp>
    </p:spTree>
    <p:extLst>
      <p:ext uri="{BB962C8B-B14F-4D97-AF65-F5344CB8AC3E}">
        <p14:creationId xmlns:p14="http://schemas.microsoft.com/office/powerpoint/2010/main" val="21716544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8C3D1-8316-934C-6FCE-EC7E53C743D5}"/>
              </a:ext>
            </a:extLst>
          </p:cNvPr>
          <p:cNvSpPr>
            <a:spLocks noGrp="1"/>
          </p:cNvSpPr>
          <p:nvPr>
            <p:ph type="title"/>
          </p:nvPr>
        </p:nvSpPr>
        <p:spPr/>
        <p:txBody>
          <a:bodyPr/>
          <a:lstStyle/>
          <a:p>
            <a:r>
              <a:rPr lang="en-US" smtClean="0"/>
              <a:t>Click to edit Master title style</a:t>
            </a:r>
            <a:endParaRPr lang="en-US"/>
          </a:p>
        </p:txBody>
      </p:sp>
      <p:sp>
        <p:nvSpPr>
          <p:cNvPr id="3" name="Vertical Text Placeholder 2">
            <a:extLst>
              <a:ext uri="{FF2B5EF4-FFF2-40B4-BE49-F238E27FC236}">
                <a16:creationId xmlns:a16="http://schemas.microsoft.com/office/drawing/2014/main" id="{400DCA6C-1811-6E5B-9D7A-CFB13BAB234F}"/>
              </a:ext>
            </a:extLst>
          </p:cNvPr>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a:extLst>
              <a:ext uri="{FF2B5EF4-FFF2-40B4-BE49-F238E27FC236}">
                <a16:creationId xmlns:a16="http://schemas.microsoft.com/office/drawing/2014/main" id="{88B7F17C-55F6-C6D8-A3AA-852FACE03ADC}"/>
              </a:ext>
            </a:extLst>
          </p:cNvPr>
          <p:cNvSpPr>
            <a:spLocks noGrp="1"/>
          </p:cNvSpPr>
          <p:nvPr>
            <p:ph type="dt" sz="half" idx="10"/>
          </p:nvPr>
        </p:nvSpPr>
        <p:spPr/>
        <p:txBody>
          <a:bodyPr/>
          <a:lstStyle/>
          <a:p>
            <a:fld id="{30B7B0CA-7F1D-7440-BF86-78A318A6FD35}" type="datetimeFigureOut">
              <a:rPr lang="en-US" smtClean="0"/>
              <a:t>4/2/2026</a:t>
            </a:fld>
            <a:endParaRPr lang="en-US"/>
          </a:p>
        </p:txBody>
      </p:sp>
      <p:sp>
        <p:nvSpPr>
          <p:cNvPr id="5" name="Footer Placeholder 4">
            <a:extLst>
              <a:ext uri="{FF2B5EF4-FFF2-40B4-BE49-F238E27FC236}">
                <a16:creationId xmlns:a16="http://schemas.microsoft.com/office/drawing/2014/main" id="{CC64D567-A274-009B-C5C9-D5BC50D859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148F02-32B7-DE2D-6644-DDBD450548A1}"/>
              </a:ext>
            </a:extLst>
          </p:cNvPr>
          <p:cNvSpPr>
            <a:spLocks noGrp="1"/>
          </p:cNvSpPr>
          <p:nvPr>
            <p:ph type="sldNum" sz="quarter" idx="12"/>
          </p:nvPr>
        </p:nvSpPr>
        <p:spPr/>
        <p:txBody>
          <a:bodyPr/>
          <a:lstStyle/>
          <a:p>
            <a:fld id="{CD1E35B7-D1A3-FA48-9136-E65B2C08304D}" type="slidenum">
              <a:rPr lang="en-US" smtClean="0"/>
              <a:t>‹#›</a:t>
            </a:fld>
            <a:endParaRPr lang="en-US"/>
          </a:p>
        </p:txBody>
      </p:sp>
    </p:spTree>
    <p:extLst>
      <p:ext uri="{BB962C8B-B14F-4D97-AF65-F5344CB8AC3E}">
        <p14:creationId xmlns:p14="http://schemas.microsoft.com/office/powerpoint/2010/main" val="170302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3AFADF4-3009-998F-AB58-F303A1B95A66}"/>
              </a:ext>
            </a:extLst>
          </p:cNvPr>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a:extLst>
              <a:ext uri="{FF2B5EF4-FFF2-40B4-BE49-F238E27FC236}">
                <a16:creationId xmlns:a16="http://schemas.microsoft.com/office/drawing/2014/main" id="{BEE358A0-7843-12D9-EE79-1C71348AFDFC}"/>
              </a:ext>
            </a:extLst>
          </p:cNvPr>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a:extLst>
              <a:ext uri="{FF2B5EF4-FFF2-40B4-BE49-F238E27FC236}">
                <a16:creationId xmlns:a16="http://schemas.microsoft.com/office/drawing/2014/main" id="{137B726E-DAB2-2FB7-3496-800113CEC606}"/>
              </a:ext>
            </a:extLst>
          </p:cNvPr>
          <p:cNvSpPr>
            <a:spLocks noGrp="1"/>
          </p:cNvSpPr>
          <p:nvPr>
            <p:ph type="dt" sz="half" idx="10"/>
          </p:nvPr>
        </p:nvSpPr>
        <p:spPr/>
        <p:txBody>
          <a:bodyPr/>
          <a:lstStyle/>
          <a:p>
            <a:fld id="{30B7B0CA-7F1D-7440-BF86-78A318A6FD35}" type="datetimeFigureOut">
              <a:rPr lang="en-US" smtClean="0"/>
              <a:t>4/2/2026</a:t>
            </a:fld>
            <a:endParaRPr lang="en-US"/>
          </a:p>
        </p:txBody>
      </p:sp>
      <p:sp>
        <p:nvSpPr>
          <p:cNvPr id="5" name="Footer Placeholder 4">
            <a:extLst>
              <a:ext uri="{FF2B5EF4-FFF2-40B4-BE49-F238E27FC236}">
                <a16:creationId xmlns:a16="http://schemas.microsoft.com/office/drawing/2014/main" id="{586D6295-25E1-1251-4642-3910385275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4A1BF9-D6C7-DAE1-C614-8CB98DA0C28F}"/>
              </a:ext>
            </a:extLst>
          </p:cNvPr>
          <p:cNvSpPr>
            <a:spLocks noGrp="1"/>
          </p:cNvSpPr>
          <p:nvPr>
            <p:ph type="sldNum" sz="quarter" idx="12"/>
          </p:nvPr>
        </p:nvSpPr>
        <p:spPr/>
        <p:txBody>
          <a:bodyPr/>
          <a:lstStyle/>
          <a:p>
            <a:fld id="{CD1E35B7-D1A3-FA48-9136-E65B2C08304D}" type="slidenum">
              <a:rPr lang="en-US" smtClean="0"/>
              <a:t>‹#›</a:t>
            </a:fld>
            <a:endParaRPr lang="en-US"/>
          </a:p>
        </p:txBody>
      </p:sp>
    </p:spTree>
    <p:extLst>
      <p:ext uri="{BB962C8B-B14F-4D97-AF65-F5344CB8AC3E}">
        <p14:creationId xmlns:p14="http://schemas.microsoft.com/office/powerpoint/2010/main" val="13605880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05BE02-6075-4A94-5B95-AD21ADA81D4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a:extLst>
              <a:ext uri="{FF2B5EF4-FFF2-40B4-BE49-F238E27FC236}">
                <a16:creationId xmlns:a16="http://schemas.microsoft.com/office/drawing/2014/main" id="{0A705271-5EBA-2F49-618C-DC81BD18E37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a:extLst>
              <a:ext uri="{FF2B5EF4-FFF2-40B4-BE49-F238E27FC236}">
                <a16:creationId xmlns:a16="http://schemas.microsoft.com/office/drawing/2014/main" id="{44B8F3C2-10B5-CD33-9F2E-FC974C78C0C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0B7B0CA-7F1D-7440-BF86-78A318A6FD35}" type="datetimeFigureOut">
              <a:rPr lang="en-US" smtClean="0"/>
              <a:t>4/2/2026</a:t>
            </a:fld>
            <a:endParaRPr lang="en-US"/>
          </a:p>
        </p:txBody>
      </p:sp>
      <p:sp>
        <p:nvSpPr>
          <p:cNvPr id="5" name="Footer Placeholder 4">
            <a:extLst>
              <a:ext uri="{FF2B5EF4-FFF2-40B4-BE49-F238E27FC236}">
                <a16:creationId xmlns:a16="http://schemas.microsoft.com/office/drawing/2014/main" id="{1A4173F1-0847-1BA0-F40A-4ED2D93106A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55FD84E-E40C-73B8-7FB2-5206E969AA0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D1E35B7-D1A3-FA48-9136-E65B2C08304D}" type="slidenum">
              <a:rPr lang="en-US" smtClean="0"/>
              <a:t>‹#›</a:t>
            </a:fld>
            <a:endParaRPr lang="en-US"/>
          </a:p>
        </p:txBody>
      </p:sp>
    </p:spTree>
    <p:extLst>
      <p:ext uri="{BB962C8B-B14F-4D97-AF65-F5344CB8AC3E}">
        <p14:creationId xmlns:p14="http://schemas.microsoft.com/office/powerpoint/2010/main" val="5966516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A71898F-4D0F-919F-D69B-72879BA74619}"/>
              </a:ext>
            </a:extLst>
          </p:cNvPr>
          <p:cNvSpPr/>
          <p:nvPr/>
        </p:nvSpPr>
        <p:spPr>
          <a:xfrm>
            <a:off x="3357250" y="0"/>
            <a:ext cx="8834750" cy="6858000"/>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181F9501-4654-8CF0-CEF7-2697A05CB704}"/>
              </a:ext>
            </a:extLst>
          </p:cNvPr>
          <p:cNvPicPr>
            <a:picLocks noChangeAspect="1"/>
          </p:cNvPicPr>
          <p:nvPr/>
        </p:nvPicPr>
        <p:blipFill>
          <a:blip r:embed="rId2"/>
          <a:stretch>
            <a:fillRect/>
          </a:stretch>
        </p:blipFill>
        <p:spPr>
          <a:xfrm>
            <a:off x="237500" y="2004002"/>
            <a:ext cx="2849993" cy="2849993"/>
          </a:xfrm>
          <a:prstGeom prst="rect">
            <a:avLst/>
          </a:prstGeom>
        </p:spPr>
      </p:pic>
      <p:sp>
        <p:nvSpPr>
          <p:cNvPr id="2" name="Title 1">
            <a:extLst>
              <a:ext uri="{FF2B5EF4-FFF2-40B4-BE49-F238E27FC236}">
                <a16:creationId xmlns:a16="http://schemas.microsoft.com/office/drawing/2014/main" id="{01BD3775-4F06-3D6F-F872-CC0186454DBE}"/>
              </a:ext>
            </a:extLst>
          </p:cNvPr>
          <p:cNvSpPr>
            <a:spLocks noGrp="1"/>
          </p:cNvSpPr>
          <p:nvPr>
            <p:ph type="ctrTitle"/>
          </p:nvPr>
        </p:nvSpPr>
        <p:spPr>
          <a:xfrm>
            <a:off x="4377541" y="4135135"/>
            <a:ext cx="7190509" cy="1437719"/>
          </a:xfrm>
        </p:spPr>
        <p:txBody>
          <a:bodyPr>
            <a:normAutofit fontScale="90000"/>
          </a:bodyPr>
          <a:lstStyle/>
          <a:p>
            <a:r>
              <a:rPr lang="en-US" sz="7200" dirty="0" smtClean="0">
                <a:solidFill>
                  <a:srgbClr val="00223D"/>
                </a:solidFill>
              </a:rPr>
              <a:t>Dashboard Confessional:</a:t>
            </a:r>
            <a:br>
              <a:rPr lang="en-US" sz="7200" dirty="0" smtClean="0">
                <a:solidFill>
                  <a:srgbClr val="00223D"/>
                </a:solidFill>
              </a:rPr>
            </a:br>
            <a:r>
              <a:rPr lang="en-US" sz="7200" dirty="0" smtClean="0">
                <a:solidFill>
                  <a:srgbClr val="00223D"/>
                </a:solidFill>
              </a:rPr>
              <a:t>Revealing the Secrets of Data Visualization</a:t>
            </a:r>
            <a:endParaRPr lang="en-US" sz="7200" dirty="0">
              <a:solidFill>
                <a:srgbClr val="00223D"/>
              </a:solidFill>
            </a:endParaRPr>
          </a:p>
        </p:txBody>
      </p:sp>
      <p:sp>
        <p:nvSpPr>
          <p:cNvPr id="6" name="Subtitle 5">
            <a:extLst>
              <a:ext uri="{FF2B5EF4-FFF2-40B4-BE49-F238E27FC236}">
                <a16:creationId xmlns:a16="http://schemas.microsoft.com/office/drawing/2014/main" id="{D6138A63-B70F-BF2F-B517-91379908FA8D}"/>
              </a:ext>
            </a:extLst>
          </p:cNvPr>
          <p:cNvSpPr>
            <a:spLocks noGrp="1"/>
          </p:cNvSpPr>
          <p:nvPr>
            <p:ph type="subTitle" idx="1"/>
          </p:nvPr>
        </p:nvSpPr>
        <p:spPr>
          <a:xfrm>
            <a:off x="5111786" y="5491890"/>
            <a:ext cx="5722018" cy="1036122"/>
          </a:xfrm>
        </p:spPr>
        <p:txBody>
          <a:bodyPr>
            <a:normAutofit fontScale="85000" lnSpcReduction="20000"/>
          </a:bodyPr>
          <a:lstStyle/>
          <a:p>
            <a:r>
              <a:rPr lang="en-US" dirty="0" smtClean="0">
                <a:solidFill>
                  <a:srgbClr val="00223D"/>
                </a:solidFill>
              </a:rPr>
              <a:t>Jeremy Goldstein</a:t>
            </a:r>
          </a:p>
          <a:p>
            <a:r>
              <a:rPr lang="en-US" dirty="0" smtClean="0">
                <a:solidFill>
                  <a:srgbClr val="00223D"/>
                </a:solidFill>
              </a:rPr>
              <a:t>Minuteman Library Network</a:t>
            </a:r>
          </a:p>
          <a:p>
            <a:r>
              <a:rPr lang="en-US" dirty="0" smtClean="0">
                <a:solidFill>
                  <a:srgbClr val="00223D"/>
                </a:solidFill>
              </a:rPr>
              <a:t>jgoldstein@minlib.net</a:t>
            </a:r>
            <a:endParaRPr lang="en-US" dirty="0">
              <a:solidFill>
                <a:srgbClr val="00223D"/>
              </a:solidFill>
            </a:endParaRPr>
          </a:p>
        </p:txBody>
      </p:sp>
    </p:spTree>
    <p:extLst>
      <p:ext uri="{BB962C8B-B14F-4D97-AF65-F5344CB8AC3E}">
        <p14:creationId xmlns:p14="http://schemas.microsoft.com/office/powerpoint/2010/main" val="16823594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B506853-5B7D-556D-60A7-9B2A966C3921}"/>
              </a:ext>
            </a:extLst>
          </p:cNvPr>
          <p:cNvSpPr/>
          <p:nvPr/>
        </p:nvSpPr>
        <p:spPr>
          <a:xfrm>
            <a:off x="0" y="5873519"/>
            <a:ext cx="12192000" cy="984482"/>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23E69FC6-D07E-8774-63E8-736E5F5FCD55}"/>
              </a:ext>
            </a:extLst>
          </p:cNvPr>
          <p:cNvPicPr>
            <a:picLocks noChangeAspect="1"/>
          </p:cNvPicPr>
          <p:nvPr/>
        </p:nvPicPr>
        <p:blipFill>
          <a:blip r:embed="rId3"/>
          <a:stretch>
            <a:fillRect/>
          </a:stretch>
        </p:blipFill>
        <p:spPr>
          <a:xfrm>
            <a:off x="11266948" y="5945786"/>
            <a:ext cx="850338" cy="850338"/>
          </a:xfrm>
          <a:prstGeom prst="rect">
            <a:avLst/>
          </a:prstGeom>
        </p:spPr>
      </p:pic>
      <p:pic>
        <p:nvPicPr>
          <p:cNvPr id="2" name="Picture 1"/>
          <p:cNvPicPr>
            <a:picLocks noChangeAspect="1"/>
          </p:cNvPicPr>
          <p:nvPr/>
        </p:nvPicPr>
        <p:blipFill>
          <a:blip r:embed="rId4"/>
          <a:stretch>
            <a:fillRect/>
          </a:stretch>
        </p:blipFill>
        <p:spPr>
          <a:xfrm>
            <a:off x="2528596" y="-14650"/>
            <a:ext cx="7575175" cy="6889578"/>
          </a:xfrm>
          <a:prstGeom prst="rect">
            <a:avLst/>
          </a:prstGeom>
        </p:spPr>
      </p:pic>
    </p:spTree>
    <p:extLst>
      <p:ext uri="{BB962C8B-B14F-4D97-AF65-F5344CB8AC3E}">
        <p14:creationId xmlns:p14="http://schemas.microsoft.com/office/powerpoint/2010/main" val="30959549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B506853-5B7D-556D-60A7-9B2A966C3921}"/>
              </a:ext>
            </a:extLst>
          </p:cNvPr>
          <p:cNvSpPr/>
          <p:nvPr/>
        </p:nvSpPr>
        <p:spPr>
          <a:xfrm>
            <a:off x="0" y="5873519"/>
            <a:ext cx="12192000" cy="984482"/>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23E69FC6-D07E-8774-63E8-736E5F5FCD55}"/>
              </a:ext>
            </a:extLst>
          </p:cNvPr>
          <p:cNvPicPr>
            <a:picLocks noChangeAspect="1"/>
          </p:cNvPicPr>
          <p:nvPr/>
        </p:nvPicPr>
        <p:blipFill>
          <a:blip r:embed="rId3"/>
          <a:stretch>
            <a:fillRect/>
          </a:stretch>
        </p:blipFill>
        <p:spPr>
          <a:xfrm>
            <a:off x="11266948" y="5945786"/>
            <a:ext cx="850338" cy="850338"/>
          </a:xfrm>
          <a:prstGeom prst="rect">
            <a:avLst/>
          </a:prstGeom>
        </p:spPr>
      </p:pic>
      <p:pic>
        <p:nvPicPr>
          <p:cNvPr id="6" name="Picture 5"/>
          <p:cNvPicPr>
            <a:picLocks noChangeAspect="1"/>
          </p:cNvPicPr>
          <p:nvPr/>
        </p:nvPicPr>
        <p:blipFill>
          <a:blip r:embed="rId4"/>
          <a:stretch>
            <a:fillRect/>
          </a:stretch>
        </p:blipFill>
        <p:spPr>
          <a:xfrm>
            <a:off x="309990" y="4004078"/>
            <a:ext cx="5605045" cy="2792046"/>
          </a:xfrm>
          <a:prstGeom prst="rect">
            <a:avLst/>
          </a:prstGeom>
        </p:spPr>
      </p:pic>
      <p:pic>
        <p:nvPicPr>
          <p:cNvPr id="7" name="Picture 6"/>
          <p:cNvPicPr>
            <a:picLocks noChangeAspect="1"/>
          </p:cNvPicPr>
          <p:nvPr/>
        </p:nvPicPr>
        <p:blipFill>
          <a:blip r:embed="rId5"/>
          <a:stretch>
            <a:fillRect/>
          </a:stretch>
        </p:blipFill>
        <p:spPr>
          <a:xfrm>
            <a:off x="5498866" y="113138"/>
            <a:ext cx="6324600" cy="3829063"/>
          </a:xfrm>
          <a:prstGeom prst="rect">
            <a:avLst/>
          </a:prstGeom>
        </p:spPr>
      </p:pic>
    </p:spTree>
    <p:extLst>
      <p:ext uri="{BB962C8B-B14F-4D97-AF65-F5344CB8AC3E}">
        <p14:creationId xmlns:p14="http://schemas.microsoft.com/office/powerpoint/2010/main" val="21918774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4DE5AA96-A1E2-424B-B98F-DF321364C02F}"/>
              </a:ext>
            </a:extLst>
          </p:cNvPr>
          <p:cNvSpPr>
            <a:spLocks noGrp="1"/>
          </p:cNvSpPr>
          <p:nvPr>
            <p:ph type="title"/>
          </p:nvPr>
        </p:nvSpPr>
        <p:spPr/>
        <p:txBody>
          <a:bodyPr/>
          <a:lstStyle/>
          <a:p>
            <a:r>
              <a:rPr lang="en-US" dirty="0" smtClean="0">
                <a:solidFill>
                  <a:srgbClr val="00223D"/>
                </a:solidFill>
              </a:rPr>
              <a:t>Tables</a:t>
            </a:r>
            <a:endParaRPr lang="en-US" dirty="0">
              <a:solidFill>
                <a:srgbClr val="00223D"/>
              </a:solidFill>
            </a:endParaRPr>
          </a:p>
        </p:txBody>
      </p:sp>
      <p:sp>
        <p:nvSpPr>
          <p:cNvPr id="5" name="Rectangle 4">
            <a:extLst>
              <a:ext uri="{FF2B5EF4-FFF2-40B4-BE49-F238E27FC236}">
                <a16:creationId xmlns:a16="http://schemas.microsoft.com/office/drawing/2014/main" id="{8B506853-5B7D-556D-60A7-9B2A966C3921}"/>
              </a:ext>
            </a:extLst>
          </p:cNvPr>
          <p:cNvSpPr/>
          <p:nvPr/>
        </p:nvSpPr>
        <p:spPr>
          <a:xfrm>
            <a:off x="0" y="5873519"/>
            <a:ext cx="12192000" cy="984482"/>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23E69FC6-D07E-8774-63E8-736E5F5FCD55}"/>
              </a:ext>
            </a:extLst>
          </p:cNvPr>
          <p:cNvPicPr>
            <a:picLocks noChangeAspect="1"/>
          </p:cNvPicPr>
          <p:nvPr/>
        </p:nvPicPr>
        <p:blipFill>
          <a:blip r:embed="rId3"/>
          <a:stretch>
            <a:fillRect/>
          </a:stretch>
        </p:blipFill>
        <p:spPr>
          <a:xfrm>
            <a:off x="11266948" y="5945786"/>
            <a:ext cx="850338" cy="850338"/>
          </a:xfrm>
          <a:prstGeom prst="rect">
            <a:avLst/>
          </a:prstGeom>
        </p:spPr>
      </p:pic>
      <p:sp>
        <p:nvSpPr>
          <p:cNvPr id="6" name="Content Placeholder 2"/>
          <p:cNvSpPr txBox="1">
            <a:spLocks/>
          </p:cNvSpPr>
          <p:nvPr/>
        </p:nvSpPr>
        <p:spPr>
          <a:xfrm>
            <a:off x="685799" y="1818752"/>
            <a:ext cx="10384972" cy="206744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Data is organized into rows and columns</a:t>
            </a:r>
          </a:p>
          <a:p>
            <a:pPr lvl="1"/>
            <a:r>
              <a:rPr lang="en-US" dirty="0" smtClean="0"/>
              <a:t>Columns = Data Fields, content shares a data type </a:t>
            </a:r>
          </a:p>
          <a:p>
            <a:pPr lvl="1"/>
            <a:r>
              <a:rPr lang="en-US" dirty="0" smtClean="0"/>
              <a:t>Rows = Individual instances of those fields</a:t>
            </a:r>
          </a:p>
          <a:p>
            <a:endParaRPr lang="en-US" dirty="0"/>
          </a:p>
        </p:txBody>
      </p:sp>
      <p:pic>
        <p:nvPicPr>
          <p:cNvPr id="7" name="Picture 6"/>
          <p:cNvPicPr>
            <a:picLocks noChangeAspect="1"/>
          </p:cNvPicPr>
          <p:nvPr/>
        </p:nvPicPr>
        <p:blipFill>
          <a:blip r:embed="rId4"/>
          <a:stretch>
            <a:fillRect/>
          </a:stretch>
        </p:blipFill>
        <p:spPr>
          <a:xfrm>
            <a:off x="2379396" y="3312367"/>
            <a:ext cx="6993658" cy="3483757"/>
          </a:xfrm>
          <a:prstGeom prst="rect">
            <a:avLst/>
          </a:prstGeom>
        </p:spPr>
      </p:pic>
    </p:spTree>
    <p:extLst>
      <p:ext uri="{BB962C8B-B14F-4D97-AF65-F5344CB8AC3E}">
        <p14:creationId xmlns:p14="http://schemas.microsoft.com/office/powerpoint/2010/main" val="26891278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B506853-5B7D-556D-60A7-9B2A966C3921}"/>
              </a:ext>
            </a:extLst>
          </p:cNvPr>
          <p:cNvSpPr/>
          <p:nvPr/>
        </p:nvSpPr>
        <p:spPr>
          <a:xfrm>
            <a:off x="0" y="5873519"/>
            <a:ext cx="12192000" cy="984482"/>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p:cNvPicPr>
            <a:picLocks noChangeAspect="1"/>
          </p:cNvPicPr>
          <p:nvPr/>
        </p:nvPicPr>
        <p:blipFill>
          <a:blip r:embed="rId3"/>
          <a:stretch>
            <a:fillRect/>
          </a:stretch>
        </p:blipFill>
        <p:spPr>
          <a:xfrm>
            <a:off x="3386827" y="4018449"/>
            <a:ext cx="5700415" cy="2839552"/>
          </a:xfrm>
          <a:prstGeom prst="rect">
            <a:avLst/>
          </a:prstGeom>
        </p:spPr>
      </p:pic>
      <p:sp>
        <p:nvSpPr>
          <p:cNvPr id="12" name="Title 11">
            <a:extLst>
              <a:ext uri="{FF2B5EF4-FFF2-40B4-BE49-F238E27FC236}">
                <a16:creationId xmlns:a16="http://schemas.microsoft.com/office/drawing/2014/main" id="{4DE5AA96-A1E2-424B-B98F-DF321364C02F}"/>
              </a:ext>
            </a:extLst>
          </p:cNvPr>
          <p:cNvSpPr>
            <a:spLocks noGrp="1"/>
          </p:cNvSpPr>
          <p:nvPr>
            <p:ph type="title"/>
          </p:nvPr>
        </p:nvSpPr>
        <p:spPr/>
        <p:txBody>
          <a:bodyPr/>
          <a:lstStyle/>
          <a:p>
            <a:r>
              <a:rPr lang="en-US" dirty="0" smtClean="0">
                <a:solidFill>
                  <a:srgbClr val="00223D"/>
                </a:solidFill>
              </a:rPr>
              <a:t>Metrics and Dimensions</a:t>
            </a:r>
            <a:endParaRPr lang="en-US" dirty="0">
              <a:solidFill>
                <a:srgbClr val="00223D"/>
              </a:solidFill>
            </a:endParaRPr>
          </a:p>
        </p:txBody>
      </p:sp>
      <p:pic>
        <p:nvPicPr>
          <p:cNvPr id="18" name="Picture 17">
            <a:extLst>
              <a:ext uri="{FF2B5EF4-FFF2-40B4-BE49-F238E27FC236}">
                <a16:creationId xmlns:a16="http://schemas.microsoft.com/office/drawing/2014/main" id="{23E69FC6-D07E-8774-63E8-736E5F5FCD55}"/>
              </a:ext>
            </a:extLst>
          </p:cNvPr>
          <p:cNvPicPr>
            <a:picLocks noChangeAspect="1"/>
          </p:cNvPicPr>
          <p:nvPr/>
        </p:nvPicPr>
        <p:blipFill>
          <a:blip r:embed="rId4"/>
          <a:stretch>
            <a:fillRect/>
          </a:stretch>
        </p:blipFill>
        <p:spPr>
          <a:xfrm>
            <a:off x="11266948" y="5945786"/>
            <a:ext cx="850338" cy="850338"/>
          </a:xfrm>
          <a:prstGeom prst="rect">
            <a:avLst/>
          </a:prstGeom>
        </p:spPr>
      </p:pic>
      <p:sp>
        <p:nvSpPr>
          <p:cNvPr id="6" name="Content Placeholder 2"/>
          <p:cNvSpPr>
            <a:spLocks noGrp="1"/>
          </p:cNvSpPr>
          <p:nvPr>
            <p:ph idx="1"/>
          </p:nvPr>
        </p:nvSpPr>
        <p:spPr>
          <a:xfrm>
            <a:off x="6708897" y="1900691"/>
            <a:ext cx="5369735" cy="1371600"/>
          </a:xfrm>
        </p:spPr>
        <p:txBody>
          <a:bodyPr>
            <a:noAutofit/>
          </a:bodyPr>
          <a:lstStyle/>
          <a:p>
            <a:pPr marL="0" indent="0" algn="r">
              <a:buNone/>
            </a:pPr>
            <a:r>
              <a:rPr lang="en-US" dirty="0" smtClean="0"/>
              <a:t>Metrics: </a:t>
            </a:r>
          </a:p>
          <a:p>
            <a:pPr marL="0" indent="0" algn="r">
              <a:buNone/>
            </a:pPr>
            <a:r>
              <a:rPr lang="en-US" dirty="0" smtClean="0"/>
              <a:t>Quantitative data</a:t>
            </a:r>
          </a:p>
          <a:p>
            <a:pPr marL="0" indent="0" algn="r">
              <a:buNone/>
            </a:pPr>
            <a:endParaRPr lang="en-US" dirty="0"/>
          </a:p>
          <a:p>
            <a:pPr marL="0" indent="0" algn="r">
              <a:buNone/>
            </a:pPr>
            <a:r>
              <a:rPr lang="en-US" dirty="0" smtClean="0"/>
              <a:t>Use for plotting points within charts</a:t>
            </a:r>
          </a:p>
          <a:p>
            <a:pPr marL="0" indent="0" algn="r">
              <a:buNone/>
            </a:pPr>
            <a:endParaRPr lang="en-US" dirty="0" smtClean="0"/>
          </a:p>
          <a:p>
            <a:pPr marL="0" indent="0" algn="r">
              <a:buNone/>
            </a:pPr>
            <a:r>
              <a:rPr lang="en-US" dirty="0" smtClean="0"/>
              <a:t>Optional</a:t>
            </a:r>
            <a:endParaRPr lang="en-US" dirty="0"/>
          </a:p>
        </p:txBody>
      </p:sp>
      <p:sp>
        <p:nvSpPr>
          <p:cNvPr id="7" name="Content Placeholder 2"/>
          <p:cNvSpPr txBox="1">
            <a:spLocks/>
          </p:cNvSpPr>
          <p:nvPr/>
        </p:nvSpPr>
        <p:spPr bwMode="auto">
          <a:xfrm>
            <a:off x="0" y="1902068"/>
            <a:ext cx="4563208" cy="1905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defRPr>
            </a:lvl2pPr>
            <a:lvl3pPr marL="1143000" indent="-228600" algn="l" rtl="0" eaLnBrk="1" fontAlgn="base" hangingPunct="1">
              <a:spcBef>
                <a:spcPct val="20000"/>
              </a:spcBef>
              <a:spcAft>
                <a:spcPct val="0"/>
              </a:spcAft>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indent="0">
              <a:buNone/>
            </a:pPr>
            <a:r>
              <a:rPr lang="en-US" sz="2800" kern="0" dirty="0" smtClean="0"/>
              <a:t>Dimensions: Attributes of your data</a:t>
            </a:r>
          </a:p>
          <a:p>
            <a:pPr marL="457200" lvl="1" indent="0">
              <a:buNone/>
            </a:pPr>
            <a:r>
              <a:rPr lang="en-US" kern="0" dirty="0" smtClean="0"/>
              <a:t>Non-Numeric values and dates</a:t>
            </a:r>
          </a:p>
          <a:p>
            <a:pPr marL="457200" lvl="1" indent="0">
              <a:buNone/>
            </a:pPr>
            <a:r>
              <a:rPr lang="en-US" kern="0" dirty="0" smtClean="0"/>
              <a:t>Use for Axes</a:t>
            </a:r>
          </a:p>
          <a:p>
            <a:pPr marL="457200" lvl="1" indent="0">
              <a:buNone/>
            </a:pPr>
            <a:r>
              <a:rPr lang="en-US" kern="0" dirty="0"/>
              <a:t>&amp; filters</a:t>
            </a:r>
          </a:p>
          <a:p>
            <a:pPr marL="457200" lvl="1" indent="0">
              <a:buNone/>
            </a:pPr>
            <a:r>
              <a:rPr lang="en-US" kern="0" dirty="0"/>
              <a:t>Required</a:t>
            </a:r>
          </a:p>
          <a:p>
            <a:pPr marL="457200" lvl="1" indent="0">
              <a:buNone/>
            </a:pPr>
            <a:endParaRPr lang="en-US" kern="0" dirty="0"/>
          </a:p>
        </p:txBody>
      </p:sp>
      <p:cxnSp>
        <p:nvCxnSpPr>
          <p:cNvPr id="9" name="Straight Connector 8"/>
          <p:cNvCxnSpPr/>
          <p:nvPr/>
        </p:nvCxnSpPr>
        <p:spPr>
          <a:xfrm flipV="1">
            <a:off x="5047862" y="1351447"/>
            <a:ext cx="0" cy="266700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5047862" y="4018447"/>
            <a:ext cx="4039380" cy="283955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3386828" y="4018448"/>
            <a:ext cx="1661034" cy="283955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342579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4DE5AA96-A1E2-424B-B98F-DF321364C02F}"/>
              </a:ext>
            </a:extLst>
          </p:cNvPr>
          <p:cNvSpPr>
            <a:spLocks noGrp="1"/>
          </p:cNvSpPr>
          <p:nvPr>
            <p:ph type="title"/>
          </p:nvPr>
        </p:nvSpPr>
        <p:spPr/>
        <p:txBody>
          <a:bodyPr/>
          <a:lstStyle/>
          <a:p>
            <a:r>
              <a:rPr lang="en-US" dirty="0" smtClean="0">
                <a:solidFill>
                  <a:srgbClr val="00223D"/>
                </a:solidFill>
              </a:rPr>
              <a:t>Metrics and Dimensions</a:t>
            </a:r>
            <a:endParaRPr lang="en-US" dirty="0">
              <a:solidFill>
                <a:srgbClr val="00223D"/>
              </a:solidFill>
            </a:endParaRPr>
          </a:p>
        </p:txBody>
      </p:sp>
      <p:sp>
        <p:nvSpPr>
          <p:cNvPr id="5" name="Rectangle 4">
            <a:extLst>
              <a:ext uri="{FF2B5EF4-FFF2-40B4-BE49-F238E27FC236}">
                <a16:creationId xmlns:a16="http://schemas.microsoft.com/office/drawing/2014/main" id="{8B506853-5B7D-556D-60A7-9B2A966C3921}"/>
              </a:ext>
            </a:extLst>
          </p:cNvPr>
          <p:cNvSpPr/>
          <p:nvPr/>
        </p:nvSpPr>
        <p:spPr>
          <a:xfrm>
            <a:off x="0" y="5873519"/>
            <a:ext cx="12192000" cy="984482"/>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23E69FC6-D07E-8774-63E8-736E5F5FCD55}"/>
              </a:ext>
            </a:extLst>
          </p:cNvPr>
          <p:cNvPicPr>
            <a:picLocks noChangeAspect="1"/>
          </p:cNvPicPr>
          <p:nvPr/>
        </p:nvPicPr>
        <p:blipFill>
          <a:blip r:embed="rId3"/>
          <a:stretch>
            <a:fillRect/>
          </a:stretch>
        </p:blipFill>
        <p:spPr>
          <a:xfrm>
            <a:off x="11266948" y="5945786"/>
            <a:ext cx="850338" cy="850338"/>
          </a:xfrm>
          <a:prstGeom prst="rect">
            <a:avLst/>
          </a:prstGeom>
        </p:spPr>
      </p:pic>
      <p:pic>
        <p:nvPicPr>
          <p:cNvPr id="6" name="Picture 5"/>
          <p:cNvPicPr>
            <a:picLocks noChangeAspect="1"/>
          </p:cNvPicPr>
          <p:nvPr/>
        </p:nvPicPr>
        <p:blipFill>
          <a:blip r:embed="rId4"/>
          <a:stretch>
            <a:fillRect/>
          </a:stretch>
        </p:blipFill>
        <p:spPr>
          <a:xfrm>
            <a:off x="1521353" y="1588485"/>
            <a:ext cx="9149293" cy="5207639"/>
          </a:xfrm>
          <a:prstGeom prst="rect">
            <a:avLst/>
          </a:prstGeom>
        </p:spPr>
      </p:pic>
    </p:spTree>
    <p:extLst>
      <p:ext uri="{BB962C8B-B14F-4D97-AF65-F5344CB8AC3E}">
        <p14:creationId xmlns:p14="http://schemas.microsoft.com/office/powerpoint/2010/main" val="38620375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4DE5AA96-A1E2-424B-B98F-DF321364C02F}"/>
              </a:ext>
            </a:extLst>
          </p:cNvPr>
          <p:cNvSpPr>
            <a:spLocks noGrp="1"/>
          </p:cNvSpPr>
          <p:nvPr>
            <p:ph type="title"/>
          </p:nvPr>
        </p:nvSpPr>
        <p:spPr/>
        <p:txBody>
          <a:bodyPr/>
          <a:lstStyle/>
          <a:p>
            <a:r>
              <a:rPr lang="en-US" dirty="0" smtClean="0">
                <a:solidFill>
                  <a:srgbClr val="00223D"/>
                </a:solidFill>
              </a:rPr>
              <a:t>My Favorite Excel Trick</a:t>
            </a:r>
            <a:endParaRPr lang="en-US" dirty="0">
              <a:solidFill>
                <a:srgbClr val="00223D"/>
              </a:solidFill>
            </a:endParaRPr>
          </a:p>
        </p:txBody>
      </p:sp>
      <p:sp>
        <p:nvSpPr>
          <p:cNvPr id="5" name="Rectangle 4">
            <a:extLst>
              <a:ext uri="{FF2B5EF4-FFF2-40B4-BE49-F238E27FC236}">
                <a16:creationId xmlns:a16="http://schemas.microsoft.com/office/drawing/2014/main" id="{8B506853-5B7D-556D-60A7-9B2A966C3921}"/>
              </a:ext>
            </a:extLst>
          </p:cNvPr>
          <p:cNvSpPr/>
          <p:nvPr/>
        </p:nvSpPr>
        <p:spPr>
          <a:xfrm>
            <a:off x="0" y="5873519"/>
            <a:ext cx="12192000" cy="984482"/>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23E69FC6-D07E-8774-63E8-736E5F5FCD55}"/>
              </a:ext>
            </a:extLst>
          </p:cNvPr>
          <p:cNvPicPr>
            <a:picLocks noChangeAspect="1"/>
          </p:cNvPicPr>
          <p:nvPr/>
        </p:nvPicPr>
        <p:blipFill>
          <a:blip r:embed="rId3"/>
          <a:stretch>
            <a:fillRect/>
          </a:stretch>
        </p:blipFill>
        <p:spPr>
          <a:xfrm>
            <a:off x="11266948" y="5945786"/>
            <a:ext cx="850338" cy="850338"/>
          </a:xfrm>
          <a:prstGeom prst="rect">
            <a:avLst/>
          </a:prstGeom>
        </p:spPr>
      </p:pic>
      <p:pic>
        <p:nvPicPr>
          <p:cNvPr id="6" name="Picture 5"/>
          <p:cNvPicPr>
            <a:picLocks noChangeAspect="1"/>
          </p:cNvPicPr>
          <p:nvPr/>
        </p:nvPicPr>
        <p:blipFill>
          <a:blip r:embed="rId4"/>
          <a:stretch>
            <a:fillRect/>
          </a:stretch>
        </p:blipFill>
        <p:spPr>
          <a:xfrm>
            <a:off x="2796761" y="1389651"/>
            <a:ext cx="6598477" cy="5468350"/>
          </a:xfrm>
          <a:prstGeom prst="rect">
            <a:avLst/>
          </a:prstGeom>
        </p:spPr>
      </p:pic>
    </p:spTree>
    <p:extLst>
      <p:ext uri="{BB962C8B-B14F-4D97-AF65-F5344CB8AC3E}">
        <p14:creationId xmlns:p14="http://schemas.microsoft.com/office/powerpoint/2010/main" val="20863809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4DE5AA96-A1E2-424B-B98F-DF321364C02F}"/>
              </a:ext>
            </a:extLst>
          </p:cNvPr>
          <p:cNvSpPr>
            <a:spLocks noGrp="1"/>
          </p:cNvSpPr>
          <p:nvPr>
            <p:ph type="title"/>
          </p:nvPr>
        </p:nvSpPr>
        <p:spPr/>
        <p:txBody>
          <a:bodyPr/>
          <a:lstStyle/>
          <a:p>
            <a:r>
              <a:rPr lang="en-US" dirty="0" err="1" smtClean="0">
                <a:solidFill>
                  <a:srgbClr val="00223D"/>
                </a:solidFill>
              </a:rPr>
              <a:t>Unpivot</a:t>
            </a:r>
            <a:endParaRPr lang="en-US" dirty="0">
              <a:solidFill>
                <a:srgbClr val="00223D"/>
              </a:solidFill>
            </a:endParaRPr>
          </a:p>
        </p:txBody>
      </p:sp>
      <p:sp>
        <p:nvSpPr>
          <p:cNvPr id="5" name="Rectangle 4">
            <a:extLst>
              <a:ext uri="{FF2B5EF4-FFF2-40B4-BE49-F238E27FC236}">
                <a16:creationId xmlns:a16="http://schemas.microsoft.com/office/drawing/2014/main" id="{8B506853-5B7D-556D-60A7-9B2A966C3921}"/>
              </a:ext>
            </a:extLst>
          </p:cNvPr>
          <p:cNvSpPr/>
          <p:nvPr/>
        </p:nvSpPr>
        <p:spPr>
          <a:xfrm>
            <a:off x="0" y="5873519"/>
            <a:ext cx="12192000" cy="984482"/>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23E69FC6-D07E-8774-63E8-736E5F5FCD55}"/>
              </a:ext>
            </a:extLst>
          </p:cNvPr>
          <p:cNvPicPr>
            <a:picLocks noChangeAspect="1"/>
          </p:cNvPicPr>
          <p:nvPr/>
        </p:nvPicPr>
        <p:blipFill>
          <a:blip r:embed="rId3"/>
          <a:stretch>
            <a:fillRect/>
          </a:stretch>
        </p:blipFill>
        <p:spPr>
          <a:xfrm>
            <a:off x="11266948" y="5945786"/>
            <a:ext cx="850338" cy="850338"/>
          </a:xfrm>
          <a:prstGeom prst="rect">
            <a:avLst/>
          </a:prstGeom>
        </p:spPr>
      </p:pic>
      <p:pic>
        <p:nvPicPr>
          <p:cNvPr id="7" name="Picture 6"/>
          <p:cNvPicPr>
            <a:picLocks noChangeAspect="1"/>
          </p:cNvPicPr>
          <p:nvPr/>
        </p:nvPicPr>
        <p:blipFill>
          <a:blip r:embed="rId4"/>
          <a:stretch>
            <a:fillRect/>
          </a:stretch>
        </p:blipFill>
        <p:spPr>
          <a:xfrm>
            <a:off x="0" y="1783499"/>
            <a:ext cx="7765537" cy="3510448"/>
          </a:xfrm>
          <a:prstGeom prst="rect">
            <a:avLst/>
          </a:prstGeom>
        </p:spPr>
      </p:pic>
      <p:pic>
        <p:nvPicPr>
          <p:cNvPr id="8" name="Picture 7"/>
          <p:cNvPicPr>
            <a:picLocks noChangeAspect="1"/>
          </p:cNvPicPr>
          <p:nvPr/>
        </p:nvPicPr>
        <p:blipFill>
          <a:blip r:embed="rId5"/>
          <a:stretch>
            <a:fillRect/>
          </a:stretch>
        </p:blipFill>
        <p:spPr>
          <a:xfrm>
            <a:off x="7898797" y="1497260"/>
            <a:ext cx="4218489" cy="4064810"/>
          </a:xfrm>
          <a:prstGeom prst="rect">
            <a:avLst/>
          </a:prstGeom>
        </p:spPr>
      </p:pic>
    </p:spTree>
    <p:extLst>
      <p:ext uri="{BB962C8B-B14F-4D97-AF65-F5344CB8AC3E}">
        <p14:creationId xmlns:p14="http://schemas.microsoft.com/office/powerpoint/2010/main" val="14746864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4DE5AA96-A1E2-424B-B98F-DF321364C02F}"/>
              </a:ext>
            </a:extLst>
          </p:cNvPr>
          <p:cNvSpPr>
            <a:spLocks noGrp="1"/>
          </p:cNvSpPr>
          <p:nvPr>
            <p:ph type="title"/>
          </p:nvPr>
        </p:nvSpPr>
        <p:spPr/>
        <p:txBody>
          <a:bodyPr/>
          <a:lstStyle/>
          <a:p>
            <a:r>
              <a:rPr lang="en-US" dirty="0" err="1" smtClean="0">
                <a:solidFill>
                  <a:srgbClr val="00223D"/>
                </a:solidFill>
              </a:rPr>
              <a:t>Unpivoting</a:t>
            </a:r>
            <a:r>
              <a:rPr lang="en-US" dirty="0" smtClean="0">
                <a:solidFill>
                  <a:srgbClr val="00223D"/>
                </a:solidFill>
              </a:rPr>
              <a:t> with SQL</a:t>
            </a:r>
            <a:endParaRPr lang="en-US" dirty="0">
              <a:solidFill>
                <a:srgbClr val="00223D"/>
              </a:solidFill>
            </a:endParaRPr>
          </a:p>
        </p:txBody>
      </p:sp>
      <p:sp>
        <p:nvSpPr>
          <p:cNvPr id="5" name="Rectangle 4">
            <a:extLst>
              <a:ext uri="{FF2B5EF4-FFF2-40B4-BE49-F238E27FC236}">
                <a16:creationId xmlns:a16="http://schemas.microsoft.com/office/drawing/2014/main" id="{8B506853-5B7D-556D-60A7-9B2A966C3921}"/>
              </a:ext>
            </a:extLst>
          </p:cNvPr>
          <p:cNvSpPr/>
          <p:nvPr/>
        </p:nvSpPr>
        <p:spPr>
          <a:xfrm>
            <a:off x="0" y="5873519"/>
            <a:ext cx="12192000" cy="984482"/>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23E69FC6-D07E-8774-63E8-736E5F5FCD55}"/>
              </a:ext>
            </a:extLst>
          </p:cNvPr>
          <p:cNvPicPr>
            <a:picLocks noChangeAspect="1"/>
          </p:cNvPicPr>
          <p:nvPr/>
        </p:nvPicPr>
        <p:blipFill>
          <a:blip r:embed="rId3"/>
          <a:stretch>
            <a:fillRect/>
          </a:stretch>
        </p:blipFill>
        <p:spPr>
          <a:xfrm>
            <a:off x="11266948" y="5945786"/>
            <a:ext cx="850338" cy="850338"/>
          </a:xfrm>
          <a:prstGeom prst="rect">
            <a:avLst/>
          </a:prstGeom>
        </p:spPr>
      </p:pic>
      <p:sp>
        <p:nvSpPr>
          <p:cNvPr id="6" name="Content Placeholder 2"/>
          <p:cNvSpPr txBox="1">
            <a:spLocks/>
          </p:cNvSpPr>
          <p:nvPr/>
        </p:nvSpPr>
        <p:spPr>
          <a:xfrm>
            <a:off x="685800" y="1818752"/>
            <a:ext cx="8153400" cy="206744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pic>
        <p:nvPicPr>
          <p:cNvPr id="8" name="Picture 7"/>
          <p:cNvPicPr>
            <a:picLocks noChangeAspect="1"/>
          </p:cNvPicPr>
          <p:nvPr/>
        </p:nvPicPr>
        <p:blipFill>
          <a:blip r:embed="rId4"/>
          <a:stretch>
            <a:fillRect/>
          </a:stretch>
        </p:blipFill>
        <p:spPr>
          <a:xfrm>
            <a:off x="123093" y="1818752"/>
            <a:ext cx="6395814" cy="4745281"/>
          </a:xfrm>
          <a:prstGeom prst="rect">
            <a:avLst/>
          </a:prstGeom>
        </p:spPr>
      </p:pic>
      <p:pic>
        <p:nvPicPr>
          <p:cNvPr id="9" name="Picture 8"/>
          <p:cNvPicPr>
            <a:picLocks noChangeAspect="1"/>
          </p:cNvPicPr>
          <p:nvPr/>
        </p:nvPicPr>
        <p:blipFill>
          <a:blip r:embed="rId5"/>
          <a:stretch>
            <a:fillRect/>
          </a:stretch>
        </p:blipFill>
        <p:spPr>
          <a:xfrm>
            <a:off x="7011377" y="1690688"/>
            <a:ext cx="4090138" cy="4935273"/>
          </a:xfrm>
          <a:prstGeom prst="rect">
            <a:avLst/>
          </a:prstGeom>
        </p:spPr>
      </p:pic>
    </p:spTree>
    <p:extLst>
      <p:ext uri="{BB962C8B-B14F-4D97-AF65-F5344CB8AC3E}">
        <p14:creationId xmlns:p14="http://schemas.microsoft.com/office/powerpoint/2010/main" val="12939254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B506853-5B7D-556D-60A7-9B2A966C3921}"/>
              </a:ext>
            </a:extLst>
          </p:cNvPr>
          <p:cNvSpPr/>
          <p:nvPr/>
        </p:nvSpPr>
        <p:spPr>
          <a:xfrm>
            <a:off x="0" y="5873519"/>
            <a:ext cx="12192000" cy="984482"/>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23E69FC6-D07E-8774-63E8-736E5F5FCD55}"/>
              </a:ext>
            </a:extLst>
          </p:cNvPr>
          <p:cNvPicPr>
            <a:picLocks noChangeAspect="1"/>
          </p:cNvPicPr>
          <p:nvPr/>
        </p:nvPicPr>
        <p:blipFill>
          <a:blip r:embed="rId3"/>
          <a:stretch>
            <a:fillRect/>
          </a:stretch>
        </p:blipFill>
        <p:spPr>
          <a:xfrm>
            <a:off x="11266948" y="5945786"/>
            <a:ext cx="850338" cy="850338"/>
          </a:xfrm>
          <a:prstGeom prst="rect">
            <a:avLst/>
          </a:prstGeom>
        </p:spPr>
      </p:pic>
      <p:pic>
        <p:nvPicPr>
          <p:cNvPr id="7" name="Picture 6"/>
          <p:cNvPicPr>
            <a:picLocks noChangeAspect="1"/>
          </p:cNvPicPr>
          <p:nvPr/>
        </p:nvPicPr>
        <p:blipFill>
          <a:blip r:embed="rId4"/>
          <a:stretch>
            <a:fillRect/>
          </a:stretch>
        </p:blipFill>
        <p:spPr>
          <a:xfrm>
            <a:off x="6758354" y="3214724"/>
            <a:ext cx="4270129" cy="3581400"/>
          </a:xfrm>
          <a:prstGeom prst="rect">
            <a:avLst/>
          </a:prstGeom>
        </p:spPr>
      </p:pic>
      <p:pic>
        <p:nvPicPr>
          <p:cNvPr id="8" name="Picture 7"/>
          <p:cNvPicPr>
            <a:picLocks noChangeAspect="1"/>
          </p:cNvPicPr>
          <p:nvPr/>
        </p:nvPicPr>
        <p:blipFill>
          <a:blip r:embed="rId5"/>
          <a:stretch>
            <a:fillRect/>
          </a:stretch>
        </p:blipFill>
        <p:spPr>
          <a:xfrm>
            <a:off x="3015762" y="102576"/>
            <a:ext cx="6148690" cy="2819400"/>
          </a:xfrm>
          <a:prstGeom prst="rect">
            <a:avLst/>
          </a:prstGeom>
        </p:spPr>
      </p:pic>
      <p:pic>
        <p:nvPicPr>
          <p:cNvPr id="9" name="Picture 8"/>
          <p:cNvPicPr>
            <a:picLocks noChangeAspect="1"/>
          </p:cNvPicPr>
          <p:nvPr/>
        </p:nvPicPr>
        <p:blipFill>
          <a:blip r:embed="rId6"/>
          <a:stretch>
            <a:fillRect/>
          </a:stretch>
        </p:blipFill>
        <p:spPr>
          <a:xfrm>
            <a:off x="791083" y="3214724"/>
            <a:ext cx="4842391" cy="3581400"/>
          </a:xfrm>
          <a:prstGeom prst="rect">
            <a:avLst/>
          </a:prstGeom>
        </p:spPr>
      </p:pic>
      <p:cxnSp>
        <p:nvCxnSpPr>
          <p:cNvPr id="10" name="Straight Arrow Connector 9"/>
          <p:cNvCxnSpPr/>
          <p:nvPr/>
        </p:nvCxnSpPr>
        <p:spPr>
          <a:xfrm flipH="1">
            <a:off x="4234962" y="2159976"/>
            <a:ext cx="228600" cy="121920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4882662" y="5055576"/>
            <a:ext cx="1875692" cy="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415491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B506853-5B7D-556D-60A7-9B2A966C3921}"/>
              </a:ext>
            </a:extLst>
          </p:cNvPr>
          <p:cNvSpPr/>
          <p:nvPr/>
        </p:nvSpPr>
        <p:spPr>
          <a:xfrm>
            <a:off x="0" y="5873519"/>
            <a:ext cx="12192000" cy="984482"/>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23E69FC6-D07E-8774-63E8-736E5F5FCD55}"/>
              </a:ext>
            </a:extLst>
          </p:cNvPr>
          <p:cNvPicPr>
            <a:picLocks noChangeAspect="1"/>
          </p:cNvPicPr>
          <p:nvPr/>
        </p:nvPicPr>
        <p:blipFill>
          <a:blip r:embed="rId3"/>
          <a:stretch>
            <a:fillRect/>
          </a:stretch>
        </p:blipFill>
        <p:spPr>
          <a:xfrm>
            <a:off x="11266948" y="5945786"/>
            <a:ext cx="850338" cy="850338"/>
          </a:xfrm>
          <a:prstGeom prst="rect">
            <a:avLst/>
          </a:prstGeom>
        </p:spPr>
      </p:pic>
      <p:pic>
        <p:nvPicPr>
          <p:cNvPr id="6" name="Picture 5"/>
          <p:cNvPicPr>
            <a:picLocks noChangeAspect="1"/>
          </p:cNvPicPr>
          <p:nvPr/>
        </p:nvPicPr>
        <p:blipFill>
          <a:blip r:embed="rId4"/>
          <a:stretch>
            <a:fillRect/>
          </a:stretch>
        </p:blipFill>
        <p:spPr>
          <a:xfrm>
            <a:off x="694592" y="296393"/>
            <a:ext cx="4801967" cy="2709882"/>
          </a:xfrm>
          <a:prstGeom prst="rect">
            <a:avLst/>
          </a:prstGeom>
        </p:spPr>
      </p:pic>
      <p:pic>
        <p:nvPicPr>
          <p:cNvPr id="7" name="Picture 6"/>
          <p:cNvPicPr>
            <a:picLocks noChangeAspect="1"/>
          </p:cNvPicPr>
          <p:nvPr/>
        </p:nvPicPr>
        <p:blipFill>
          <a:blip r:embed="rId5"/>
          <a:stretch>
            <a:fillRect/>
          </a:stretch>
        </p:blipFill>
        <p:spPr>
          <a:xfrm>
            <a:off x="6887155" y="311386"/>
            <a:ext cx="4820769" cy="2718056"/>
          </a:xfrm>
          <a:prstGeom prst="rect">
            <a:avLst/>
          </a:prstGeom>
        </p:spPr>
      </p:pic>
      <p:pic>
        <p:nvPicPr>
          <p:cNvPr id="8" name="Picture 7"/>
          <p:cNvPicPr>
            <a:picLocks noChangeAspect="1"/>
          </p:cNvPicPr>
          <p:nvPr/>
        </p:nvPicPr>
        <p:blipFill>
          <a:blip r:embed="rId6"/>
          <a:stretch>
            <a:fillRect/>
          </a:stretch>
        </p:blipFill>
        <p:spPr>
          <a:xfrm>
            <a:off x="3022776" y="3173799"/>
            <a:ext cx="6274763" cy="3539845"/>
          </a:xfrm>
          <a:prstGeom prst="rect">
            <a:avLst/>
          </a:prstGeom>
        </p:spPr>
      </p:pic>
    </p:spTree>
    <p:extLst>
      <p:ext uri="{BB962C8B-B14F-4D97-AF65-F5344CB8AC3E}">
        <p14:creationId xmlns:p14="http://schemas.microsoft.com/office/powerpoint/2010/main" val="39358621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B506853-5B7D-556D-60A7-9B2A966C3921}"/>
              </a:ext>
            </a:extLst>
          </p:cNvPr>
          <p:cNvSpPr/>
          <p:nvPr/>
        </p:nvSpPr>
        <p:spPr>
          <a:xfrm>
            <a:off x="0" y="5873519"/>
            <a:ext cx="12192000" cy="984482"/>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23E69FC6-D07E-8774-63E8-736E5F5FCD55}"/>
              </a:ext>
            </a:extLst>
          </p:cNvPr>
          <p:cNvPicPr>
            <a:picLocks noChangeAspect="1"/>
          </p:cNvPicPr>
          <p:nvPr/>
        </p:nvPicPr>
        <p:blipFill>
          <a:blip r:embed="rId3"/>
          <a:stretch>
            <a:fillRect/>
          </a:stretch>
        </p:blipFill>
        <p:spPr>
          <a:xfrm>
            <a:off x="11266948" y="5945786"/>
            <a:ext cx="850338" cy="850338"/>
          </a:xfrm>
          <a:prstGeom prst="rect">
            <a:avLst/>
          </a:prstGeom>
        </p:spPr>
      </p:pic>
      <p:pic>
        <p:nvPicPr>
          <p:cNvPr id="6" name="Picture 5"/>
          <p:cNvPicPr>
            <a:picLocks noChangeAspect="1"/>
          </p:cNvPicPr>
          <p:nvPr/>
        </p:nvPicPr>
        <p:blipFill>
          <a:blip r:embed="rId4"/>
          <a:stretch>
            <a:fillRect/>
          </a:stretch>
        </p:blipFill>
        <p:spPr>
          <a:xfrm>
            <a:off x="1126881" y="0"/>
            <a:ext cx="9938238" cy="6832094"/>
          </a:xfrm>
          <a:prstGeom prst="rect">
            <a:avLst/>
          </a:prstGeom>
        </p:spPr>
      </p:pic>
    </p:spTree>
    <p:extLst>
      <p:ext uri="{BB962C8B-B14F-4D97-AF65-F5344CB8AC3E}">
        <p14:creationId xmlns:p14="http://schemas.microsoft.com/office/powerpoint/2010/main" val="26387846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B506853-5B7D-556D-60A7-9B2A966C3921}"/>
              </a:ext>
            </a:extLst>
          </p:cNvPr>
          <p:cNvSpPr/>
          <p:nvPr/>
        </p:nvSpPr>
        <p:spPr>
          <a:xfrm>
            <a:off x="0" y="5873519"/>
            <a:ext cx="12192000" cy="984482"/>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23E69FC6-D07E-8774-63E8-736E5F5FCD55}"/>
              </a:ext>
            </a:extLst>
          </p:cNvPr>
          <p:cNvPicPr>
            <a:picLocks noChangeAspect="1"/>
          </p:cNvPicPr>
          <p:nvPr/>
        </p:nvPicPr>
        <p:blipFill>
          <a:blip r:embed="rId3"/>
          <a:stretch>
            <a:fillRect/>
          </a:stretch>
        </p:blipFill>
        <p:spPr>
          <a:xfrm>
            <a:off x="11266948" y="5945786"/>
            <a:ext cx="850338" cy="850338"/>
          </a:xfrm>
          <a:prstGeom prst="rect">
            <a:avLst/>
          </a:prstGeom>
        </p:spPr>
      </p:pic>
      <p:pic>
        <p:nvPicPr>
          <p:cNvPr id="6" name="Picture 5"/>
          <p:cNvPicPr>
            <a:picLocks noChangeAspect="1"/>
          </p:cNvPicPr>
          <p:nvPr/>
        </p:nvPicPr>
        <p:blipFill>
          <a:blip r:embed="rId4"/>
          <a:stretch>
            <a:fillRect/>
          </a:stretch>
        </p:blipFill>
        <p:spPr>
          <a:xfrm>
            <a:off x="474783" y="1277844"/>
            <a:ext cx="3033347" cy="3033347"/>
          </a:xfrm>
          <a:prstGeom prst="rect">
            <a:avLst/>
          </a:prstGeom>
        </p:spPr>
      </p:pic>
      <p:pic>
        <p:nvPicPr>
          <p:cNvPr id="7" name="Picture 6"/>
          <p:cNvPicPr>
            <a:picLocks noChangeAspect="1"/>
          </p:cNvPicPr>
          <p:nvPr/>
        </p:nvPicPr>
        <p:blipFill>
          <a:blip r:embed="rId5"/>
          <a:stretch>
            <a:fillRect/>
          </a:stretch>
        </p:blipFill>
        <p:spPr>
          <a:xfrm>
            <a:off x="4032935" y="234796"/>
            <a:ext cx="8084351" cy="5119445"/>
          </a:xfrm>
          <a:prstGeom prst="rect">
            <a:avLst/>
          </a:prstGeom>
        </p:spPr>
      </p:pic>
      <p:sp>
        <p:nvSpPr>
          <p:cNvPr id="8" name="TextBox 7"/>
          <p:cNvSpPr txBox="1"/>
          <p:nvPr/>
        </p:nvSpPr>
        <p:spPr>
          <a:xfrm>
            <a:off x="905607" y="5945786"/>
            <a:ext cx="9859109" cy="646331"/>
          </a:xfrm>
          <a:prstGeom prst="rect">
            <a:avLst/>
          </a:prstGeom>
          <a:noFill/>
        </p:spPr>
        <p:txBody>
          <a:bodyPr wrap="square" rtlCol="0">
            <a:spAutoFit/>
          </a:bodyPr>
          <a:lstStyle/>
          <a:p>
            <a:pPr algn="ctr"/>
            <a:r>
              <a:rPr lang="en-US" dirty="0" smtClean="0"/>
              <a:t>For more come to Automating Reports with Python 2: Getting Modular</a:t>
            </a:r>
          </a:p>
          <a:p>
            <a:pPr algn="ctr"/>
            <a:r>
              <a:rPr lang="en-US" dirty="0" smtClean="0"/>
              <a:t>Tuesday April 14 10:30 am Kansas City</a:t>
            </a:r>
            <a:endParaRPr lang="en-US" dirty="0"/>
          </a:p>
        </p:txBody>
      </p:sp>
    </p:spTree>
    <p:extLst>
      <p:ext uri="{BB962C8B-B14F-4D97-AF65-F5344CB8AC3E}">
        <p14:creationId xmlns:p14="http://schemas.microsoft.com/office/powerpoint/2010/main" val="2780612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B506853-5B7D-556D-60A7-9B2A966C3921}"/>
              </a:ext>
            </a:extLst>
          </p:cNvPr>
          <p:cNvSpPr/>
          <p:nvPr/>
        </p:nvSpPr>
        <p:spPr>
          <a:xfrm>
            <a:off x="0" y="5873519"/>
            <a:ext cx="12192000" cy="984482"/>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23E69FC6-D07E-8774-63E8-736E5F5FCD55}"/>
              </a:ext>
            </a:extLst>
          </p:cNvPr>
          <p:cNvPicPr>
            <a:picLocks noChangeAspect="1"/>
          </p:cNvPicPr>
          <p:nvPr/>
        </p:nvPicPr>
        <p:blipFill>
          <a:blip r:embed="rId3"/>
          <a:stretch>
            <a:fillRect/>
          </a:stretch>
        </p:blipFill>
        <p:spPr>
          <a:xfrm>
            <a:off x="11266948" y="5945786"/>
            <a:ext cx="850338" cy="850338"/>
          </a:xfrm>
          <a:prstGeom prst="rect">
            <a:avLst/>
          </a:prstGeom>
        </p:spPr>
      </p:pic>
      <p:pic>
        <p:nvPicPr>
          <p:cNvPr id="6" name="Picture 5"/>
          <p:cNvPicPr>
            <a:picLocks noChangeAspect="1"/>
          </p:cNvPicPr>
          <p:nvPr/>
        </p:nvPicPr>
        <p:blipFill>
          <a:blip r:embed="rId4"/>
          <a:stretch>
            <a:fillRect/>
          </a:stretch>
        </p:blipFill>
        <p:spPr>
          <a:xfrm>
            <a:off x="1957909" y="131885"/>
            <a:ext cx="8596863" cy="6726116"/>
          </a:xfrm>
          <a:prstGeom prst="rect">
            <a:avLst/>
          </a:prstGeom>
        </p:spPr>
      </p:pic>
    </p:spTree>
    <p:extLst>
      <p:ext uri="{BB962C8B-B14F-4D97-AF65-F5344CB8AC3E}">
        <p14:creationId xmlns:p14="http://schemas.microsoft.com/office/powerpoint/2010/main" val="30419758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B506853-5B7D-556D-60A7-9B2A966C3921}"/>
              </a:ext>
            </a:extLst>
          </p:cNvPr>
          <p:cNvSpPr/>
          <p:nvPr/>
        </p:nvSpPr>
        <p:spPr>
          <a:xfrm>
            <a:off x="0" y="5873519"/>
            <a:ext cx="12192000" cy="984482"/>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23E69FC6-D07E-8774-63E8-736E5F5FCD55}"/>
              </a:ext>
            </a:extLst>
          </p:cNvPr>
          <p:cNvPicPr>
            <a:picLocks noChangeAspect="1"/>
          </p:cNvPicPr>
          <p:nvPr/>
        </p:nvPicPr>
        <p:blipFill>
          <a:blip r:embed="rId3"/>
          <a:stretch>
            <a:fillRect/>
          </a:stretch>
        </p:blipFill>
        <p:spPr>
          <a:xfrm>
            <a:off x="11266948" y="5945786"/>
            <a:ext cx="850338" cy="850338"/>
          </a:xfrm>
          <a:prstGeom prst="rect">
            <a:avLst/>
          </a:prstGeom>
        </p:spPr>
      </p:pic>
      <p:pic>
        <p:nvPicPr>
          <p:cNvPr id="6" name="Picture 5"/>
          <p:cNvPicPr>
            <a:picLocks noChangeAspect="1"/>
          </p:cNvPicPr>
          <p:nvPr/>
        </p:nvPicPr>
        <p:blipFill>
          <a:blip r:embed="rId4"/>
          <a:stretch>
            <a:fillRect/>
          </a:stretch>
        </p:blipFill>
        <p:spPr>
          <a:xfrm>
            <a:off x="149469" y="177235"/>
            <a:ext cx="9407769" cy="6464379"/>
          </a:xfrm>
          <a:prstGeom prst="rect">
            <a:avLst/>
          </a:prstGeom>
        </p:spPr>
      </p:pic>
      <p:pic>
        <p:nvPicPr>
          <p:cNvPr id="7" name="Picture 6"/>
          <p:cNvPicPr>
            <a:picLocks noChangeAspect="1"/>
          </p:cNvPicPr>
          <p:nvPr/>
        </p:nvPicPr>
        <p:blipFill>
          <a:blip r:embed="rId5"/>
          <a:stretch>
            <a:fillRect/>
          </a:stretch>
        </p:blipFill>
        <p:spPr>
          <a:xfrm>
            <a:off x="9759462" y="447763"/>
            <a:ext cx="2230022" cy="5363879"/>
          </a:xfrm>
          <a:prstGeom prst="rect">
            <a:avLst/>
          </a:prstGeom>
        </p:spPr>
      </p:pic>
    </p:spTree>
    <p:extLst>
      <p:ext uri="{BB962C8B-B14F-4D97-AF65-F5344CB8AC3E}">
        <p14:creationId xmlns:p14="http://schemas.microsoft.com/office/powerpoint/2010/main" val="8227998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B506853-5B7D-556D-60A7-9B2A966C3921}"/>
              </a:ext>
            </a:extLst>
          </p:cNvPr>
          <p:cNvSpPr/>
          <p:nvPr/>
        </p:nvSpPr>
        <p:spPr>
          <a:xfrm>
            <a:off x="0" y="5873519"/>
            <a:ext cx="12192000" cy="984482"/>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23E69FC6-D07E-8774-63E8-736E5F5FCD55}"/>
              </a:ext>
            </a:extLst>
          </p:cNvPr>
          <p:cNvPicPr>
            <a:picLocks noChangeAspect="1"/>
          </p:cNvPicPr>
          <p:nvPr/>
        </p:nvPicPr>
        <p:blipFill>
          <a:blip r:embed="rId3"/>
          <a:stretch>
            <a:fillRect/>
          </a:stretch>
        </p:blipFill>
        <p:spPr>
          <a:xfrm>
            <a:off x="11266948" y="5945786"/>
            <a:ext cx="850338" cy="850338"/>
          </a:xfrm>
          <a:prstGeom prst="rect">
            <a:avLst/>
          </a:prstGeom>
        </p:spPr>
      </p:pic>
      <p:pic>
        <p:nvPicPr>
          <p:cNvPr id="6" name="Picture 2" descr="Framingham_Cardholder_Pct.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80851" y="440843"/>
            <a:ext cx="8396168" cy="436854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p:cNvPicPr>
            <a:picLocks noChangeAspect="1"/>
          </p:cNvPicPr>
          <p:nvPr/>
        </p:nvPicPr>
        <p:blipFill>
          <a:blip r:embed="rId5"/>
          <a:stretch>
            <a:fillRect/>
          </a:stretch>
        </p:blipFill>
        <p:spPr>
          <a:xfrm>
            <a:off x="671145" y="1357737"/>
            <a:ext cx="3118339" cy="3118339"/>
          </a:xfrm>
          <a:prstGeom prst="rect">
            <a:avLst/>
          </a:prstGeom>
        </p:spPr>
      </p:pic>
      <p:sp>
        <p:nvSpPr>
          <p:cNvPr id="8" name="Rectangle 7"/>
          <p:cNvSpPr/>
          <p:nvPr/>
        </p:nvSpPr>
        <p:spPr>
          <a:xfrm>
            <a:off x="239394" y="6022169"/>
            <a:ext cx="10788161" cy="369332"/>
          </a:xfrm>
          <a:prstGeom prst="rect">
            <a:avLst/>
          </a:prstGeom>
        </p:spPr>
        <p:txBody>
          <a:bodyPr wrap="square">
            <a:spAutoFit/>
          </a:bodyPr>
          <a:lstStyle/>
          <a:p>
            <a:r>
              <a:rPr lang="en-US" dirty="0"/>
              <a:t>https://github.com/Minuteman-Library-Network/Scripts/tree/main/Patron%20Maps</a:t>
            </a:r>
          </a:p>
        </p:txBody>
      </p:sp>
    </p:spTree>
    <p:extLst>
      <p:ext uri="{BB962C8B-B14F-4D97-AF65-F5344CB8AC3E}">
        <p14:creationId xmlns:p14="http://schemas.microsoft.com/office/powerpoint/2010/main" val="8971103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B506853-5B7D-556D-60A7-9B2A966C3921}"/>
              </a:ext>
            </a:extLst>
          </p:cNvPr>
          <p:cNvSpPr/>
          <p:nvPr/>
        </p:nvSpPr>
        <p:spPr>
          <a:xfrm>
            <a:off x="0" y="5873519"/>
            <a:ext cx="12192000" cy="984482"/>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23E69FC6-D07E-8774-63E8-736E5F5FCD55}"/>
              </a:ext>
            </a:extLst>
          </p:cNvPr>
          <p:cNvPicPr>
            <a:picLocks noChangeAspect="1"/>
          </p:cNvPicPr>
          <p:nvPr/>
        </p:nvPicPr>
        <p:blipFill>
          <a:blip r:embed="rId3"/>
          <a:stretch>
            <a:fillRect/>
          </a:stretch>
        </p:blipFill>
        <p:spPr>
          <a:xfrm>
            <a:off x="11266948" y="5945786"/>
            <a:ext cx="850338" cy="850338"/>
          </a:xfrm>
          <a:prstGeom prst="rect">
            <a:avLst/>
          </a:prstGeom>
        </p:spPr>
      </p:pic>
      <p:pic>
        <p:nvPicPr>
          <p:cNvPr id="2" name="Picture 1"/>
          <p:cNvPicPr>
            <a:picLocks noChangeAspect="1"/>
          </p:cNvPicPr>
          <p:nvPr/>
        </p:nvPicPr>
        <p:blipFill>
          <a:blip r:embed="rId4"/>
          <a:stretch>
            <a:fillRect/>
          </a:stretch>
        </p:blipFill>
        <p:spPr>
          <a:xfrm>
            <a:off x="936812" y="0"/>
            <a:ext cx="10157381" cy="5873519"/>
          </a:xfrm>
          <a:prstGeom prst="rect">
            <a:avLst/>
          </a:prstGeom>
        </p:spPr>
      </p:pic>
    </p:spTree>
    <p:extLst>
      <p:ext uri="{BB962C8B-B14F-4D97-AF65-F5344CB8AC3E}">
        <p14:creationId xmlns:p14="http://schemas.microsoft.com/office/powerpoint/2010/main" val="24629673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A71898F-4D0F-919F-D69B-72879BA74619}"/>
              </a:ext>
            </a:extLst>
          </p:cNvPr>
          <p:cNvSpPr/>
          <p:nvPr/>
        </p:nvSpPr>
        <p:spPr>
          <a:xfrm>
            <a:off x="3357250" y="0"/>
            <a:ext cx="8834750" cy="6858000"/>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181F9501-4654-8CF0-CEF7-2697A05CB704}"/>
              </a:ext>
            </a:extLst>
          </p:cNvPr>
          <p:cNvPicPr>
            <a:picLocks noChangeAspect="1"/>
          </p:cNvPicPr>
          <p:nvPr/>
        </p:nvPicPr>
        <p:blipFill>
          <a:blip r:embed="rId3"/>
          <a:stretch>
            <a:fillRect/>
          </a:stretch>
        </p:blipFill>
        <p:spPr>
          <a:xfrm>
            <a:off x="237500" y="2004002"/>
            <a:ext cx="2849993" cy="2849993"/>
          </a:xfrm>
          <a:prstGeom prst="rect">
            <a:avLst/>
          </a:prstGeom>
        </p:spPr>
      </p:pic>
      <p:sp>
        <p:nvSpPr>
          <p:cNvPr id="2" name="Title 1">
            <a:extLst>
              <a:ext uri="{FF2B5EF4-FFF2-40B4-BE49-F238E27FC236}">
                <a16:creationId xmlns:a16="http://schemas.microsoft.com/office/drawing/2014/main" id="{01BD3775-4F06-3D6F-F872-CC0186454DBE}"/>
              </a:ext>
            </a:extLst>
          </p:cNvPr>
          <p:cNvSpPr>
            <a:spLocks noGrp="1"/>
          </p:cNvSpPr>
          <p:nvPr>
            <p:ph type="ctrTitle"/>
          </p:nvPr>
        </p:nvSpPr>
        <p:spPr>
          <a:xfrm>
            <a:off x="4377539" y="1356766"/>
            <a:ext cx="7190509" cy="1437719"/>
          </a:xfrm>
        </p:spPr>
        <p:txBody>
          <a:bodyPr>
            <a:normAutofit/>
          </a:bodyPr>
          <a:lstStyle/>
          <a:p>
            <a:r>
              <a:rPr lang="en-US" sz="7200" dirty="0" smtClean="0">
                <a:solidFill>
                  <a:srgbClr val="00223D"/>
                </a:solidFill>
              </a:rPr>
              <a:t>Thank You!</a:t>
            </a:r>
            <a:endParaRPr lang="en-US" sz="7200" dirty="0">
              <a:solidFill>
                <a:srgbClr val="00223D"/>
              </a:solidFill>
            </a:endParaRPr>
          </a:p>
        </p:txBody>
      </p:sp>
      <p:sp>
        <p:nvSpPr>
          <p:cNvPr id="6" name="Subtitle 5">
            <a:extLst>
              <a:ext uri="{FF2B5EF4-FFF2-40B4-BE49-F238E27FC236}">
                <a16:creationId xmlns:a16="http://schemas.microsoft.com/office/drawing/2014/main" id="{D6138A63-B70F-BF2F-B517-91379908FA8D}"/>
              </a:ext>
            </a:extLst>
          </p:cNvPr>
          <p:cNvSpPr>
            <a:spLocks noGrp="1"/>
          </p:cNvSpPr>
          <p:nvPr>
            <p:ph type="subTitle" idx="1"/>
          </p:nvPr>
        </p:nvSpPr>
        <p:spPr>
          <a:xfrm>
            <a:off x="5111785" y="3192928"/>
            <a:ext cx="5722018" cy="1036122"/>
          </a:xfrm>
        </p:spPr>
        <p:txBody>
          <a:bodyPr>
            <a:normAutofit fontScale="85000" lnSpcReduction="20000"/>
          </a:bodyPr>
          <a:lstStyle/>
          <a:p>
            <a:r>
              <a:rPr lang="en-US" dirty="0" smtClean="0">
                <a:solidFill>
                  <a:srgbClr val="00223D"/>
                </a:solidFill>
              </a:rPr>
              <a:t>Jeremy Goldstein</a:t>
            </a:r>
          </a:p>
          <a:p>
            <a:r>
              <a:rPr lang="en-US" dirty="0" smtClean="0">
                <a:solidFill>
                  <a:srgbClr val="00223D"/>
                </a:solidFill>
              </a:rPr>
              <a:t>Minuteman Library Network</a:t>
            </a:r>
          </a:p>
          <a:p>
            <a:r>
              <a:rPr lang="en-US" dirty="0" smtClean="0">
                <a:solidFill>
                  <a:srgbClr val="00223D"/>
                </a:solidFill>
              </a:rPr>
              <a:t>jgoldstein@minlib.net</a:t>
            </a:r>
            <a:endParaRPr lang="en-US" dirty="0">
              <a:solidFill>
                <a:srgbClr val="00223D"/>
              </a:solidFill>
            </a:endParaRPr>
          </a:p>
        </p:txBody>
      </p:sp>
    </p:spTree>
    <p:extLst>
      <p:ext uri="{BB962C8B-B14F-4D97-AF65-F5344CB8AC3E}">
        <p14:creationId xmlns:p14="http://schemas.microsoft.com/office/powerpoint/2010/main" val="10300694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UG 2026 PPT template" id="{BA4BCBE3-25E0-4778-AF3C-E513E8CEEA7C}" vid="{E1BE4A6A-C8DC-4AD0-BACA-A2C24286B45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Dashboard Confessional_with_template</Template>
  <TotalTime>282</TotalTime>
  <Words>1981</Words>
  <Application>Microsoft Office PowerPoint</Application>
  <PresentationFormat>Widescreen</PresentationFormat>
  <Paragraphs>68</Paragraphs>
  <Slides>18</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Aptos</vt:lpstr>
      <vt:lpstr>Aptos Display</vt:lpstr>
      <vt:lpstr>Arial</vt:lpstr>
      <vt:lpstr>Office Theme</vt:lpstr>
      <vt:lpstr>Dashboard Confessional: Revealing the Secrets of Data Visualization</vt:lpstr>
      <vt:lpstr>PowerPoint Presentation</vt:lpstr>
      <vt:lpstr>PowerPoint Presentation</vt:lpstr>
      <vt:lpstr>Tables</vt:lpstr>
      <vt:lpstr>Metrics and Dimensions</vt:lpstr>
      <vt:lpstr>Metrics and Dimensions</vt:lpstr>
      <vt:lpstr>My Favorite Excel Trick</vt:lpstr>
      <vt:lpstr>Unpivot</vt:lpstr>
      <vt:lpstr>Unpivoting with SQL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Minuteman Library Network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Jeremy Goldstein</dc:creator>
  <cp:lastModifiedBy>Jeremy Goldstein</cp:lastModifiedBy>
  <cp:revision>15</cp:revision>
  <dcterms:created xsi:type="dcterms:W3CDTF">2026-03-02T20:49:31Z</dcterms:created>
  <dcterms:modified xsi:type="dcterms:W3CDTF">2026-04-02T18:55:47Z</dcterms:modified>
</cp:coreProperties>
</file>