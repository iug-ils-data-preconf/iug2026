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79" r:id="rId2"/>
    <p:sldId id="280" r:id="rId3"/>
    <p:sldId id="281" r:id="rId4"/>
    <p:sldId id="282" r:id="rId5"/>
    <p:sldId id="283" r:id="rId6"/>
    <p:sldId id="284" r:id="rId7"/>
    <p:sldId id="285" r:id="rId8"/>
    <p:sldId id="286" r:id="rId9"/>
    <p:sldId id="287" r:id="rId10"/>
    <p:sldId id="288" r:id="rId11"/>
    <p:sldId id="289" r:id="rId12"/>
    <p:sldId id="290" r:id="rId13"/>
    <p:sldId id="291" r:id="rId14"/>
    <p:sldId id="292" r:id="rId15"/>
    <p:sldId id="293" r:id="rId16"/>
    <p:sldId id="294" r:id="rId17"/>
    <p:sldId id="295" r:id="rId18"/>
    <p:sldId id="296" r:id="rId19"/>
    <p:sldId id="297" r:id="rId20"/>
    <p:sldId id="277"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63842"/>
    <a:srgbClr val="00223D"/>
    <a:srgbClr val="620E28"/>
    <a:srgbClr val="F3E4C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23" autoAdjust="0"/>
    <p:restoredTop sz="72939" autoAdjust="0"/>
  </p:normalViewPr>
  <p:slideViewPr>
    <p:cSldViewPr snapToGrid="0">
      <p:cViewPr varScale="1">
        <p:scale>
          <a:sx n="73" d="100"/>
          <a:sy n="73" d="100"/>
        </p:scale>
        <p:origin x="437"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45E792A-D199-4740-A380-51F76153B224}" type="datetimeFigureOut">
              <a:rPr lang="en-US" smtClean="0"/>
              <a:t>4/2/2026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78DACD6-92EE-45CE-A7B0-1F123E9D0438}" type="slidenum">
              <a:rPr lang="en-US" smtClean="0"/>
              <a:t>‹#›</a:t>
            </a:fld>
            <a:endParaRPr lang="en-US"/>
          </a:p>
        </p:txBody>
      </p:sp>
    </p:spTree>
    <p:extLst>
      <p:ext uri="{BB962C8B-B14F-4D97-AF65-F5344CB8AC3E}">
        <p14:creationId xmlns:p14="http://schemas.microsoft.com/office/powerpoint/2010/main" val="25360312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This</a:t>
            </a:r>
            <a:r>
              <a:rPr lang="en-US" baseline="0" dirty="0" smtClean="0"/>
              <a:t> afternoon we’ve been sharing information on all the cool things that can be done with the data in our systems.  Now I’m to be the bummer and talk a bit about why you may want to think twice about some of those efforts and provide some examples of ways to accomplish your organizational data needs while foregrounding the privacy of your patrons data.</a:t>
            </a:r>
            <a:endParaRPr lang="en-US" dirty="0"/>
          </a:p>
        </p:txBody>
      </p:sp>
      <p:sp>
        <p:nvSpPr>
          <p:cNvPr id="4" name="Slide Number Placeholder 3"/>
          <p:cNvSpPr>
            <a:spLocks noGrp="1"/>
          </p:cNvSpPr>
          <p:nvPr>
            <p:ph type="sldNum" sz="quarter" idx="10"/>
          </p:nvPr>
        </p:nvSpPr>
        <p:spPr/>
        <p:txBody>
          <a:bodyPr/>
          <a:lstStyle/>
          <a:p>
            <a:fld id="{678DACD6-92EE-45CE-A7B0-1F123E9D0438}" type="slidenum">
              <a:rPr lang="en-US" smtClean="0"/>
              <a:t>1</a:t>
            </a:fld>
            <a:endParaRPr lang="en-US"/>
          </a:p>
        </p:txBody>
      </p:sp>
    </p:spTree>
    <p:extLst>
      <p:ext uri="{BB962C8B-B14F-4D97-AF65-F5344CB8AC3E}">
        <p14:creationId xmlns:p14="http://schemas.microsoft.com/office/powerpoint/2010/main" val="21936756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Full</a:t>
            </a:r>
            <a:r>
              <a:rPr lang="en-US" baseline="0" dirty="0" smtClean="0"/>
              <a:t> disclosure up front, my perspective on these issues is coming from living in Massachusetts where I don’t know if you’ve heard but we’re pretty leftist.  I’m personally represented in Congress by Elizabeth Warren and Katherine Clark and one of the cities within our consortia is the People’s Republic of Cambridge.  That brings with it a certain baseline attitude to our practices that may not match with a lot of libraries elsewhere.  </a:t>
            </a:r>
          </a:p>
          <a:p>
            <a:endParaRPr lang="en-US" baseline="0" dirty="0" smtClean="0"/>
          </a:p>
          <a:p>
            <a:r>
              <a:rPr lang="en-US" baseline="0" dirty="0" smtClean="0"/>
              <a:t>To start out, here we have the Mass. Law governing library data, which currently forms the basis for most library policies.</a:t>
            </a:r>
            <a:endParaRPr lang="en-US" dirty="0"/>
          </a:p>
        </p:txBody>
      </p:sp>
      <p:sp>
        <p:nvSpPr>
          <p:cNvPr id="4" name="Slide Number Placeholder 3"/>
          <p:cNvSpPr>
            <a:spLocks noGrp="1"/>
          </p:cNvSpPr>
          <p:nvPr>
            <p:ph type="sldNum" sz="quarter" idx="5"/>
          </p:nvPr>
        </p:nvSpPr>
        <p:spPr/>
        <p:txBody>
          <a:bodyPr/>
          <a:lstStyle/>
          <a:p>
            <a:fld id="{678DACD6-92EE-45CE-A7B0-1F123E9D0438}" type="slidenum">
              <a:rPr lang="en-US" smtClean="0"/>
              <a:t>2</a:t>
            </a:fld>
            <a:endParaRPr lang="en-US"/>
          </a:p>
        </p:txBody>
      </p:sp>
    </p:spTree>
    <p:extLst>
      <p:ext uri="{BB962C8B-B14F-4D97-AF65-F5344CB8AC3E}">
        <p14:creationId xmlns:p14="http://schemas.microsoft.com/office/powerpoint/2010/main" val="25405106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And here we have a portion of the privacy</a:t>
            </a:r>
            <a:r>
              <a:rPr lang="en-US" baseline="0" dirty="0" smtClean="0"/>
              <a:t> policy in place at the Somerville public library in our network.  The key example here I’ve highlighted is the interpretation that the patron records of minors, dependents, absolutely anyone cannot be shared with their guardians in most cases…that interpretation of the law is held pretty broadly and prevents us from using fairly standard features of the ILS like linked patrons…no matter how much our patrons may actually want that.  There are some allowances, generally if a parent is holding their child’s card it’s assumed the child has granted permission and staff don’t push back too much…but that level of record protection is the goal.</a:t>
            </a:r>
            <a:endParaRPr lang="en-US" dirty="0" smtClean="0"/>
          </a:p>
          <a:p>
            <a:endParaRPr lang="en-US" dirty="0"/>
          </a:p>
        </p:txBody>
      </p:sp>
      <p:sp>
        <p:nvSpPr>
          <p:cNvPr id="4" name="Slide Number Placeholder 3"/>
          <p:cNvSpPr>
            <a:spLocks noGrp="1"/>
          </p:cNvSpPr>
          <p:nvPr>
            <p:ph type="sldNum" sz="quarter" idx="5"/>
          </p:nvPr>
        </p:nvSpPr>
        <p:spPr/>
        <p:txBody>
          <a:bodyPr/>
          <a:lstStyle/>
          <a:p>
            <a:fld id="{678DACD6-92EE-45CE-A7B0-1F123E9D0438}" type="slidenum">
              <a:rPr lang="en-US" smtClean="0"/>
              <a:t>3</a:t>
            </a:fld>
            <a:endParaRPr lang="en-US"/>
          </a:p>
        </p:txBody>
      </p:sp>
    </p:spTree>
    <p:extLst>
      <p:ext uri="{BB962C8B-B14F-4D97-AF65-F5344CB8AC3E}">
        <p14:creationId xmlns:p14="http://schemas.microsoft.com/office/powerpoint/2010/main" val="15665424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That’s where we are now but currently we’re looking</a:t>
            </a:r>
            <a:r>
              <a:rPr lang="en-US" baseline="0" dirty="0" smtClean="0"/>
              <a:t> at a new privacy law that is likely to be passed, though we don’t know when it’ll happen or what the final form may ultimately be.  These parallel bills have p</a:t>
            </a:r>
            <a:r>
              <a:rPr lang="en-US" dirty="0" smtClean="0"/>
              <a:t>assed</a:t>
            </a:r>
            <a:r>
              <a:rPr lang="en-US" baseline="0" dirty="0" smtClean="0"/>
              <a:t> </a:t>
            </a:r>
            <a:r>
              <a:rPr lang="en-US" baseline="0" dirty="0" smtClean="0"/>
              <a:t>both chambers and currently waiting to be reconciled in the House Ways and Means </a:t>
            </a:r>
            <a:r>
              <a:rPr lang="en-US" baseline="0" dirty="0" smtClean="0"/>
              <a:t>Committee to start the reconciliation process.  </a:t>
            </a:r>
            <a:r>
              <a:rPr lang="en-US" baseline="0" dirty="0" smtClean="0"/>
              <a:t>The House version is actually a bit more restrictive while I’ve focused more on the Senate draft.  </a:t>
            </a:r>
            <a:endParaRPr lang="en-US" baseline="0" dirty="0" smtClean="0"/>
          </a:p>
          <a:p>
            <a:pPr marL="0" marR="0" lvl="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These bills take a true data minimization forward approach to data privacy and greatly expand on the legal definition of sensitive data that may be legally covered, fully addressing items such as information that may reveal the intellectual pursuits of an individual…so you know reading history data.  The law is written to explicitly exclude government entities, which likely does cover our public libraries…but not our academic members, the vendors we work with, or probably the consortia ourselves.</a:t>
            </a:r>
            <a:endParaRPr lang="en-US" dirty="0"/>
          </a:p>
        </p:txBody>
      </p:sp>
      <p:sp>
        <p:nvSpPr>
          <p:cNvPr id="4" name="Slide Number Placeholder 3"/>
          <p:cNvSpPr>
            <a:spLocks noGrp="1"/>
          </p:cNvSpPr>
          <p:nvPr>
            <p:ph type="sldNum" sz="quarter" idx="5"/>
          </p:nvPr>
        </p:nvSpPr>
        <p:spPr/>
        <p:txBody>
          <a:bodyPr/>
          <a:lstStyle/>
          <a:p>
            <a:fld id="{678DACD6-92EE-45CE-A7B0-1F123E9D0438}" type="slidenum">
              <a:rPr lang="en-US" smtClean="0"/>
              <a:t>4</a:t>
            </a:fld>
            <a:endParaRPr lang="en-US"/>
          </a:p>
        </p:txBody>
      </p:sp>
    </p:spTree>
    <p:extLst>
      <p:ext uri="{BB962C8B-B14F-4D97-AF65-F5344CB8AC3E}">
        <p14:creationId xmlns:p14="http://schemas.microsoft.com/office/powerpoint/2010/main" val="13021809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In</a:t>
            </a:r>
            <a:r>
              <a:rPr lang="en-US" baseline="0" dirty="0" smtClean="0"/>
              <a:t> Minuteman we’ve always tended to veer towards restricting data, especially from the institution of the Patriot Act onwards, and then more recent events have only led to emphasizing these sorts of practices further.  We only keep about a months worth of </a:t>
            </a:r>
            <a:r>
              <a:rPr lang="en-US" baseline="0" dirty="0" err="1" smtClean="0"/>
              <a:t>circ</a:t>
            </a:r>
            <a:r>
              <a:rPr lang="en-US" baseline="0" dirty="0" smtClean="0"/>
              <a:t> transaction data around, clear out old fines data regularly, when we purge inactive patrons after 5 years we also clear out any outstanding bills at that point, we removed gender information from patron records entirely, birth date is purely optional and is essentially useless date given how unreliable that data is across records now.  Recently a few directors considered removing addresses entirely…but thankfully that proposal was rejected…you get the idea.</a:t>
            </a:r>
            <a:endParaRPr lang="en-US" dirty="0" smtClean="0"/>
          </a:p>
          <a:p>
            <a:endParaRPr lang="en-US" dirty="0"/>
          </a:p>
        </p:txBody>
      </p:sp>
      <p:sp>
        <p:nvSpPr>
          <p:cNvPr id="4" name="Slide Number Placeholder 3"/>
          <p:cNvSpPr>
            <a:spLocks noGrp="1"/>
          </p:cNvSpPr>
          <p:nvPr>
            <p:ph type="sldNum" sz="quarter" idx="5"/>
          </p:nvPr>
        </p:nvSpPr>
        <p:spPr/>
        <p:txBody>
          <a:bodyPr/>
          <a:lstStyle/>
          <a:p>
            <a:fld id="{678DACD6-92EE-45CE-A7B0-1F123E9D0438}" type="slidenum">
              <a:rPr lang="en-US" smtClean="0"/>
              <a:t>5</a:t>
            </a:fld>
            <a:endParaRPr lang="en-US"/>
          </a:p>
        </p:txBody>
      </p:sp>
    </p:spTree>
    <p:extLst>
      <p:ext uri="{BB962C8B-B14F-4D97-AF65-F5344CB8AC3E}">
        <p14:creationId xmlns:p14="http://schemas.microsoft.com/office/powerpoint/2010/main" val="41191063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And yet we still have data….lots of data…and</a:t>
            </a:r>
            <a:r>
              <a:rPr lang="en-US" baseline="0" dirty="0" smtClean="0"/>
              <a:t> lots of reporting options to go with that information…so let’s get into how we try to strike the balance between our two conflicting needs.</a:t>
            </a:r>
            <a:endParaRPr lang="en-US" dirty="0"/>
          </a:p>
        </p:txBody>
      </p:sp>
      <p:sp>
        <p:nvSpPr>
          <p:cNvPr id="4" name="Slide Number Placeholder 3"/>
          <p:cNvSpPr>
            <a:spLocks noGrp="1"/>
          </p:cNvSpPr>
          <p:nvPr>
            <p:ph type="sldNum" sz="quarter" idx="5"/>
          </p:nvPr>
        </p:nvSpPr>
        <p:spPr/>
        <p:txBody>
          <a:bodyPr/>
          <a:lstStyle/>
          <a:p>
            <a:fld id="{678DACD6-92EE-45CE-A7B0-1F123E9D0438}" type="slidenum">
              <a:rPr lang="en-US" smtClean="0"/>
              <a:t>6</a:t>
            </a:fld>
            <a:endParaRPr lang="en-US"/>
          </a:p>
        </p:txBody>
      </p:sp>
    </p:spTree>
    <p:extLst>
      <p:ext uri="{BB962C8B-B14F-4D97-AF65-F5344CB8AC3E}">
        <p14:creationId xmlns:p14="http://schemas.microsoft.com/office/powerpoint/2010/main" val="5883254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We</a:t>
            </a:r>
            <a:r>
              <a:rPr lang="en-US" baseline="0" dirty="0" smtClean="0"/>
              <a:t> mainly try to follow some security basics.  Minimize the data we store to what’s essential and limit who has access to that data where we can.  When we store data outside the system we do so in aggregate form, just counts of transactions by various combinations of fields.  And really try to eliminate as much patron information as we possibly can, though it’s not always possible especially when it comes to working with some third parties.</a:t>
            </a:r>
          </a:p>
          <a:p>
            <a:endParaRPr lang="en-US" baseline="0" dirty="0" smtClean="0"/>
          </a:p>
          <a:p>
            <a:r>
              <a:rPr lang="en-US" baseline="0" dirty="0" smtClean="0"/>
              <a:t>On the access front the reporting tools we create provide end users data views through canned </a:t>
            </a:r>
            <a:r>
              <a:rPr lang="en-US" baseline="0" dirty="0" err="1" smtClean="0"/>
              <a:t>sql</a:t>
            </a:r>
            <a:r>
              <a:rPr lang="en-US" baseline="0" dirty="0" smtClean="0"/>
              <a:t> reports and dashboards that generally keep them at a remove from the raw data.  No one outside the admins at our consortia office have </a:t>
            </a:r>
            <a:r>
              <a:rPr lang="en-US" baseline="0" dirty="0" err="1" smtClean="0"/>
              <a:t>sql</a:t>
            </a:r>
            <a:r>
              <a:rPr lang="en-US" baseline="0" dirty="0" smtClean="0"/>
              <a:t> access and we are very cautious with API keys we may give out.  For third parties such as </a:t>
            </a:r>
            <a:r>
              <a:rPr lang="en-US" baseline="0" dirty="0" err="1" smtClean="0"/>
              <a:t>libraryIQ</a:t>
            </a:r>
            <a:r>
              <a:rPr lang="en-US" baseline="0" dirty="0" smtClean="0"/>
              <a:t> that we work heavily with, and I quite literally work for as a contractor in the interest of full disclosure, we send them daily extracts of the data they need as opposed to providing them their own access to our instance of Sierra.</a:t>
            </a:r>
            <a:endParaRPr lang="en-US" dirty="0"/>
          </a:p>
        </p:txBody>
      </p:sp>
      <p:sp>
        <p:nvSpPr>
          <p:cNvPr id="4" name="Slide Number Placeholder 3"/>
          <p:cNvSpPr>
            <a:spLocks noGrp="1"/>
          </p:cNvSpPr>
          <p:nvPr>
            <p:ph type="sldNum" sz="quarter" idx="5"/>
          </p:nvPr>
        </p:nvSpPr>
        <p:spPr/>
        <p:txBody>
          <a:bodyPr/>
          <a:lstStyle/>
          <a:p>
            <a:fld id="{678DACD6-92EE-45CE-A7B0-1F123E9D0438}" type="slidenum">
              <a:rPr lang="en-US" smtClean="0"/>
              <a:t>7</a:t>
            </a:fld>
            <a:endParaRPr lang="en-US"/>
          </a:p>
        </p:txBody>
      </p:sp>
    </p:spTree>
    <p:extLst>
      <p:ext uri="{BB962C8B-B14F-4D97-AF65-F5344CB8AC3E}">
        <p14:creationId xmlns:p14="http://schemas.microsoft.com/office/powerpoint/2010/main" val="25602026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Because of our limited data, there are data</a:t>
            </a:r>
            <a:r>
              <a:rPr lang="en-US" baseline="0" dirty="0" smtClean="0"/>
              <a:t> requests that come through regularly that we can’t actually answer or can’t answer exactly.  For the remainder of my time here I’m going to review of few of these to show some how we may address some of these scenarios</a:t>
            </a:r>
            <a:endParaRPr lang="en-US" dirty="0"/>
          </a:p>
        </p:txBody>
      </p:sp>
      <p:sp>
        <p:nvSpPr>
          <p:cNvPr id="4" name="Slide Number Placeholder 3"/>
          <p:cNvSpPr>
            <a:spLocks noGrp="1"/>
          </p:cNvSpPr>
          <p:nvPr>
            <p:ph type="sldNum" sz="quarter" idx="5"/>
          </p:nvPr>
        </p:nvSpPr>
        <p:spPr/>
        <p:txBody>
          <a:bodyPr/>
          <a:lstStyle/>
          <a:p>
            <a:fld id="{678DACD6-92EE-45CE-A7B0-1F123E9D0438}" type="slidenum">
              <a:rPr lang="en-US" smtClean="0"/>
              <a:t>8</a:t>
            </a:fld>
            <a:endParaRPr lang="en-US"/>
          </a:p>
        </p:txBody>
      </p:sp>
    </p:spTree>
    <p:extLst>
      <p:ext uri="{BB962C8B-B14F-4D97-AF65-F5344CB8AC3E}">
        <p14:creationId xmlns:p14="http://schemas.microsoft.com/office/powerpoint/2010/main" val="6211740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To</a:t>
            </a:r>
            <a:r>
              <a:rPr lang="en-US" baseline="0" dirty="0" smtClean="0"/>
              <a:t> start off with, how many times did a patron come to the library in the last year?  Because our transaction history only goes back 5 weeks and because patron records don’t have a field for counting this sort of information there simply isn’t data to work with…but even if there were that still wouldn’t tell the whole story about a given patron’s usage of the library.  Things like program attendance never get recorded so there are many cases when a patron may visit the library that the system would never know about. </a:t>
            </a:r>
            <a:endParaRPr lang="en-US" dirty="0" smtClean="0"/>
          </a:p>
          <a:p>
            <a:endParaRPr lang="en-US" dirty="0"/>
          </a:p>
        </p:txBody>
      </p:sp>
      <p:sp>
        <p:nvSpPr>
          <p:cNvPr id="4" name="Slide Number Placeholder 3"/>
          <p:cNvSpPr>
            <a:spLocks noGrp="1"/>
          </p:cNvSpPr>
          <p:nvPr>
            <p:ph type="sldNum" sz="quarter" idx="5"/>
          </p:nvPr>
        </p:nvSpPr>
        <p:spPr/>
        <p:txBody>
          <a:bodyPr/>
          <a:lstStyle/>
          <a:p>
            <a:fld id="{678DACD6-92EE-45CE-A7B0-1F123E9D0438}" type="slidenum">
              <a:rPr lang="en-US" smtClean="0"/>
              <a:t>9</a:t>
            </a:fld>
            <a:endParaRPr lang="en-US"/>
          </a:p>
        </p:txBody>
      </p:sp>
    </p:spTree>
    <p:extLst>
      <p:ext uri="{BB962C8B-B14F-4D97-AF65-F5344CB8AC3E}">
        <p14:creationId xmlns:p14="http://schemas.microsoft.com/office/powerpoint/2010/main" val="37114119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So</a:t>
            </a:r>
            <a:r>
              <a:rPr lang="en-US" baseline="0" dirty="0" smtClean="0"/>
              <a:t> we can’t gather data on individuals…but that micro level of information isn’t actually that useful anyway…unless you’re doing something like targeted marketing I suppose and we don’t have time to get into that.  So instead let’s look at what can be accomplished with the macro view of patron activity.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Here’s </a:t>
            </a:r>
            <a:r>
              <a:rPr lang="en-US" dirty="0" smtClean="0"/>
              <a:t>the patron map</a:t>
            </a:r>
            <a:r>
              <a:rPr lang="en-US" baseline="0" dirty="0" smtClean="0"/>
              <a:t> </a:t>
            </a:r>
            <a:r>
              <a:rPr lang="en-US" baseline="0" dirty="0" smtClean="0"/>
              <a:t>some of you may have seen earlier if you came to my speed </a:t>
            </a:r>
            <a:r>
              <a:rPr lang="en-US" baseline="0" dirty="0" err="1" smtClean="0"/>
              <a:t>geeking</a:t>
            </a:r>
            <a:r>
              <a:rPr lang="en-US" baseline="0" dirty="0" smtClean="0"/>
              <a:t> session.  </a:t>
            </a:r>
            <a:r>
              <a:rPr lang="en-US" baseline="0" dirty="0" smtClean="0"/>
              <a:t>This provides tons of valuable data on which neighborhoods are using the library and which aren’t.  Staff have a useful and intuitive interface for exploring the data, that’s locked down easily to people with a valid email in our domain…just using Google accounts essentially the same as sharing a doc, while not having direct access to the underlying database…not that there’s anything particularly harmful for them to access in this table.  We’re not exposing names, addresses, record numbers, anything that could be remotely considered sensitive information.  The aggregate data here is far more meaningful than the granular data about individuals</a:t>
            </a:r>
            <a:endParaRPr lang="en-US" dirty="0" smtClean="0"/>
          </a:p>
          <a:p>
            <a:endParaRPr lang="en-US" dirty="0"/>
          </a:p>
        </p:txBody>
      </p:sp>
      <p:sp>
        <p:nvSpPr>
          <p:cNvPr id="4" name="Slide Number Placeholder 3"/>
          <p:cNvSpPr>
            <a:spLocks noGrp="1"/>
          </p:cNvSpPr>
          <p:nvPr>
            <p:ph type="sldNum" sz="quarter" idx="5"/>
          </p:nvPr>
        </p:nvSpPr>
        <p:spPr/>
        <p:txBody>
          <a:bodyPr/>
          <a:lstStyle/>
          <a:p>
            <a:fld id="{678DACD6-92EE-45CE-A7B0-1F123E9D0438}" type="slidenum">
              <a:rPr lang="en-US" smtClean="0"/>
              <a:t>10</a:t>
            </a:fld>
            <a:endParaRPr lang="en-US"/>
          </a:p>
        </p:txBody>
      </p:sp>
    </p:spTree>
    <p:extLst>
      <p:ext uri="{BB962C8B-B14F-4D97-AF65-F5344CB8AC3E}">
        <p14:creationId xmlns:p14="http://schemas.microsoft.com/office/powerpoint/2010/main" val="23887855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For something that could be more sensitive in nature if you’re not aggregating, here’s a dashboard providing the daily</a:t>
            </a:r>
            <a:r>
              <a:rPr lang="en-US" baseline="0" dirty="0" smtClean="0"/>
              <a:t> count of unique patrons who used every one of our locations going back to the early pandemic.  To gather up unique users counts, you need to actually look at record identifiers, barcodes or record numbers, PII where we really don’t want to retain a record of an individual’s usage patterns.  So instead we’re just taking the daily aggregate total for each location and storing that.  There are tradeoffs with this of course, I can’t use this data for different timeframes to say how many unique individuals used the library in a week, how many used the library multiple times in a month, any of that.  Nice things to do but also those answer questions that we generally aren’t being asked.  So we’ve got minimum viable data here that works for the primary use case staff have, how busy does the desk get.</a:t>
            </a:r>
            <a:endParaRPr lang="en-US" dirty="0" smtClean="0"/>
          </a:p>
          <a:p>
            <a:endParaRPr lang="en-US" dirty="0"/>
          </a:p>
        </p:txBody>
      </p:sp>
      <p:sp>
        <p:nvSpPr>
          <p:cNvPr id="4" name="Slide Number Placeholder 3"/>
          <p:cNvSpPr>
            <a:spLocks noGrp="1"/>
          </p:cNvSpPr>
          <p:nvPr>
            <p:ph type="sldNum" sz="quarter" idx="5"/>
          </p:nvPr>
        </p:nvSpPr>
        <p:spPr/>
        <p:txBody>
          <a:bodyPr/>
          <a:lstStyle/>
          <a:p>
            <a:fld id="{678DACD6-92EE-45CE-A7B0-1F123E9D0438}" type="slidenum">
              <a:rPr lang="en-US" smtClean="0"/>
              <a:t>11</a:t>
            </a:fld>
            <a:endParaRPr lang="en-US"/>
          </a:p>
        </p:txBody>
      </p:sp>
    </p:spTree>
    <p:extLst>
      <p:ext uri="{BB962C8B-B14F-4D97-AF65-F5344CB8AC3E}">
        <p14:creationId xmlns:p14="http://schemas.microsoft.com/office/powerpoint/2010/main" val="220414226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This question</a:t>
            </a:r>
            <a:r>
              <a:rPr lang="en-US" baseline="0" dirty="0" smtClean="0"/>
              <a:t> came to me recently from the Cambridge library where they have a number of branches and were interested in finding a way to calculate how they should distribute their hotspots among them to best pair their inventory with the interested population given that the hotspots are not sent out through delivery.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Aggregate </a:t>
            </a:r>
            <a:r>
              <a:rPr lang="en-US" dirty="0" smtClean="0"/>
              <a:t>data to the rescue.</a:t>
            </a:r>
            <a:r>
              <a:rPr lang="en-US" baseline="0" dirty="0" smtClean="0"/>
              <a:t>  We’ve already seen a map of cardholders, that’s possible because we’ve been geocoding our patrons records, </a:t>
            </a:r>
            <a:r>
              <a:rPr lang="en-US" baseline="0" dirty="0" smtClean="0"/>
              <a:t>which allow </a:t>
            </a:r>
            <a:r>
              <a:rPr lang="en-US" baseline="0" dirty="0" smtClean="0"/>
              <a:t>us to aggregate patrons at a number of geographic levels from the not terribly informative (county, nearly all our patrons live in one of two) to the extremely granular (census block groups).  This allows us to anonymize activity while still being able to pinpoint fairly narrow portions of our </a:t>
            </a:r>
            <a:r>
              <a:rPr lang="en-US" baseline="0" dirty="0" smtClean="0"/>
              <a:t>community.  </a:t>
            </a:r>
            <a:endParaRPr lang="en-US" dirty="0"/>
          </a:p>
        </p:txBody>
      </p:sp>
      <p:sp>
        <p:nvSpPr>
          <p:cNvPr id="4" name="Slide Number Placeholder 3"/>
          <p:cNvSpPr>
            <a:spLocks noGrp="1"/>
          </p:cNvSpPr>
          <p:nvPr>
            <p:ph type="sldNum" sz="quarter" idx="5"/>
          </p:nvPr>
        </p:nvSpPr>
        <p:spPr/>
        <p:txBody>
          <a:bodyPr/>
          <a:lstStyle/>
          <a:p>
            <a:fld id="{678DACD6-92EE-45CE-A7B0-1F123E9D0438}" type="slidenum">
              <a:rPr lang="en-US" smtClean="0"/>
              <a:t>12</a:t>
            </a:fld>
            <a:endParaRPr lang="en-US"/>
          </a:p>
        </p:txBody>
      </p:sp>
    </p:spTree>
    <p:extLst>
      <p:ext uri="{BB962C8B-B14F-4D97-AF65-F5344CB8AC3E}">
        <p14:creationId xmlns:p14="http://schemas.microsoft.com/office/powerpoint/2010/main" val="195923731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With that data you can</a:t>
            </a:r>
            <a:r>
              <a:rPr lang="en-US" baseline="0" dirty="0" smtClean="0"/>
              <a:t> match your data to a </a:t>
            </a:r>
            <a:r>
              <a:rPr lang="en-US" baseline="0" dirty="0" err="1" smtClean="0"/>
              <a:t>Tigerline</a:t>
            </a:r>
            <a:r>
              <a:rPr lang="en-US" baseline="0" dirty="0" smtClean="0"/>
              <a:t> </a:t>
            </a:r>
            <a:r>
              <a:rPr lang="en-US" baseline="0" dirty="0" err="1" smtClean="0"/>
              <a:t>shapefile</a:t>
            </a:r>
            <a:r>
              <a:rPr lang="en-US" baseline="0" dirty="0" smtClean="0"/>
              <a:t> matching your area, available freely from the Census Bureau, or just click on one of the produced links to view the information for a particular region the Census Reporter site, which I love.  The top area here happens to cover Central Square, which falls directly between the MIT and Harvard campuses and incidentally there’s a branch right in the center of that area, that’s also within a block of a major transit hub.  Now the caveat with this is we only have access to a month of data because of our retention policies, but this is data that could be extracted and stored in order to accumulate data over time without compromising patron privacy.</a:t>
            </a:r>
            <a:endParaRPr lang="en-US" dirty="0" smtClean="0"/>
          </a:p>
          <a:p>
            <a:endParaRPr lang="en-US" dirty="0"/>
          </a:p>
        </p:txBody>
      </p:sp>
      <p:sp>
        <p:nvSpPr>
          <p:cNvPr id="4" name="Slide Number Placeholder 3"/>
          <p:cNvSpPr>
            <a:spLocks noGrp="1"/>
          </p:cNvSpPr>
          <p:nvPr>
            <p:ph type="sldNum" sz="quarter" idx="5"/>
          </p:nvPr>
        </p:nvSpPr>
        <p:spPr/>
        <p:txBody>
          <a:bodyPr/>
          <a:lstStyle/>
          <a:p>
            <a:fld id="{678DACD6-92EE-45CE-A7B0-1F123E9D0438}" type="slidenum">
              <a:rPr lang="en-US" smtClean="0"/>
              <a:t>13</a:t>
            </a:fld>
            <a:endParaRPr lang="en-US"/>
          </a:p>
        </p:txBody>
      </p:sp>
    </p:spTree>
    <p:extLst>
      <p:ext uri="{BB962C8B-B14F-4D97-AF65-F5344CB8AC3E}">
        <p14:creationId xmlns:p14="http://schemas.microsoft.com/office/powerpoint/2010/main" val="139268774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If you’re interested</a:t>
            </a:r>
            <a:r>
              <a:rPr lang="en-US" baseline="0" dirty="0" smtClean="0"/>
              <a:t> in digging into how we build these geography based reports the script used for geocoding our patrons records is available in our repo, as is the </a:t>
            </a:r>
            <a:r>
              <a:rPr lang="en-US" baseline="0" dirty="0" err="1" smtClean="0"/>
              <a:t>sql</a:t>
            </a:r>
            <a:r>
              <a:rPr lang="en-US" baseline="0" dirty="0" smtClean="0"/>
              <a:t> query used to build the report we were just viewing, though that one is a little Minuteman specific.</a:t>
            </a:r>
            <a:endParaRPr lang="en-US" dirty="0"/>
          </a:p>
        </p:txBody>
      </p:sp>
      <p:sp>
        <p:nvSpPr>
          <p:cNvPr id="4" name="Slide Number Placeholder 3"/>
          <p:cNvSpPr>
            <a:spLocks noGrp="1"/>
          </p:cNvSpPr>
          <p:nvPr>
            <p:ph type="sldNum" sz="quarter" idx="5"/>
          </p:nvPr>
        </p:nvSpPr>
        <p:spPr/>
        <p:txBody>
          <a:bodyPr/>
          <a:lstStyle/>
          <a:p>
            <a:fld id="{678DACD6-92EE-45CE-A7B0-1F123E9D0438}" type="slidenum">
              <a:rPr lang="en-US" smtClean="0"/>
              <a:t>14</a:t>
            </a:fld>
            <a:endParaRPr lang="en-US"/>
          </a:p>
        </p:txBody>
      </p:sp>
    </p:spTree>
    <p:extLst>
      <p:ext uri="{BB962C8B-B14F-4D97-AF65-F5344CB8AC3E}">
        <p14:creationId xmlns:p14="http://schemas.microsoft.com/office/powerpoint/2010/main" val="402740956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This question is one that comes down to addressing an occasion edge case at the </a:t>
            </a:r>
            <a:r>
              <a:rPr lang="en-US" dirty="0" err="1" smtClean="0"/>
              <a:t>circ</a:t>
            </a:r>
            <a:r>
              <a:rPr lang="en-US" dirty="0" smtClean="0"/>
              <a:t> desk</a:t>
            </a:r>
            <a:r>
              <a:rPr lang="en-US" baseline="0" dirty="0" smtClean="0"/>
              <a:t> where a staff member checks in an item, which overwrites the last patron field and later the item is reported as having been damaged, or missing a disk, or something like that.</a:t>
            </a:r>
            <a:endParaRPr lang="en-US" dirty="0" smtClean="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Is </a:t>
            </a:r>
            <a:r>
              <a:rPr lang="en-US" dirty="0" smtClean="0"/>
              <a:t>it helpful to</a:t>
            </a:r>
            <a:r>
              <a:rPr lang="en-US" baseline="0" dirty="0" smtClean="0"/>
              <a:t> </a:t>
            </a:r>
            <a:r>
              <a:rPr lang="en-US" baseline="0" dirty="0" smtClean="0"/>
              <a:t>track down that former patron to address the damage.  If it’s to track down a disc that might still be in the other patron’s </a:t>
            </a:r>
            <a:r>
              <a:rPr lang="en-US" baseline="0" dirty="0" err="1" smtClean="0"/>
              <a:t>dvd</a:t>
            </a:r>
            <a:r>
              <a:rPr lang="en-US" baseline="0" dirty="0" smtClean="0"/>
              <a:t> player…maybe.  But is </a:t>
            </a:r>
            <a:r>
              <a:rPr lang="en-US" baseline="0" dirty="0" smtClean="0"/>
              <a:t>the rare time that comes up worth maintaining that data for every transaction for every patron long term…especially when staff with the ability/permissions to query it are limited…not particularly.  </a:t>
            </a:r>
            <a:r>
              <a:rPr lang="en-US" baseline="0" dirty="0" smtClean="0"/>
              <a:t>At least for us as a somewhat privileged group of libraries that are fully fines free and more often than not struggle to spend down their materials budgets by the end of the fiscal year anyway.  Give </a:t>
            </a:r>
            <a:r>
              <a:rPr lang="en-US" baseline="0" dirty="0" smtClean="0"/>
              <a:t>that patron a </a:t>
            </a:r>
            <a:r>
              <a:rPr lang="en-US" baseline="0" dirty="0" smtClean="0"/>
              <a:t>pass and just buy the replacement copy if demand warrants it.</a:t>
            </a:r>
            <a:endParaRPr lang="en-US" dirty="0" smtClean="0"/>
          </a:p>
          <a:p>
            <a:endParaRPr lang="en-US" dirty="0"/>
          </a:p>
        </p:txBody>
      </p:sp>
      <p:sp>
        <p:nvSpPr>
          <p:cNvPr id="4" name="Slide Number Placeholder 3"/>
          <p:cNvSpPr>
            <a:spLocks noGrp="1"/>
          </p:cNvSpPr>
          <p:nvPr>
            <p:ph type="sldNum" sz="quarter" idx="5"/>
          </p:nvPr>
        </p:nvSpPr>
        <p:spPr/>
        <p:txBody>
          <a:bodyPr/>
          <a:lstStyle/>
          <a:p>
            <a:fld id="{678DACD6-92EE-45CE-A7B0-1F123E9D0438}" type="slidenum">
              <a:rPr lang="en-US" smtClean="0"/>
              <a:t>15</a:t>
            </a:fld>
            <a:endParaRPr lang="en-US"/>
          </a:p>
        </p:txBody>
      </p:sp>
    </p:spTree>
    <p:extLst>
      <p:ext uri="{BB962C8B-B14F-4D97-AF65-F5344CB8AC3E}">
        <p14:creationId xmlns:p14="http://schemas.microsoft.com/office/powerpoint/2010/main" val="73767234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Finally</a:t>
            </a:r>
            <a:r>
              <a:rPr lang="en-US" baseline="0" dirty="0" smtClean="0"/>
              <a:t> let’s look at the top question that we can’t fully answer and it’s something pretty ordinary on the surface, what are the top circulating titles from last year.  Sierra has fields for tracking year to date and last year to date checkouts for each item…though if you withdraw a copy that data is of course lost.  But we can’t use those fields for this purpose because our system configured to base those around the fiscal and not the calendar year as we need that data for annual fiscal year reporting.</a:t>
            </a:r>
            <a:endParaRPr lang="en-US" dirty="0"/>
          </a:p>
        </p:txBody>
      </p:sp>
      <p:sp>
        <p:nvSpPr>
          <p:cNvPr id="4" name="Slide Number Placeholder 3"/>
          <p:cNvSpPr>
            <a:spLocks noGrp="1"/>
          </p:cNvSpPr>
          <p:nvPr>
            <p:ph type="sldNum" sz="quarter" idx="5"/>
          </p:nvPr>
        </p:nvSpPr>
        <p:spPr/>
        <p:txBody>
          <a:bodyPr/>
          <a:lstStyle/>
          <a:p>
            <a:fld id="{678DACD6-92EE-45CE-A7B0-1F123E9D0438}" type="slidenum">
              <a:rPr lang="en-US" smtClean="0"/>
              <a:t>16</a:t>
            </a:fld>
            <a:endParaRPr lang="en-US"/>
          </a:p>
        </p:txBody>
      </p:sp>
    </p:spTree>
    <p:extLst>
      <p:ext uri="{BB962C8B-B14F-4D97-AF65-F5344CB8AC3E}">
        <p14:creationId xmlns:p14="http://schemas.microsoft.com/office/powerpoint/2010/main" val="235153619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There are a number of imperfect options that exist, which may be good enough, starting with Decision Center and the 3 years of</a:t>
            </a:r>
            <a:r>
              <a:rPr lang="en-US" baseline="0" dirty="0" smtClean="0"/>
              <a:t> transaction data it keeps without providing patron details beyond using a few fixed field options as filters.  However, this report has problems, it’s ungodly slow, it regularly </a:t>
            </a:r>
            <a:r>
              <a:rPr lang="en-US" baseline="0" dirty="0" err="1" smtClean="0"/>
              <a:t>timesout</a:t>
            </a:r>
            <a:r>
              <a:rPr lang="en-US" baseline="0" dirty="0" smtClean="0"/>
              <a:t> without completing, and when it does work you only get the top 100 titles matching your filters, and if you </a:t>
            </a:r>
            <a:r>
              <a:rPr lang="en-US" dirty="0" smtClean="0"/>
              <a:t>weren’t </a:t>
            </a:r>
            <a:r>
              <a:rPr lang="en-US" dirty="0" smtClean="0"/>
              <a:t>careful with your filters most of those top 100 will be occupied by things</a:t>
            </a:r>
            <a:r>
              <a:rPr lang="en-US" baseline="0" dirty="0" smtClean="0"/>
              <a:t> like circulating tote bags and the </a:t>
            </a:r>
            <a:r>
              <a:rPr lang="en-US" baseline="0" dirty="0" err="1" smtClean="0"/>
              <a:t>Pokemon</a:t>
            </a:r>
            <a:r>
              <a:rPr lang="en-US" baseline="0" dirty="0" smtClean="0"/>
              <a:t> manga that is all on one serial </a:t>
            </a:r>
            <a:r>
              <a:rPr lang="en-US" baseline="0" dirty="0" smtClean="0"/>
              <a:t>record…accurate but not what you want…which </a:t>
            </a:r>
            <a:r>
              <a:rPr lang="en-US" baseline="0" dirty="0" smtClean="0"/>
              <a:t>goes to show that what checked out the most isn’t necessarily what you actually want anyway</a:t>
            </a:r>
            <a:endParaRPr lang="en-US" dirty="0" smtClean="0"/>
          </a:p>
          <a:p>
            <a:endParaRPr lang="en-US" dirty="0"/>
          </a:p>
        </p:txBody>
      </p:sp>
      <p:sp>
        <p:nvSpPr>
          <p:cNvPr id="4" name="Slide Number Placeholder 3"/>
          <p:cNvSpPr>
            <a:spLocks noGrp="1"/>
          </p:cNvSpPr>
          <p:nvPr>
            <p:ph type="sldNum" sz="quarter" idx="5"/>
          </p:nvPr>
        </p:nvSpPr>
        <p:spPr/>
        <p:txBody>
          <a:bodyPr/>
          <a:lstStyle/>
          <a:p>
            <a:fld id="{678DACD6-92EE-45CE-A7B0-1F123E9D0438}" type="slidenum">
              <a:rPr lang="en-US" smtClean="0"/>
              <a:t>17</a:t>
            </a:fld>
            <a:endParaRPr lang="en-US"/>
          </a:p>
        </p:txBody>
      </p:sp>
    </p:spTree>
    <p:extLst>
      <p:ext uri="{BB962C8B-B14F-4D97-AF65-F5344CB8AC3E}">
        <p14:creationId xmlns:p14="http://schemas.microsoft.com/office/powerpoint/2010/main" val="314284361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There are other close but not quite options that are somewhat readily available.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err="1" smtClean="0"/>
              <a:t>libraryIQ</a:t>
            </a:r>
            <a:r>
              <a:rPr lang="en-US" baseline="0" dirty="0" smtClean="0"/>
              <a:t> </a:t>
            </a:r>
            <a:r>
              <a:rPr lang="en-US" baseline="0" dirty="0" smtClean="0"/>
              <a:t>does store transaction history for a couple years, but as the tool is primarily focused on assessing your collection staff mostly can’t look at the trends involving other library’s materials that passed through their location.  </a:t>
            </a:r>
            <a:r>
              <a:rPr lang="en-US" baseline="0" dirty="0" smtClean="0"/>
              <a:t>There’s one exception to that in there currently but it happens to work with item level details as opposed to title level rollups.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Our </a:t>
            </a:r>
            <a:r>
              <a:rPr lang="en-US" baseline="0" dirty="0" smtClean="0"/>
              <a:t>purchase alert </a:t>
            </a:r>
            <a:r>
              <a:rPr lang="en-US" baseline="0" dirty="0" smtClean="0"/>
              <a:t>is our take on the high demand holds report native to Sierra, but accounting for orders, consortia data, and just generally fancier.  So it’s looking </a:t>
            </a:r>
            <a:r>
              <a:rPr lang="en-US" baseline="0" dirty="0" smtClean="0"/>
              <a:t>at unfilled holds to measure present </a:t>
            </a:r>
            <a:r>
              <a:rPr lang="en-US" baseline="0" dirty="0" smtClean="0"/>
              <a:t>demand which isn’t an exact match for best of the year but may still get you to that ballpark.  In this case </a:t>
            </a:r>
            <a:r>
              <a:rPr lang="en-US" baseline="0" dirty="0" smtClean="0"/>
              <a:t>the top items </a:t>
            </a:r>
            <a:r>
              <a:rPr lang="en-US" baseline="0" dirty="0" smtClean="0"/>
              <a:t>on </a:t>
            </a:r>
            <a:r>
              <a:rPr lang="en-US" baseline="0" dirty="0" smtClean="0"/>
              <a:t>the list wound up being quite different, and yet both are valid alternate ways to explore what’s popular or trending, among many others.  If you’re paying close attention, please note that all 3 of these produced different results for the top of the list.  None are wrong, there just is not single correct path</a:t>
            </a:r>
            <a:endParaRPr lang="en-US" dirty="0" smtClean="0"/>
          </a:p>
          <a:p>
            <a:endParaRPr lang="en-US" dirty="0"/>
          </a:p>
        </p:txBody>
      </p:sp>
      <p:sp>
        <p:nvSpPr>
          <p:cNvPr id="4" name="Slide Number Placeholder 3"/>
          <p:cNvSpPr>
            <a:spLocks noGrp="1"/>
          </p:cNvSpPr>
          <p:nvPr>
            <p:ph type="sldNum" sz="quarter" idx="5"/>
          </p:nvPr>
        </p:nvSpPr>
        <p:spPr/>
        <p:txBody>
          <a:bodyPr/>
          <a:lstStyle/>
          <a:p>
            <a:fld id="{678DACD6-92EE-45CE-A7B0-1F123E9D0438}" type="slidenum">
              <a:rPr lang="en-US" smtClean="0"/>
              <a:t>18</a:t>
            </a:fld>
            <a:endParaRPr lang="en-US"/>
          </a:p>
        </p:txBody>
      </p:sp>
    </p:spTree>
    <p:extLst>
      <p:ext uri="{BB962C8B-B14F-4D97-AF65-F5344CB8AC3E}">
        <p14:creationId xmlns:p14="http://schemas.microsoft.com/office/powerpoint/2010/main" val="368312755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This </a:t>
            </a:r>
            <a:r>
              <a:rPr lang="en-US" dirty="0" smtClean="0"/>
              <a:t>is from our canned reports</a:t>
            </a:r>
            <a:r>
              <a:rPr lang="en-US" baseline="0" dirty="0" smtClean="0"/>
              <a:t> site where we have a popular titles tool that will run a SQL query for staff based on the selected parameters.  We have 8 different options available for how one might wish to define popularity, ranging from the straight forward (total </a:t>
            </a:r>
            <a:r>
              <a:rPr lang="en-US" baseline="0" dirty="0" err="1" smtClean="0"/>
              <a:t>circ</a:t>
            </a:r>
            <a:r>
              <a:rPr lang="en-US" baseline="0" dirty="0" smtClean="0"/>
              <a:t>, total holds, year to date checkouts) to the experimental (percent of time checked out based on an item’s age, the lifetime </a:t>
            </a:r>
            <a:r>
              <a:rPr lang="en-US" baseline="0" dirty="0" err="1" smtClean="0"/>
              <a:t>circ</a:t>
            </a:r>
            <a:r>
              <a:rPr lang="en-US" baseline="0" dirty="0" smtClean="0"/>
              <a:t> total and the </a:t>
            </a:r>
            <a:r>
              <a:rPr lang="en-US" baseline="0" dirty="0" err="1" smtClean="0"/>
              <a:t>avg</a:t>
            </a:r>
            <a:r>
              <a:rPr lang="en-US" baseline="0" dirty="0" smtClean="0"/>
              <a:t> loan period length for items sharing an </a:t>
            </a:r>
            <a:r>
              <a:rPr lang="en-US" baseline="0" dirty="0" err="1" smtClean="0"/>
              <a:t>itype</a:t>
            </a:r>
            <a:r>
              <a:rPr lang="en-US" baseline="0" dirty="0" smtClean="0"/>
              <a:t> based on current checkouts).  We also have alt reports entirely to come at these sorts of questions from different approaches.  What titles have high wait times, what’s popular at other libraries in the network, what titles have the most copies that are currently overdue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This shows how even without the precise data you may long for, with some creativity and advanced preparation you can still find ways to produce workable </a:t>
            </a:r>
            <a:r>
              <a:rPr lang="en-US" baseline="0" dirty="0" smtClean="0"/>
              <a:t>results that may provide meaningful information to fulfill your library’s needs.</a:t>
            </a:r>
            <a:endParaRPr lang="en-US" dirty="0" smtClean="0"/>
          </a:p>
          <a:p>
            <a:endParaRPr lang="en-US" dirty="0"/>
          </a:p>
        </p:txBody>
      </p:sp>
      <p:sp>
        <p:nvSpPr>
          <p:cNvPr id="4" name="Slide Number Placeholder 3"/>
          <p:cNvSpPr>
            <a:spLocks noGrp="1"/>
          </p:cNvSpPr>
          <p:nvPr>
            <p:ph type="sldNum" sz="quarter" idx="5"/>
          </p:nvPr>
        </p:nvSpPr>
        <p:spPr/>
        <p:txBody>
          <a:bodyPr/>
          <a:lstStyle/>
          <a:p>
            <a:fld id="{678DACD6-92EE-45CE-A7B0-1F123E9D0438}" type="slidenum">
              <a:rPr lang="en-US" smtClean="0"/>
              <a:t>19</a:t>
            </a:fld>
            <a:endParaRPr lang="en-US"/>
          </a:p>
        </p:txBody>
      </p:sp>
    </p:spTree>
    <p:extLst>
      <p:ext uri="{BB962C8B-B14F-4D97-AF65-F5344CB8AC3E}">
        <p14:creationId xmlns:p14="http://schemas.microsoft.com/office/powerpoint/2010/main" val="40405941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4E5546-A0B0-873F-4B93-FA53C20388BF}"/>
              </a:ext>
            </a:extLst>
          </p:cNvPr>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a:extLst>
              <a:ext uri="{FF2B5EF4-FFF2-40B4-BE49-F238E27FC236}">
                <a16:creationId xmlns:a16="http://schemas.microsoft.com/office/drawing/2014/main" id="{A00C24A3-68F5-2154-88A1-C0A55B9772C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a:extLst>
              <a:ext uri="{FF2B5EF4-FFF2-40B4-BE49-F238E27FC236}">
                <a16:creationId xmlns:a16="http://schemas.microsoft.com/office/drawing/2014/main" id="{A27784B3-3349-A367-1B72-022DA7F3A17A}"/>
              </a:ext>
            </a:extLst>
          </p:cNvPr>
          <p:cNvSpPr>
            <a:spLocks noGrp="1"/>
          </p:cNvSpPr>
          <p:nvPr>
            <p:ph type="dt" sz="half" idx="10"/>
          </p:nvPr>
        </p:nvSpPr>
        <p:spPr/>
        <p:txBody>
          <a:bodyPr/>
          <a:lstStyle/>
          <a:p>
            <a:fld id="{30B7B0CA-7F1D-7440-BF86-78A318A6FD35}" type="datetimeFigureOut">
              <a:rPr lang="en-US" smtClean="0"/>
              <a:t>4/2/2026</a:t>
            </a:fld>
            <a:endParaRPr lang="en-US"/>
          </a:p>
        </p:txBody>
      </p:sp>
      <p:sp>
        <p:nvSpPr>
          <p:cNvPr id="5" name="Footer Placeholder 4">
            <a:extLst>
              <a:ext uri="{FF2B5EF4-FFF2-40B4-BE49-F238E27FC236}">
                <a16:creationId xmlns:a16="http://schemas.microsoft.com/office/drawing/2014/main" id="{E8CBA541-64FA-2A41-BF6F-DC1C11C4C39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660787D-DE34-D87C-3D20-6C0A367B44C1}"/>
              </a:ext>
            </a:extLst>
          </p:cNvPr>
          <p:cNvSpPr>
            <a:spLocks noGrp="1"/>
          </p:cNvSpPr>
          <p:nvPr>
            <p:ph type="sldNum" sz="quarter" idx="12"/>
          </p:nvPr>
        </p:nvSpPr>
        <p:spPr/>
        <p:txBody>
          <a:bodyPr/>
          <a:lstStyle/>
          <a:p>
            <a:fld id="{CD1E35B7-D1A3-FA48-9136-E65B2C08304D}" type="slidenum">
              <a:rPr lang="en-US" smtClean="0"/>
              <a:t>‹#›</a:t>
            </a:fld>
            <a:endParaRPr lang="en-US"/>
          </a:p>
        </p:txBody>
      </p:sp>
    </p:spTree>
    <p:extLst>
      <p:ext uri="{BB962C8B-B14F-4D97-AF65-F5344CB8AC3E}">
        <p14:creationId xmlns:p14="http://schemas.microsoft.com/office/powerpoint/2010/main" val="9158479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3C0722-635C-6F57-F475-4C9D6989E39F}"/>
              </a:ext>
            </a:extLst>
          </p:cNvPr>
          <p:cNvSpPr>
            <a:spLocks noGrp="1"/>
          </p:cNvSpPr>
          <p:nvPr>
            <p:ph type="title"/>
          </p:nvPr>
        </p:nvSpPr>
        <p:spPr/>
        <p:txBody>
          <a:bodyPr/>
          <a:lstStyle/>
          <a:p>
            <a:r>
              <a:rPr lang="en-US" smtClean="0"/>
              <a:t>Click to edit Master title style</a:t>
            </a:r>
            <a:endParaRPr lang="en-US"/>
          </a:p>
        </p:txBody>
      </p:sp>
      <p:sp>
        <p:nvSpPr>
          <p:cNvPr id="3" name="Content Placeholder 2">
            <a:extLst>
              <a:ext uri="{FF2B5EF4-FFF2-40B4-BE49-F238E27FC236}">
                <a16:creationId xmlns:a16="http://schemas.microsoft.com/office/drawing/2014/main" id="{CDD07767-09FC-688D-E4DB-3B3667ADFC58}"/>
              </a:ext>
            </a:extLst>
          </p:cNvPr>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a:extLst>
              <a:ext uri="{FF2B5EF4-FFF2-40B4-BE49-F238E27FC236}">
                <a16:creationId xmlns:a16="http://schemas.microsoft.com/office/drawing/2014/main" id="{D6552C65-A02E-C096-F624-81B71B05F27F}"/>
              </a:ext>
            </a:extLst>
          </p:cNvPr>
          <p:cNvSpPr>
            <a:spLocks noGrp="1"/>
          </p:cNvSpPr>
          <p:nvPr>
            <p:ph type="dt" sz="half" idx="10"/>
          </p:nvPr>
        </p:nvSpPr>
        <p:spPr/>
        <p:txBody>
          <a:bodyPr/>
          <a:lstStyle/>
          <a:p>
            <a:fld id="{30B7B0CA-7F1D-7440-BF86-78A318A6FD35}" type="datetimeFigureOut">
              <a:rPr lang="en-US" smtClean="0"/>
              <a:t>4/2/2026</a:t>
            </a:fld>
            <a:endParaRPr lang="en-US"/>
          </a:p>
        </p:txBody>
      </p:sp>
      <p:sp>
        <p:nvSpPr>
          <p:cNvPr id="5" name="Footer Placeholder 4">
            <a:extLst>
              <a:ext uri="{FF2B5EF4-FFF2-40B4-BE49-F238E27FC236}">
                <a16:creationId xmlns:a16="http://schemas.microsoft.com/office/drawing/2014/main" id="{9A93D793-508C-7A97-962C-56B0EC1DBEB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7E5C939-BAFA-F0C8-9164-B4502ECA5AC4}"/>
              </a:ext>
            </a:extLst>
          </p:cNvPr>
          <p:cNvSpPr>
            <a:spLocks noGrp="1"/>
          </p:cNvSpPr>
          <p:nvPr>
            <p:ph type="sldNum" sz="quarter" idx="12"/>
          </p:nvPr>
        </p:nvSpPr>
        <p:spPr/>
        <p:txBody>
          <a:bodyPr/>
          <a:lstStyle/>
          <a:p>
            <a:fld id="{CD1E35B7-D1A3-FA48-9136-E65B2C08304D}" type="slidenum">
              <a:rPr lang="en-US" smtClean="0"/>
              <a:t>‹#›</a:t>
            </a:fld>
            <a:endParaRPr lang="en-US"/>
          </a:p>
        </p:txBody>
      </p:sp>
    </p:spTree>
    <p:extLst>
      <p:ext uri="{BB962C8B-B14F-4D97-AF65-F5344CB8AC3E}">
        <p14:creationId xmlns:p14="http://schemas.microsoft.com/office/powerpoint/2010/main" val="16572241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714210-2259-F5E8-FF94-506854DC90CD}"/>
              </a:ext>
            </a:extLst>
          </p:cNvPr>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a:extLst>
              <a:ext uri="{FF2B5EF4-FFF2-40B4-BE49-F238E27FC236}">
                <a16:creationId xmlns:a16="http://schemas.microsoft.com/office/drawing/2014/main" id="{F4AEA7DB-9680-B5D9-59D6-1508B26A551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smtClean="0"/>
              <a:t>Edit Master text styles</a:t>
            </a:r>
          </a:p>
        </p:txBody>
      </p:sp>
      <p:sp>
        <p:nvSpPr>
          <p:cNvPr id="4" name="Date Placeholder 3">
            <a:extLst>
              <a:ext uri="{FF2B5EF4-FFF2-40B4-BE49-F238E27FC236}">
                <a16:creationId xmlns:a16="http://schemas.microsoft.com/office/drawing/2014/main" id="{16DCE019-F28D-8B89-315B-C7377D987A1F}"/>
              </a:ext>
            </a:extLst>
          </p:cNvPr>
          <p:cNvSpPr>
            <a:spLocks noGrp="1"/>
          </p:cNvSpPr>
          <p:nvPr>
            <p:ph type="dt" sz="half" idx="10"/>
          </p:nvPr>
        </p:nvSpPr>
        <p:spPr/>
        <p:txBody>
          <a:bodyPr/>
          <a:lstStyle/>
          <a:p>
            <a:fld id="{30B7B0CA-7F1D-7440-BF86-78A318A6FD35}" type="datetimeFigureOut">
              <a:rPr lang="en-US" smtClean="0"/>
              <a:t>4/2/2026</a:t>
            </a:fld>
            <a:endParaRPr lang="en-US"/>
          </a:p>
        </p:txBody>
      </p:sp>
      <p:sp>
        <p:nvSpPr>
          <p:cNvPr id="5" name="Footer Placeholder 4">
            <a:extLst>
              <a:ext uri="{FF2B5EF4-FFF2-40B4-BE49-F238E27FC236}">
                <a16:creationId xmlns:a16="http://schemas.microsoft.com/office/drawing/2014/main" id="{3A8A3B03-057F-F58E-D5EB-D9A59DF00E2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AD0021C-08DA-442C-76E4-736D9ECF4A95}"/>
              </a:ext>
            </a:extLst>
          </p:cNvPr>
          <p:cNvSpPr>
            <a:spLocks noGrp="1"/>
          </p:cNvSpPr>
          <p:nvPr>
            <p:ph type="sldNum" sz="quarter" idx="12"/>
          </p:nvPr>
        </p:nvSpPr>
        <p:spPr/>
        <p:txBody>
          <a:bodyPr/>
          <a:lstStyle/>
          <a:p>
            <a:fld id="{CD1E35B7-D1A3-FA48-9136-E65B2C08304D}" type="slidenum">
              <a:rPr lang="en-US" smtClean="0"/>
              <a:t>‹#›</a:t>
            </a:fld>
            <a:endParaRPr lang="en-US"/>
          </a:p>
        </p:txBody>
      </p:sp>
    </p:spTree>
    <p:extLst>
      <p:ext uri="{BB962C8B-B14F-4D97-AF65-F5344CB8AC3E}">
        <p14:creationId xmlns:p14="http://schemas.microsoft.com/office/powerpoint/2010/main" val="25933255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54F825-B759-C3AA-9982-866C94315B0A}"/>
              </a:ext>
            </a:extLst>
          </p:cNvPr>
          <p:cNvSpPr>
            <a:spLocks noGrp="1"/>
          </p:cNvSpPr>
          <p:nvPr>
            <p:ph type="title"/>
          </p:nvPr>
        </p:nvSpPr>
        <p:spPr/>
        <p:txBody>
          <a:bodyPr/>
          <a:lstStyle/>
          <a:p>
            <a:r>
              <a:rPr lang="en-US" smtClean="0"/>
              <a:t>Click to edit Master title style</a:t>
            </a:r>
            <a:endParaRPr lang="en-US"/>
          </a:p>
        </p:txBody>
      </p:sp>
      <p:sp>
        <p:nvSpPr>
          <p:cNvPr id="3" name="Content Placeholder 2">
            <a:extLst>
              <a:ext uri="{FF2B5EF4-FFF2-40B4-BE49-F238E27FC236}">
                <a16:creationId xmlns:a16="http://schemas.microsoft.com/office/drawing/2014/main" id="{87D56AB7-2038-A70C-A5B2-AF71135241CD}"/>
              </a:ext>
            </a:extLst>
          </p:cNvPr>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a:extLst>
              <a:ext uri="{FF2B5EF4-FFF2-40B4-BE49-F238E27FC236}">
                <a16:creationId xmlns:a16="http://schemas.microsoft.com/office/drawing/2014/main" id="{C50B5ABD-09CF-5CBD-4F63-C2AB60A051DD}"/>
              </a:ext>
            </a:extLst>
          </p:cNvPr>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a:extLst>
              <a:ext uri="{FF2B5EF4-FFF2-40B4-BE49-F238E27FC236}">
                <a16:creationId xmlns:a16="http://schemas.microsoft.com/office/drawing/2014/main" id="{9B4F7A95-5A12-2A75-4E9B-E7E0A73C117C}"/>
              </a:ext>
            </a:extLst>
          </p:cNvPr>
          <p:cNvSpPr>
            <a:spLocks noGrp="1"/>
          </p:cNvSpPr>
          <p:nvPr>
            <p:ph type="dt" sz="half" idx="10"/>
          </p:nvPr>
        </p:nvSpPr>
        <p:spPr/>
        <p:txBody>
          <a:bodyPr/>
          <a:lstStyle/>
          <a:p>
            <a:fld id="{30B7B0CA-7F1D-7440-BF86-78A318A6FD35}" type="datetimeFigureOut">
              <a:rPr lang="en-US" smtClean="0"/>
              <a:t>4/2/2026</a:t>
            </a:fld>
            <a:endParaRPr lang="en-US"/>
          </a:p>
        </p:txBody>
      </p:sp>
      <p:sp>
        <p:nvSpPr>
          <p:cNvPr id="6" name="Footer Placeholder 5">
            <a:extLst>
              <a:ext uri="{FF2B5EF4-FFF2-40B4-BE49-F238E27FC236}">
                <a16:creationId xmlns:a16="http://schemas.microsoft.com/office/drawing/2014/main" id="{665321FD-0397-42BE-8235-94E51D7FCD8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8074E65-FC6A-29FB-70B5-F405D7993A3B}"/>
              </a:ext>
            </a:extLst>
          </p:cNvPr>
          <p:cNvSpPr>
            <a:spLocks noGrp="1"/>
          </p:cNvSpPr>
          <p:nvPr>
            <p:ph type="sldNum" sz="quarter" idx="12"/>
          </p:nvPr>
        </p:nvSpPr>
        <p:spPr/>
        <p:txBody>
          <a:bodyPr/>
          <a:lstStyle/>
          <a:p>
            <a:fld id="{CD1E35B7-D1A3-FA48-9136-E65B2C08304D}" type="slidenum">
              <a:rPr lang="en-US" smtClean="0"/>
              <a:t>‹#›</a:t>
            </a:fld>
            <a:endParaRPr lang="en-US"/>
          </a:p>
        </p:txBody>
      </p:sp>
    </p:spTree>
    <p:extLst>
      <p:ext uri="{BB962C8B-B14F-4D97-AF65-F5344CB8AC3E}">
        <p14:creationId xmlns:p14="http://schemas.microsoft.com/office/powerpoint/2010/main" val="26374573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828916-B5BB-A7D9-7A17-B27796770428}"/>
              </a:ext>
            </a:extLst>
          </p:cNvPr>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a:extLst>
              <a:ext uri="{FF2B5EF4-FFF2-40B4-BE49-F238E27FC236}">
                <a16:creationId xmlns:a16="http://schemas.microsoft.com/office/drawing/2014/main" id="{18583B3B-0B44-66A1-4A84-CBDB09F5BFF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a:extLst>
              <a:ext uri="{FF2B5EF4-FFF2-40B4-BE49-F238E27FC236}">
                <a16:creationId xmlns:a16="http://schemas.microsoft.com/office/drawing/2014/main" id="{CC76D406-9984-09E5-9B83-0B39C475B871}"/>
              </a:ext>
            </a:extLst>
          </p:cNvPr>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a:extLst>
              <a:ext uri="{FF2B5EF4-FFF2-40B4-BE49-F238E27FC236}">
                <a16:creationId xmlns:a16="http://schemas.microsoft.com/office/drawing/2014/main" id="{EBE915E0-9D33-9ECA-89E3-9CC077F70B3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a:extLst>
              <a:ext uri="{FF2B5EF4-FFF2-40B4-BE49-F238E27FC236}">
                <a16:creationId xmlns:a16="http://schemas.microsoft.com/office/drawing/2014/main" id="{C7379F8C-0231-44AC-6B23-94A5AE30FE58}"/>
              </a:ext>
            </a:extLst>
          </p:cNvPr>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a:extLst>
              <a:ext uri="{FF2B5EF4-FFF2-40B4-BE49-F238E27FC236}">
                <a16:creationId xmlns:a16="http://schemas.microsoft.com/office/drawing/2014/main" id="{F5E38855-F9DF-D576-8457-22162804560A}"/>
              </a:ext>
            </a:extLst>
          </p:cNvPr>
          <p:cNvSpPr>
            <a:spLocks noGrp="1"/>
          </p:cNvSpPr>
          <p:nvPr>
            <p:ph type="dt" sz="half" idx="10"/>
          </p:nvPr>
        </p:nvSpPr>
        <p:spPr/>
        <p:txBody>
          <a:bodyPr/>
          <a:lstStyle/>
          <a:p>
            <a:fld id="{30B7B0CA-7F1D-7440-BF86-78A318A6FD35}" type="datetimeFigureOut">
              <a:rPr lang="en-US" smtClean="0"/>
              <a:t>4/2/2026</a:t>
            </a:fld>
            <a:endParaRPr lang="en-US"/>
          </a:p>
        </p:txBody>
      </p:sp>
      <p:sp>
        <p:nvSpPr>
          <p:cNvPr id="8" name="Footer Placeholder 7">
            <a:extLst>
              <a:ext uri="{FF2B5EF4-FFF2-40B4-BE49-F238E27FC236}">
                <a16:creationId xmlns:a16="http://schemas.microsoft.com/office/drawing/2014/main" id="{9F170EEE-B57C-D2BF-D8F8-D9B8415CD5D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32B8F2B-F16A-0573-6A83-11CC0F2B632D}"/>
              </a:ext>
            </a:extLst>
          </p:cNvPr>
          <p:cNvSpPr>
            <a:spLocks noGrp="1"/>
          </p:cNvSpPr>
          <p:nvPr>
            <p:ph type="sldNum" sz="quarter" idx="12"/>
          </p:nvPr>
        </p:nvSpPr>
        <p:spPr/>
        <p:txBody>
          <a:bodyPr/>
          <a:lstStyle/>
          <a:p>
            <a:fld id="{CD1E35B7-D1A3-FA48-9136-E65B2C08304D}" type="slidenum">
              <a:rPr lang="en-US" smtClean="0"/>
              <a:t>‹#›</a:t>
            </a:fld>
            <a:endParaRPr lang="en-US"/>
          </a:p>
        </p:txBody>
      </p:sp>
    </p:spTree>
    <p:extLst>
      <p:ext uri="{BB962C8B-B14F-4D97-AF65-F5344CB8AC3E}">
        <p14:creationId xmlns:p14="http://schemas.microsoft.com/office/powerpoint/2010/main" val="8055695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0A6569-E350-D295-6848-F8A135D842C4}"/>
              </a:ext>
            </a:extLst>
          </p:cNvPr>
          <p:cNvSpPr>
            <a:spLocks noGrp="1"/>
          </p:cNvSpPr>
          <p:nvPr>
            <p:ph type="title"/>
          </p:nvPr>
        </p:nvSpPr>
        <p:spPr/>
        <p:txBody>
          <a:bodyPr/>
          <a:lstStyle/>
          <a:p>
            <a:r>
              <a:rPr lang="en-US" smtClean="0"/>
              <a:t>Click to edit Master title style</a:t>
            </a:r>
            <a:endParaRPr lang="en-US"/>
          </a:p>
        </p:txBody>
      </p:sp>
      <p:sp>
        <p:nvSpPr>
          <p:cNvPr id="3" name="Date Placeholder 2">
            <a:extLst>
              <a:ext uri="{FF2B5EF4-FFF2-40B4-BE49-F238E27FC236}">
                <a16:creationId xmlns:a16="http://schemas.microsoft.com/office/drawing/2014/main" id="{4F336050-7FF0-C6F6-112C-772F06197071}"/>
              </a:ext>
            </a:extLst>
          </p:cNvPr>
          <p:cNvSpPr>
            <a:spLocks noGrp="1"/>
          </p:cNvSpPr>
          <p:nvPr>
            <p:ph type="dt" sz="half" idx="10"/>
          </p:nvPr>
        </p:nvSpPr>
        <p:spPr/>
        <p:txBody>
          <a:bodyPr/>
          <a:lstStyle/>
          <a:p>
            <a:fld id="{30B7B0CA-7F1D-7440-BF86-78A318A6FD35}" type="datetimeFigureOut">
              <a:rPr lang="en-US" smtClean="0"/>
              <a:t>4/2/2026</a:t>
            </a:fld>
            <a:endParaRPr lang="en-US"/>
          </a:p>
        </p:txBody>
      </p:sp>
      <p:sp>
        <p:nvSpPr>
          <p:cNvPr id="4" name="Footer Placeholder 3">
            <a:extLst>
              <a:ext uri="{FF2B5EF4-FFF2-40B4-BE49-F238E27FC236}">
                <a16:creationId xmlns:a16="http://schemas.microsoft.com/office/drawing/2014/main" id="{0C60740C-6938-B0BD-E258-6D6756162CC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5DE41E3-FF6C-058B-3BD4-2271A4CA2ACC}"/>
              </a:ext>
            </a:extLst>
          </p:cNvPr>
          <p:cNvSpPr>
            <a:spLocks noGrp="1"/>
          </p:cNvSpPr>
          <p:nvPr>
            <p:ph type="sldNum" sz="quarter" idx="12"/>
          </p:nvPr>
        </p:nvSpPr>
        <p:spPr/>
        <p:txBody>
          <a:bodyPr/>
          <a:lstStyle/>
          <a:p>
            <a:fld id="{CD1E35B7-D1A3-FA48-9136-E65B2C08304D}" type="slidenum">
              <a:rPr lang="en-US" smtClean="0"/>
              <a:t>‹#›</a:t>
            </a:fld>
            <a:endParaRPr lang="en-US"/>
          </a:p>
        </p:txBody>
      </p:sp>
    </p:spTree>
    <p:extLst>
      <p:ext uri="{BB962C8B-B14F-4D97-AF65-F5344CB8AC3E}">
        <p14:creationId xmlns:p14="http://schemas.microsoft.com/office/powerpoint/2010/main" val="7899275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1969C63-B11B-2B8C-367D-81E74AE9282B}"/>
              </a:ext>
            </a:extLst>
          </p:cNvPr>
          <p:cNvSpPr>
            <a:spLocks noGrp="1"/>
          </p:cNvSpPr>
          <p:nvPr>
            <p:ph type="dt" sz="half" idx="10"/>
          </p:nvPr>
        </p:nvSpPr>
        <p:spPr/>
        <p:txBody>
          <a:bodyPr/>
          <a:lstStyle/>
          <a:p>
            <a:fld id="{30B7B0CA-7F1D-7440-BF86-78A318A6FD35}" type="datetimeFigureOut">
              <a:rPr lang="en-US" smtClean="0"/>
              <a:t>4/2/2026</a:t>
            </a:fld>
            <a:endParaRPr lang="en-US"/>
          </a:p>
        </p:txBody>
      </p:sp>
      <p:sp>
        <p:nvSpPr>
          <p:cNvPr id="3" name="Footer Placeholder 2">
            <a:extLst>
              <a:ext uri="{FF2B5EF4-FFF2-40B4-BE49-F238E27FC236}">
                <a16:creationId xmlns:a16="http://schemas.microsoft.com/office/drawing/2014/main" id="{3BADF0EE-CA44-6835-ABFE-CA7E6586A69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64EBE21-29E0-0354-D5EC-087E3C46284E}"/>
              </a:ext>
            </a:extLst>
          </p:cNvPr>
          <p:cNvSpPr>
            <a:spLocks noGrp="1"/>
          </p:cNvSpPr>
          <p:nvPr>
            <p:ph type="sldNum" sz="quarter" idx="12"/>
          </p:nvPr>
        </p:nvSpPr>
        <p:spPr/>
        <p:txBody>
          <a:bodyPr/>
          <a:lstStyle/>
          <a:p>
            <a:fld id="{CD1E35B7-D1A3-FA48-9136-E65B2C08304D}" type="slidenum">
              <a:rPr lang="en-US" smtClean="0"/>
              <a:t>‹#›</a:t>
            </a:fld>
            <a:endParaRPr lang="en-US"/>
          </a:p>
        </p:txBody>
      </p:sp>
    </p:spTree>
    <p:extLst>
      <p:ext uri="{BB962C8B-B14F-4D97-AF65-F5344CB8AC3E}">
        <p14:creationId xmlns:p14="http://schemas.microsoft.com/office/powerpoint/2010/main" val="7840373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5F4407-4B25-FCBE-57E4-A7829219934A}"/>
              </a:ext>
            </a:extLst>
          </p:cNvPr>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a:extLst>
              <a:ext uri="{FF2B5EF4-FFF2-40B4-BE49-F238E27FC236}">
                <a16:creationId xmlns:a16="http://schemas.microsoft.com/office/drawing/2014/main" id="{738E5552-7962-CC6F-6E3E-8B1C1483560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a:extLst>
              <a:ext uri="{FF2B5EF4-FFF2-40B4-BE49-F238E27FC236}">
                <a16:creationId xmlns:a16="http://schemas.microsoft.com/office/drawing/2014/main" id="{1BE16A62-5B97-7A97-74CF-E161EAE8B1F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a:extLst>
              <a:ext uri="{FF2B5EF4-FFF2-40B4-BE49-F238E27FC236}">
                <a16:creationId xmlns:a16="http://schemas.microsoft.com/office/drawing/2014/main" id="{BB250EC4-4976-6539-FC2F-6FACBD6D65DB}"/>
              </a:ext>
            </a:extLst>
          </p:cNvPr>
          <p:cNvSpPr>
            <a:spLocks noGrp="1"/>
          </p:cNvSpPr>
          <p:nvPr>
            <p:ph type="dt" sz="half" idx="10"/>
          </p:nvPr>
        </p:nvSpPr>
        <p:spPr/>
        <p:txBody>
          <a:bodyPr/>
          <a:lstStyle/>
          <a:p>
            <a:fld id="{30B7B0CA-7F1D-7440-BF86-78A318A6FD35}" type="datetimeFigureOut">
              <a:rPr lang="en-US" smtClean="0"/>
              <a:t>4/2/2026</a:t>
            </a:fld>
            <a:endParaRPr lang="en-US"/>
          </a:p>
        </p:txBody>
      </p:sp>
      <p:sp>
        <p:nvSpPr>
          <p:cNvPr id="6" name="Footer Placeholder 5">
            <a:extLst>
              <a:ext uri="{FF2B5EF4-FFF2-40B4-BE49-F238E27FC236}">
                <a16:creationId xmlns:a16="http://schemas.microsoft.com/office/drawing/2014/main" id="{5C5B1BB4-1AC6-8C66-ABC6-EEB41CA3E3E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F4F9FFF-E253-F74C-60B9-C27FB55F2221}"/>
              </a:ext>
            </a:extLst>
          </p:cNvPr>
          <p:cNvSpPr>
            <a:spLocks noGrp="1"/>
          </p:cNvSpPr>
          <p:nvPr>
            <p:ph type="sldNum" sz="quarter" idx="12"/>
          </p:nvPr>
        </p:nvSpPr>
        <p:spPr/>
        <p:txBody>
          <a:bodyPr/>
          <a:lstStyle/>
          <a:p>
            <a:fld id="{CD1E35B7-D1A3-FA48-9136-E65B2C08304D}" type="slidenum">
              <a:rPr lang="en-US" smtClean="0"/>
              <a:t>‹#›</a:t>
            </a:fld>
            <a:endParaRPr lang="en-US"/>
          </a:p>
        </p:txBody>
      </p:sp>
    </p:spTree>
    <p:extLst>
      <p:ext uri="{BB962C8B-B14F-4D97-AF65-F5344CB8AC3E}">
        <p14:creationId xmlns:p14="http://schemas.microsoft.com/office/powerpoint/2010/main" val="32684810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19D88D-91FB-9C15-8A6A-169FC239A355}"/>
              </a:ext>
            </a:extLst>
          </p:cNvPr>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a:extLst>
              <a:ext uri="{FF2B5EF4-FFF2-40B4-BE49-F238E27FC236}">
                <a16:creationId xmlns:a16="http://schemas.microsoft.com/office/drawing/2014/main" id="{C298C644-9EAB-286C-9D20-C383922C49B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a:extLst>
              <a:ext uri="{FF2B5EF4-FFF2-40B4-BE49-F238E27FC236}">
                <a16:creationId xmlns:a16="http://schemas.microsoft.com/office/drawing/2014/main" id="{92BC56BC-D659-830F-3A76-5BB988EAAA8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a:extLst>
              <a:ext uri="{FF2B5EF4-FFF2-40B4-BE49-F238E27FC236}">
                <a16:creationId xmlns:a16="http://schemas.microsoft.com/office/drawing/2014/main" id="{B45AD851-A8CC-14F7-9E06-C50619BCA366}"/>
              </a:ext>
            </a:extLst>
          </p:cNvPr>
          <p:cNvSpPr>
            <a:spLocks noGrp="1"/>
          </p:cNvSpPr>
          <p:nvPr>
            <p:ph type="dt" sz="half" idx="10"/>
          </p:nvPr>
        </p:nvSpPr>
        <p:spPr/>
        <p:txBody>
          <a:bodyPr/>
          <a:lstStyle/>
          <a:p>
            <a:fld id="{30B7B0CA-7F1D-7440-BF86-78A318A6FD35}" type="datetimeFigureOut">
              <a:rPr lang="en-US" smtClean="0"/>
              <a:t>4/2/2026</a:t>
            </a:fld>
            <a:endParaRPr lang="en-US"/>
          </a:p>
        </p:txBody>
      </p:sp>
      <p:sp>
        <p:nvSpPr>
          <p:cNvPr id="6" name="Footer Placeholder 5">
            <a:extLst>
              <a:ext uri="{FF2B5EF4-FFF2-40B4-BE49-F238E27FC236}">
                <a16:creationId xmlns:a16="http://schemas.microsoft.com/office/drawing/2014/main" id="{478CC1A1-6D99-CF83-3D14-7B7984A769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5CC82D1-29F8-6B10-A341-2799BA66AB3F}"/>
              </a:ext>
            </a:extLst>
          </p:cNvPr>
          <p:cNvSpPr>
            <a:spLocks noGrp="1"/>
          </p:cNvSpPr>
          <p:nvPr>
            <p:ph type="sldNum" sz="quarter" idx="12"/>
          </p:nvPr>
        </p:nvSpPr>
        <p:spPr/>
        <p:txBody>
          <a:bodyPr/>
          <a:lstStyle/>
          <a:p>
            <a:fld id="{CD1E35B7-D1A3-FA48-9136-E65B2C08304D}" type="slidenum">
              <a:rPr lang="en-US" smtClean="0"/>
              <a:t>‹#›</a:t>
            </a:fld>
            <a:endParaRPr lang="en-US"/>
          </a:p>
        </p:txBody>
      </p:sp>
    </p:spTree>
    <p:extLst>
      <p:ext uri="{BB962C8B-B14F-4D97-AF65-F5344CB8AC3E}">
        <p14:creationId xmlns:p14="http://schemas.microsoft.com/office/powerpoint/2010/main" val="21716544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68C3D1-8316-934C-6FCE-EC7E53C743D5}"/>
              </a:ext>
            </a:extLst>
          </p:cNvPr>
          <p:cNvSpPr>
            <a:spLocks noGrp="1"/>
          </p:cNvSpPr>
          <p:nvPr>
            <p:ph type="title"/>
          </p:nvPr>
        </p:nvSpPr>
        <p:spPr/>
        <p:txBody>
          <a:bodyPr/>
          <a:lstStyle/>
          <a:p>
            <a:r>
              <a:rPr lang="en-US" smtClean="0"/>
              <a:t>Click to edit Master title style</a:t>
            </a:r>
            <a:endParaRPr lang="en-US"/>
          </a:p>
        </p:txBody>
      </p:sp>
      <p:sp>
        <p:nvSpPr>
          <p:cNvPr id="3" name="Vertical Text Placeholder 2">
            <a:extLst>
              <a:ext uri="{FF2B5EF4-FFF2-40B4-BE49-F238E27FC236}">
                <a16:creationId xmlns:a16="http://schemas.microsoft.com/office/drawing/2014/main" id="{400DCA6C-1811-6E5B-9D7A-CFB13BAB234F}"/>
              </a:ext>
            </a:extLst>
          </p:cNvPr>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a:extLst>
              <a:ext uri="{FF2B5EF4-FFF2-40B4-BE49-F238E27FC236}">
                <a16:creationId xmlns:a16="http://schemas.microsoft.com/office/drawing/2014/main" id="{88B7F17C-55F6-C6D8-A3AA-852FACE03ADC}"/>
              </a:ext>
            </a:extLst>
          </p:cNvPr>
          <p:cNvSpPr>
            <a:spLocks noGrp="1"/>
          </p:cNvSpPr>
          <p:nvPr>
            <p:ph type="dt" sz="half" idx="10"/>
          </p:nvPr>
        </p:nvSpPr>
        <p:spPr/>
        <p:txBody>
          <a:bodyPr/>
          <a:lstStyle/>
          <a:p>
            <a:fld id="{30B7B0CA-7F1D-7440-BF86-78A318A6FD35}" type="datetimeFigureOut">
              <a:rPr lang="en-US" smtClean="0"/>
              <a:t>4/2/2026</a:t>
            </a:fld>
            <a:endParaRPr lang="en-US"/>
          </a:p>
        </p:txBody>
      </p:sp>
      <p:sp>
        <p:nvSpPr>
          <p:cNvPr id="5" name="Footer Placeholder 4">
            <a:extLst>
              <a:ext uri="{FF2B5EF4-FFF2-40B4-BE49-F238E27FC236}">
                <a16:creationId xmlns:a16="http://schemas.microsoft.com/office/drawing/2014/main" id="{CC64D567-A274-009B-C5C9-D5BC50D859B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C148F02-32B7-DE2D-6644-DDBD450548A1}"/>
              </a:ext>
            </a:extLst>
          </p:cNvPr>
          <p:cNvSpPr>
            <a:spLocks noGrp="1"/>
          </p:cNvSpPr>
          <p:nvPr>
            <p:ph type="sldNum" sz="quarter" idx="12"/>
          </p:nvPr>
        </p:nvSpPr>
        <p:spPr/>
        <p:txBody>
          <a:bodyPr/>
          <a:lstStyle/>
          <a:p>
            <a:fld id="{CD1E35B7-D1A3-FA48-9136-E65B2C08304D}" type="slidenum">
              <a:rPr lang="en-US" smtClean="0"/>
              <a:t>‹#›</a:t>
            </a:fld>
            <a:endParaRPr lang="en-US"/>
          </a:p>
        </p:txBody>
      </p:sp>
    </p:spTree>
    <p:extLst>
      <p:ext uri="{BB962C8B-B14F-4D97-AF65-F5344CB8AC3E}">
        <p14:creationId xmlns:p14="http://schemas.microsoft.com/office/powerpoint/2010/main" val="1703021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3AFADF4-3009-998F-AB58-F303A1B95A66}"/>
              </a:ext>
            </a:extLst>
          </p:cNvPr>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a:extLst>
              <a:ext uri="{FF2B5EF4-FFF2-40B4-BE49-F238E27FC236}">
                <a16:creationId xmlns:a16="http://schemas.microsoft.com/office/drawing/2014/main" id="{BEE358A0-7843-12D9-EE79-1C71348AFDFC}"/>
              </a:ext>
            </a:extLst>
          </p:cNvPr>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a:extLst>
              <a:ext uri="{FF2B5EF4-FFF2-40B4-BE49-F238E27FC236}">
                <a16:creationId xmlns:a16="http://schemas.microsoft.com/office/drawing/2014/main" id="{137B726E-DAB2-2FB7-3496-800113CEC606}"/>
              </a:ext>
            </a:extLst>
          </p:cNvPr>
          <p:cNvSpPr>
            <a:spLocks noGrp="1"/>
          </p:cNvSpPr>
          <p:nvPr>
            <p:ph type="dt" sz="half" idx="10"/>
          </p:nvPr>
        </p:nvSpPr>
        <p:spPr/>
        <p:txBody>
          <a:bodyPr/>
          <a:lstStyle/>
          <a:p>
            <a:fld id="{30B7B0CA-7F1D-7440-BF86-78A318A6FD35}" type="datetimeFigureOut">
              <a:rPr lang="en-US" smtClean="0"/>
              <a:t>4/2/2026</a:t>
            </a:fld>
            <a:endParaRPr lang="en-US"/>
          </a:p>
        </p:txBody>
      </p:sp>
      <p:sp>
        <p:nvSpPr>
          <p:cNvPr id="5" name="Footer Placeholder 4">
            <a:extLst>
              <a:ext uri="{FF2B5EF4-FFF2-40B4-BE49-F238E27FC236}">
                <a16:creationId xmlns:a16="http://schemas.microsoft.com/office/drawing/2014/main" id="{586D6295-25E1-1251-4642-3910385275E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54A1BF9-D6C7-DAE1-C614-8CB98DA0C28F}"/>
              </a:ext>
            </a:extLst>
          </p:cNvPr>
          <p:cNvSpPr>
            <a:spLocks noGrp="1"/>
          </p:cNvSpPr>
          <p:nvPr>
            <p:ph type="sldNum" sz="quarter" idx="12"/>
          </p:nvPr>
        </p:nvSpPr>
        <p:spPr/>
        <p:txBody>
          <a:bodyPr/>
          <a:lstStyle/>
          <a:p>
            <a:fld id="{CD1E35B7-D1A3-FA48-9136-E65B2C08304D}" type="slidenum">
              <a:rPr lang="en-US" smtClean="0"/>
              <a:t>‹#›</a:t>
            </a:fld>
            <a:endParaRPr lang="en-US"/>
          </a:p>
        </p:txBody>
      </p:sp>
    </p:spTree>
    <p:extLst>
      <p:ext uri="{BB962C8B-B14F-4D97-AF65-F5344CB8AC3E}">
        <p14:creationId xmlns:p14="http://schemas.microsoft.com/office/powerpoint/2010/main" val="13605880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B05BE02-6075-4A94-5B95-AD21ADA81D4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a:extLst>
              <a:ext uri="{FF2B5EF4-FFF2-40B4-BE49-F238E27FC236}">
                <a16:creationId xmlns:a16="http://schemas.microsoft.com/office/drawing/2014/main" id="{0A705271-5EBA-2F49-618C-DC81BD18E37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a:extLst>
              <a:ext uri="{FF2B5EF4-FFF2-40B4-BE49-F238E27FC236}">
                <a16:creationId xmlns:a16="http://schemas.microsoft.com/office/drawing/2014/main" id="{44B8F3C2-10B5-CD33-9F2E-FC974C78C0C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0B7B0CA-7F1D-7440-BF86-78A318A6FD35}" type="datetimeFigureOut">
              <a:rPr lang="en-US" smtClean="0"/>
              <a:t>4/2/2026</a:t>
            </a:fld>
            <a:endParaRPr lang="en-US"/>
          </a:p>
        </p:txBody>
      </p:sp>
      <p:sp>
        <p:nvSpPr>
          <p:cNvPr id="5" name="Footer Placeholder 4">
            <a:extLst>
              <a:ext uri="{FF2B5EF4-FFF2-40B4-BE49-F238E27FC236}">
                <a16:creationId xmlns:a16="http://schemas.microsoft.com/office/drawing/2014/main" id="{1A4173F1-0847-1BA0-F40A-4ED2D93106A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355FD84E-E40C-73B8-7FB2-5206E969AA0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D1E35B7-D1A3-FA48-9136-E65B2C08304D}" type="slidenum">
              <a:rPr lang="en-US" smtClean="0"/>
              <a:t>‹#›</a:t>
            </a:fld>
            <a:endParaRPr lang="en-US"/>
          </a:p>
        </p:txBody>
      </p:sp>
    </p:spTree>
    <p:extLst>
      <p:ext uri="{BB962C8B-B14F-4D97-AF65-F5344CB8AC3E}">
        <p14:creationId xmlns:p14="http://schemas.microsoft.com/office/powerpoint/2010/main" val="5966516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25.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2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A71898F-4D0F-919F-D69B-72879BA74619}"/>
              </a:ext>
            </a:extLst>
          </p:cNvPr>
          <p:cNvSpPr/>
          <p:nvPr/>
        </p:nvSpPr>
        <p:spPr>
          <a:xfrm>
            <a:off x="3357250" y="0"/>
            <a:ext cx="8834750" cy="6858000"/>
          </a:xfrm>
          <a:prstGeom prst="rect">
            <a:avLst/>
          </a:prstGeom>
          <a:solidFill>
            <a:srgbClr val="F3E4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181F9501-4654-8CF0-CEF7-2697A05CB704}"/>
              </a:ext>
            </a:extLst>
          </p:cNvPr>
          <p:cNvPicPr>
            <a:picLocks noChangeAspect="1"/>
          </p:cNvPicPr>
          <p:nvPr/>
        </p:nvPicPr>
        <p:blipFill>
          <a:blip r:embed="rId3"/>
          <a:stretch>
            <a:fillRect/>
          </a:stretch>
        </p:blipFill>
        <p:spPr>
          <a:xfrm>
            <a:off x="237500" y="2004002"/>
            <a:ext cx="2849993" cy="2849993"/>
          </a:xfrm>
          <a:prstGeom prst="rect">
            <a:avLst/>
          </a:prstGeom>
        </p:spPr>
      </p:pic>
      <p:sp>
        <p:nvSpPr>
          <p:cNvPr id="2" name="Title 1">
            <a:extLst>
              <a:ext uri="{FF2B5EF4-FFF2-40B4-BE49-F238E27FC236}">
                <a16:creationId xmlns:a16="http://schemas.microsoft.com/office/drawing/2014/main" id="{01BD3775-4F06-3D6F-F872-CC0186454DBE}"/>
              </a:ext>
            </a:extLst>
          </p:cNvPr>
          <p:cNvSpPr>
            <a:spLocks noGrp="1"/>
          </p:cNvSpPr>
          <p:nvPr>
            <p:ph type="ctrTitle"/>
          </p:nvPr>
        </p:nvSpPr>
        <p:spPr>
          <a:xfrm>
            <a:off x="4263240" y="3238570"/>
            <a:ext cx="7190509" cy="1437719"/>
          </a:xfrm>
        </p:spPr>
        <p:txBody>
          <a:bodyPr>
            <a:normAutofit fontScale="90000"/>
          </a:bodyPr>
          <a:lstStyle/>
          <a:p>
            <a:r>
              <a:rPr lang="en-US" sz="7200" dirty="0" smtClean="0"/>
              <a:t>Putting </a:t>
            </a:r>
            <a:r>
              <a:rPr lang="en-US" sz="7200" dirty="0"/>
              <a:t>Privacy First:</a:t>
            </a:r>
            <a:br>
              <a:rPr lang="en-US" sz="7200" dirty="0"/>
            </a:br>
            <a:r>
              <a:rPr lang="en-US" sz="7200" dirty="0"/>
              <a:t>Making Due with Less Data</a:t>
            </a:r>
            <a:br>
              <a:rPr lang="en-US" sz="7200" dirty="0"/>
            </a:br>
            <a:endParaRPr lang="en-US" sz="7200" dirty="0">
              <a:solidFill>
                <a:srgbClr val="00223D"/>
              </a:solidFill>
            </a:endParaRPr>
          </a:p>
        </p:txBody>
      </p:sp>
      <p:sp>
        <p:nvSpPr>
          <p:cNvPr id="6" name="Subtitle 5">
            <a:extLst>
              <a:ext uri="{FF2B5EF4-FFF2-40B4-BE49-F238E27FC236}">
                <a16:creationId xmlns:a16="http://schemas.microsoft.com/office/drawing/2014/main" id="{D6138A63-B70F-BF2F-B517-91379908FA8D}"/>
              </a:ext>
            </a:extLst>
          </p:cNvPr>
          <p:cNvSpPr>
            <a:spLocks noGrp="1"/>
          </p:cNvSpPr>
          <p:nvPr>
            <p:ph type="subTitle" idx="1"/>
          </p:nvPr>
        </p:nvSpPr>
        <p:spPr>
          <a:xfrm>
            <a:off x="4997485" y="3957429"/>
            <a:ext cx="5722018" cy="1036122"/>
          </a:xfrm>
        </p:spPr>
        <p:txBody>
          <a:bodyPr>
            <a:noAutofit/>
          </a:bodyPr>
          <a:lstStyle/>
          <a:p>
            <a:r>
              <a:rPr lang="en-US" kern="0" dirty="0">
                <a:latin typeface="+mj-lt"/>
                <a:cs typeface="Times New Roman" pitchFamily="18" charset="0"/>
              </a:rPr>
              <a:t>Jeremy Goldstein</a:t>
            </a:r>
          </a:p>
          <a:p>
            <a:r>
              <a:rPr lang="en-US" kern="0" dirty="0">
                <a:latin typeface="+mj-lt"/>
                <a:cs typeface="Times New Roman" pitchFamily="18" charset="0"/>
              </a:rPr>
              <a:t>Minuteman Library Network</a:t>
            </a:r>
          </a:p>
          <a:p>
            <a:r>
              <a:rPr lang="en-US" kern="0" dirty="0">
                <a:latin typeface="+mj-lt"/>
                <a:cs typeface="Times New Roman" pitchFamily="18" charset="0"/>
              </a:rPr>
              <a:t>jgoldstein@minlib.net</a:t>
            </a:r>
            <a:endParaRPr lang="en-US" dirty="0">
              <a:solidFill>
                <a:srgbClr val="00223D"/>
              </a:solidFill>
              <a:latin typeface="+mj-lt"/>
            </a:endParaRPr>
          </a:p>
        </p:txBody>
      </p:sp>
    </p:spTree>
    <p:extLst>
      <p:ext uri="{BB962C8B-B14F-4D97-AF65-F5344CB8AC3E}">
        <p14:creationId xmlns:p14="http://schemas.microsoft.com/office/powerpoint/2010/main" val="15421377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4DE5AA96-A1E2-424B-B98F-DF321364C02F}"/>
              </a:ext>
            </a:extLst>
          </p:cNvPr>
          <p:cNvSpPr>
            <a:spLocks noGrp="1"/>
          </p:cNvSpPr>
          <p:nvPr>
            <p:ph type="title"/>
          </p:nvPr>
        </p:nvSpPr>
        <p:spPr/>
        <p:txBody>
          <a:bodyPr/>
          <a:lstStyle/>
          <a:p>
            <a:r>
              <a:rPr lang="en-US" dirty="0"/>
              <a:t>Massachusetts Law</a:t>
            </a:r>
            <a:endParaRPr lang="en-US" dirty="0">
              <a:solidFill>
                <a:srgbClr val="00223D"/>
              </a:solidFill>
            </a:endParaRPr>
          </a:p>
        </p:txBody>
      </p:sp>
      <p:sp>
        <p:nvSpPr>
          <p:cNvPr id="5" name="Rectangle 4">
            <a:extLst>
              <a:ext uri="{FF2B5EF4-FFF2-40B4-BE49-F238E27FC236}">
                <a16:creationId xmlns:a16="http://schemas.microsoft.com/office/drawing/2014/main" id="{8B506853-5B7D-556D-60A7-9B2A966C3921}"/>
              </a:ext>
            </a:extLst>
          </p:cNvPr>
          <p:cNvSpPr/>
          <p:nvPr/>
        </p:nvSpPr>
        <p:spPr>
          <a:xfrm>
            <a:off x="0" y="5873519"/>
            <a:ext cx="12192000" cy="984482"/>
          </a:xfrm>
          <a:prstGeom prst="rect">
            <a:avLst/>
          </a:prstGeom>
          <a:solidFill>
            <a:srgbClr val="F3E4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a:extLst>
              <a:ext uri="{FF2B5EF4-FFF2-40B4-BE49-F238E27FC236}">
                <a16:creationId xmlns:a16="http://schemas.microsoft.com/office/drawing/2014/main" id="{23E69FC6-D07E-8774-63E8-736E5F5FCD55}"/>
              </a:ext>
            </a:extLst>
          </p:cNvPr>
          <p:cNvPicPr>
            <a:picLocks noChangeAspect="1"/>
          </p:cNvPicPr>
          <p:nvPr/>
        </p:nvPicPr>
        <p:blipFill>
          <a:blip r:embed="rId3"/>
          <a:stretch>
            <a:fillRect/>
          </a:stretch>
        </p:blipFill>
        <p:spPr>
          <a:xfrm>
            <a:off x="11266948" y="5945786"/>
            <a:ext cx="850338" cy="850338"/>
          </a:xfrm>
          <a:prstGeom prst="rect">
            <a:avLst/>
          </a:prstGeom>
        </p:spPr>
      </p:pic>
      <p:sp>
        <p:nvSpPr>
          <p:cNvPr id="24" name="Content Placeholder 23">
            <a:extLst>
              <a:ext uri="{FF2B5EF4-FFF2-40B4-BE49-F238E27FC236}">
                <a16:creationId xmlns:a16="http://schemas.microsoft.com/office/drawing/2014/main" id="{295C7490-2FDB-B74A-C31E-269BB0BEE80A}"/>
              </a:ext>
            </a:extLst>
          </p:cNvPr>
          <p:cNvSpPr>
            <a:spLocks noGrp="1"/>
          </p:cNvSpPr>
          <p:nvPr>
            <p:ph idx="1"/>
          </p:nvPr>
        </p:nvSpPr>
        <p:spPr/>
        <p:txBody>
          <a:bodyPr/>
          <a:lstStyle/>
          <a:p>
            <a:pPr marL="0" indent="0">
              <a:buNone/>
            </a:pPr>
            <a:r>
              <a:rPr lang="en-US" dirty="0"/>
              <a:t>That part of the records of a public library which reveals the identity and intellectual pursuits of a person using such library shall not be a public record as defined by clause Twenty-sixth of section seven of chapter four.</a:t>
            </a:r>
          </a:p>
          <a:p>
            <a:pPr marL="400050" lvl="1" indent="0">
              <a:buNone/>
            </a:pPr>
            <a:endParaRPr lang="en-US" dirty="0" smtClean="0"/>
          </a:p>
          <a:p>
            <a:pPr marL="400050" lvl="1" indent="0">
              <a:buNone/>
            </a:pPr>
            <a:r>
              <a:rPr lang="en-US" dirty="0" smtClean="0"/>
              <a:t>-</a:t>
            </a:r>
            <a:r>
              <a:rPr lang="en-US" dirty="0"/>
              <a:t>Massachusetts General Laws Chapter 78, Section 7</a:t>
            </a:r>
          </a:p>
          <a:p>
            <a:pPr marL="0" indent="0">
              <a:buNone/>
            </a:pPr>
            <a:endParaRPr lang="en-US" dirty="0"/>
          </a:p>
        </p:txBody>
      </p:sp>
    </p:spTree>
    <p:extLst>
      <p:ext uri="{BB962C8B-B14F-4D97-AF65-F5344CB8AC3E}">
        <p14:creationId xmlns:p14="http://schemas.microsoft.com/office/powerpoint/2010/main" val="15924897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8B506853-5B7D-556D-60A7-9B2A966C3921}"/>
              </a:ext>
            </a:extLst>
          </p:cNvPr>
          <p:cNvSpPr/>
          <p:nvPr/>
        </p:nvSpPr>
        <p:spPr>
          <a:xfrm>
            <a:off x="0" y="2483931"/>
            <a:ext cx="12192000" cy="1278771"/>
          </a:xfrm>
          <a:prstGeom prst="rect">
            <a:avLst/>
          </a:prstGeom>
          <a:solidFill>
            <a:srgbClr val="F3E4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dirty="0">
              <a:solidFill>
                <a:srgbClr val="263842"/>
              </a:solidFill>
            </a:endParaRPr>
          </a:p>
        </p:txBody>
      </p:sp>
      <p:sp>
        <p:nvSpPr>
          <p:cNvPr id="24" name="Content Placeholder 23">
            <a:extLst>
              <a:ext uri="{FF2B5EF4-FFF2-40B4-BE49-F238E27FC236}">
                <a16:creationId xmlns:a16="http://schemas.microsoft.com/office/drawing/2014/main" id="{295C7490-2FDB-B74A-C31E-269BB0BEE80A}"/>
              </a:ext>
            </a:extLst>
          </p:cNvPr>
          <p:cNvSpPr>
            <a:spLocks noGrp="1"/>
          </p:cNvSpPr>
          <p:nvPr>
            <p:ph idx="1"/>
          </p:nvPr>
        </p:nvSpPr>
        <p:spPr>
          <a:xfrm>
            <a:off x="346841" y="1376856"/>
            <a:ext cx="11006959" cy="4866290"/>
          </a:xfrm>
        </p:spPr>
        <p:txBody>
          <a:bodyPr>
            <a:noAutofit/>
          </a:bodyPr>
          <a:lstStyle/>
          <a:p>
            <a:pPr marL="0" indent="0">
              <a:buNone/>
            </a:pPr>
            <a:r>
              <a:rPr lang="en-US" sz="1600" dirty="0"/>
              <a:t>This law extends to circulation records (borrowing records, registration records, reserves or fine records), information sought or received, materials consulted, interlibrary loan transactions, registration records, database search records, reference interviews, or any other personally identifiable uses of library materials, facilities or services of its patrons.  In accordance with this law, the Somerville Public Library will not disclose or make available any circulation information, registration information, or information retrieval records in response to any inquiry except</a:t>
            </a:r>
          </a:p>
          <a:p>
            <a:pPr marL="514350" indent="-514350">
              <a:buFont typeface="+mj-lt"/>
              <a:buAutoNum type="arabicPeriod"/>
            </a:pPr>
            <a:r>
              <a:rPr lang="en-US" sz="1600" dirty="0"/>
              <a:t>To the cardholder (with library card or proper id</a:t>
            </a:r>
            <a:r>
              <a:rPr lang="en-US" sz="1600" dirty="0" smtClean="0"/>
              <a:t>). This </a:t>
            </a:r>
            <a:r>
              <a:rPr lang="en-US" sz="1600" dirty="0"/>
              <a:t>applies regardless of age or relationship, and staff is therefore restricted from disclosing information to the parents of minors when the minor has their own library card;</a:t>
            </a:r>
          </a:p>
          <a:p>
            <a:pPr marL="514350" indent="-514350">
              <a:buFont typeface="+mj-lt"/>
              <a:buAutoNum type="arabicPeriod"/>
            </a:pPr>
            <a:r>
              <a:rPr lang="en-US" sz="1600" dirty="0"/>
              <a:t>To persons authorized by the cardholder to access the </a:t>
            </a:r>
            <a:r>
              <a:rPr lang="en-US" sz="1600" dirty="0" smtClean="0"/>
              <a:t>individual</a:t>
            </a:r>
            <a:r>
              <a:rPr lang="en-US" sz="1600" dirty="0" smtClean="0">
                <a:latin typeface="Bahnschrift Condensed" panose="020B0502040204020203" pitchFamily="34" charset="0"/>
              </a:rPr>
              <a:t>’</a:t>
            </a:r>
            <a:r>
              <a:rPr lang="en-US" sz="1600" dirty="0" smtClean="0"/>
              <a:t>s </a:t>
            </a:r>
            <a:r>
              <a:rPr lang="en-US" sz="1600" dirty="0"/>
              <a:t>records by providing such persons with their physical library card or the </a:t>
            </a:r>
            <a:r>
              <a:rPr lang="en-US" sz="1600" dirty="0" smtClean="0"/>
              <a:t>card</a:t>
            </a:r>
            <a:r>
              <a:rPr lang="en-US" sz="1600" dirty="0">
                <a:latin typeface="Bahnschrift Condensed" panose="020B0502040204020203" pitchFamily="34" charset="0"/>
              </a:rPr>
              <a:t>’</a:t>
            </a:r>
            <a:r>
              <a:rPr lang="en-US" sz="1600" dirty="0" smtClean="0"/>
              <a:t>s </a:t>
            </a:r>
            <a:r>
              <a:rPr lang="en-US" sz="1600" dirty="0"/>
              <a:t>barcode scanned into their cell phone;</a:t>
            </a:r>
          </a:p>
          <a:p>
            <a:pPr marL="514350" indent="-514350">
              <a:buFont typeface="+mj-lt"/>
              <a:buAutoNum type="arabicPeriod"/>
            </a:pPr>
            <a:r>
              <a:rPr lang="en-US" sz="1600" dirty="0"/>
              <a:t>By library authorities acting within the scope of their duties for the purpose of interlibrary cooperation and coordination as authorized by M.G.L. c. 78, section 7; or</a:t>
            </a:r>
          </a:p>
          <a:p>
            <a:pPr marL="514350" indent="-514350">
              <a:buFont typeface="+mj-lt"/>
              <a:buAutoNum type="arabicPeriod"/>
            </a:pPr>
            <a:r>
              <a:rPr lang="en-US" sz="1600" dirty="0"/>
              <a:t>To representatives of any local, state, or federal government, pursuant to subpoena, order or search warrant authorized under the authority of federal, state, or local law relating to civil, criminal, or investigative power</a:t>
            </a:r>
            <a:r>
              <a:rPr lang="en-US" sz="1600" dirty="0" smtClean="0"/>
              <a:t>. Upon </a:t>
            </a:r>
            <a:r>
              <a:rPr lang="en-US" sz="1600" dirty="0"/>
              <a:t>receipt of any such subpoena, order or search warrant, the library administration will consult with legal counsel to determine if it is proper to release the requested confidential information.</a:t>
            </a:r>
          </a:p>
          <a:p>
            <a:pPr marL="0" indent="0">
              <a:buNone/>
            </a:pPr>
            <a:endParaRPr lang="en-US" sz="1600" dirty="0"/>
          </a:p>
        </p:txBody>
      </p:sp>
      <p:sp>
        <p:nvSpPr>
          <p:cNvPr id="12" name="Title 11">
            <a:extLst>
              <a:ext uri="{FF2B5EF4-FFF2-40B4-BE49-F238E27FC236}">
                <a16:creationId xmlns:a16="http://schemas.microsoft.com/office/drawing/2014/main" id="{4DE5AA96-A1E2-424B-B98F-DF321364C02F}"/>
              </a:ext>
            </a:extLst>
          </p:cNvPr>
          <p:cNvSpPr>
            <a:spLocks noGrp="1"/>
          </p:cNvSpPr>
          <p:nvPr>
            <p:ph type="title"/>
          </p:nvPr>
        </p:nvSpPr>
        <p:spPr/>
        <p:txBody>
          <a:bodyPr/>
          <a:lstStyle/>
          <a:p>
            <a:r>
              <a:rPr lang="en-US" dirty="0"/>
              <a:t>Policy Interpretation</a:t>
            </a:r>
            <a:endParaRPr lang="en-US" dirty="0">
              <a:solidFill>
                <a:srgbClr val="00223D"/>
              </a:solidFill>
            </a:endParaRPr>
          </a:p>
        </p:txBody>
      </p:sp>
      <p:sp>
        <p:nvSpPr>
          <p:cNvPr id="5" name="Rectangle 4">
            <a:extLst>
              <a:ext uri="{FF2B5EF4-FFF2-40B4-BE49-F238E27FC236}">
                <a16:creationId xmlns:a16="http://schemas.microsoft.com/office/drawing/2014/main" id="{8B506853-5B7D-556D-60A7-9B2A966C3921}"/>
              </a:ext>
            </a:extLst>
          </p:cNvPr>
          <p:cNvSpPr/>
          <p:nvPr/>
        </p:nvSpPr>
        <p:spPr>
          <a:xfrm>
            <a:off x="0" y="5873519"/>
            <a:ext cx="12192000" cy="984482"/>
          </a:xfrm>
          <a:prstGeom prst="rect">
            <a:avLst/>
          </a:prstGeom>
          <a:solidFill>
            <a:srgbClr val="F3E4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rgbClr val="263842"/>
                </a:solidFill>
              </a:rPr>
              <a:t>https://somervillepubliclibrary.org/library/policies/privacy-and-confidentiality/</a:t>
            </a:r>
          </a:p>
        </p:txBody>
      </p:sp>
      <p:pic>
        <p:nvPicPr>
          <p:cNvPr id="18" name="Picture 17">
            <a:extLst>
              <a:ext uri="{FF2B5EF4-FFF2-40B4-BE49-F238E27FC236}">
                <a16:creationId xmlns:a16="http://schemas.microsoft.com/office/drawing/2014/main" id="{23E69FC6-D07E-8774-63E8-736E5F5FCD55}"/>
              </a:ext>
            </a:extLst>
          </p:cNvPr>
          <p:cNvPicPr>
            <a:picLocks noChangeAspect="1"/>
          </p:cNvPicPr>
          <p:nvPr/>
        </p:nvPicPr>
        <p:blipFill>
          <a:blip r:embed="rId3"/>
          <a:stretch>
            <a:fillRect/>
          </a:stretch>
        </p:blipFill>
        <p:spPr>
          <a:xfrm>
            <a:off x="11266948" y="5945786"/>
            <a:ext cx="850338" cy="850338"/>
          </a:xfrm>
          <a:prstGeom prst="rect">
            <a:avLst/>
          </a:prstGeom>
        </p:spPr>
      </p:pic>
    </p:spTree>
    <p:extLst>
      <p:ext uri="{BB962C8B-B14F-4D97-AF65-F5344CB8AC3E}">
        <p14:creationId xmlns:p14="http://schemas.microsoft.com/office/powerpoint/2010/main" val="293040638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4DE5AA96-A1E2-424B-B98F-DF321364C02F}"/>
              </a:ext>
            </a:extLst>
          </p:cNvPr>
          <p:cNvSpPr>
            <a:spLocks noGrp="1"/>
          </p:cNvSpPr>
          <p:nvPr>
            <p:ph type="title"/>
          </p:nvPr>
        </p:nvSpPr>
        <p:spPr/>
        <p:txBody>
          <a:bodyPr/>
          <a:lstStyle/>
          <a:p>
            <a:r>
              <a:rPr lang="en-US" dirty="0" smtClean="0"/>
              <a:t>Massachusetts </a:t>
            </a:r>
            <a:r>
              <a:rPr lang="en-US" dirty="0"/>
              <a:t>Data Privacy Act</a:t>
            </a:r>
            <a:endParaRPr lang="en-US" dirty="0">
              <a:solidFill>
                <a:srgbClr val="00223D"/>
              </a:solidFill>
            </a:endParaRPr>
          </a:p>
        </p:txBody>
      </p:sp>
      <p:sp>
        <p:nvSpPr>
          <p:cNvPr id="5" name="Rectangle 4">
            <a:extLst>
              <a:ext uri="{FF2B5EF4-FFF2-40B4-BE49-F238E27FC236}">
                <a16:creationId xmlns:a16="http://schemas.microsoft.com/office/drawing/2014/main" id="{8B506853-5B7D-556D-60A7-9B2A966C3921}"/>
              </a:ext>
            </a:extLst>
          </p:cNvPr>
          <p:cNvSpPr/>
          <p:nvPr/>
        </p:nvSpPr>
        <p:spPr>
          <a:xfrm>
            <a:off x="0" y="5873519"/>
            <a:ext cx="12192000" cy="984482"/>
          </a:xfrm>
          <a:prstGeom prst="rect">
            <a:avLst/>
          </a:prstGeom>
          <a:solidFill>
            <a:srgbClr val="F3E4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a:extLst>
              <a:ext uri="{FF2B5EF4-FFF2-40B4-BE49-F238E27FC236}">
                <a16:creationId xmlns:a16="http://schemas.microsoft.com/office/drawing/2014/main" id="{23E69FC6-D07E-8774-63E8-736E5F5FCD55}"/>
              </a:ext>
            </a:extLst>
          </p:cNvPr>
          <p:cNvPicPr>
            <a:picLocks noChangeAspect="1"/>
          </p:cNvPicPr>
          <p:nvPr/>
        </p:nvPicPr>
        <p:blipFill>
          <a:blip r:embed="rId3"/>
          <a:stretch>
            <a:fillRect/>
          </a:stretch>
        </p:blipFill>
        <p:spPr>
          <a:xfrm>
            <a:off x="11266948" y="5945786"/>
            <a:ext cx="850338" cy="850338"/>
          </a:xfrm>
          <a:prstGeom prst="rect">
            <a:avLst/>
          </a:prstGeom>
        </p:spPr>
      </p:pic>
      <p:sp>
        <p:nvSpPr>
          <p:cNvPr id="24" name="Content Placeholder 23">
            <a:extLst>
              <a:ext uri="{FF2B5EF4-FFF2-40B4-BE49-F238E27FC236}">
                <a16:creationId xmlns:a16="http://schemas.microsoft.com/office/drawing/2014/main" id="{295C7490-2FDB-B74A-C31E-269BB0BEE80A}"/>
              </a:ext>
            </a:extLst>
          </p:cNvPr>
          <p:cNvSpPr>
            <a:spLocks noGrp="1"/>
          </p:cNvSpPr>
          <p:nvPr>
            <p:ph idx="1"/>
          </p:nvPr>
        </p:nvSpPr>
        <p:spPr/>
        <p:txBody>
          <a:bodyPr/>
          <a:lstStyle/>
          <a:p>
            <a:pPr marL="0" indent="0">
              <a:buNone/>
            </a:pPr>
            <a:r>
              <a:rPr lang="en-US" sz="1800" dirty="0"/>
              <a:t>Senate Bill S.2619 https://</a:t>
            </a:r>
            <a:r>
              <a:rPr lang="en-US" sz="1800" dirty="0" smtClean="0"/>
              <a:t>malegislature.gov/Bills/194/S2619</a:t>
            </a:r>
          </a:p>
          <a:p>
            <a:pPr marL="0" indent="0">
              <a:buNone/>
            </a:pPr>
            <a:r>
              <a:rPr lang="en-US" sz="1800" dirty="0"/>
              <a:t>House Bill H.4746 https://malegislature.gov/Bills/194/H4746</a:t>
            </a:r>
          </a:p>
          <a:p>
            <a:r>
              <a:rPr lang="en-US" sz="1800" dirty="0"/>
              <a:t>Data minimization first approach to privacy</a:t>
            </a:r>
          </a:p>
          <a:p>
            <a:pPr lvl="1"/>
            <a:r>
              <a:rPr lang="en-US" sz="1800" dirty="0"/>
              <a:t>Limit Data Collection to what is:</a:t>
            </a:r>
          </a:p>
          <a:p>
            <a:pPr lvl="2"/>
            <a:r>
              <a:rPr lang="en-US" sz="1800" dirty="0"/>
              <a:t>Reasonably necessary to provide services</a:t>
            </a:r>
          </a:p>
          <a:p>
            <a:pPr lvl="2"/>
            <a:r>
              <a:rPr lang="en-US" sz="1800" dirty="0"/>
              <a:t>Strictly necessary for sensitive personal data</a:t>
            </a:r>
          </a:p>
          <a:p>
            <a:r>
              <a:rPr lang="en-US" sz="1800" dirty="0"/>
              <a:t>Greatly expands on what is considered sensitive data</a:t>
            </a:r>
          </a:p>
          <a:p>
            <a:r>
              <a:rPr lang="en-US" sz="1800" dirty="0"/>
              <a:t>Ensures consumers have rights to view, correct and delete their data</a:t>
            </a:r>
          </a:p>
          <a:p>
            <a:r>
              <a:rPr lang="en-US" sz="1800" dirty="0"/>
              <a:t>Sets new requirements and penalties for compliance </a:t>
            </a:r>
          </a:p>
          <a:p>
            <a:pPr marL="0" indent="0">
              <a:buNone/>
            </a:pPr>
            <a:endParaRPr lang="en-US" dirty="0"/>
          </a:p>
        </p:txBody>
      </p:sp>
    </p:spTree>
    <p:extLst>
      <p:ext uri="{BB962C8B-B14F-4D97-AF65-F5344CB8AC3E}">
        <p14:creationId xmlns:p14="http://schemas.microsoft.com/office/powerpoint/2010/main" val="28916913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4DE5AA96-A1E2-424B-B98F-DF321364C02F}"/>
              </a:ext>
            </a:extLst>
          </p:cNvPr>
          <p:cNvSpPr>
            <a:spLocks noGrp="1"/>
          </p:cNvSpPr>
          <p:nvPr>
            <p:ph type="title"/>
          </p:nvPr>
        </p:nvSpPr>
        <p:spPr/>
        <p:txBody>
          <a:bodyPr/>
          <a:lstStyle/>
          <a:p>
            <a:r>
              <a:rPr lang="en-US" dirty="0"/>
              <a:t>Minuteman Standards</a:t>
            </a:r>
            <a:endParaRPr lang="en-US" dirty="0">
              <a:solidFill>
                <a:srgbClr val="00223D"/>
              </a:solidFill>
            </a:endParaRPr>
          </a:p>
        </p:txBody>
      </p:sp>
      <p:sp>
        <p:nvSpPr>
          <p:cNvPr id="5" name="Rectangle 4">
            <a:extLst>
              <a:ext uri="{FF2B5EF4-FFF2-40B4-BE49-F238E27FC236}">
                <a16:creationId xmlns:a16="http://schemas.microsoft.com/office/drawing/2014/main" id="{8B506853-5B7D-556D-60A7-9B2A966C3921}"/>
              </a:ext>
            </a:extLst>
          </p:cNvPr>
          <p:cNvSpPr/>
          <p:nvPr/>
        </p:nvSpPr>
        <p:spPr>
          <a:xfrm>
            <a:off x="0" y="5873519"/>
            <a:ext cx="12192000" cy="984482"/>
          </a:xfrm>
          <a:prstGeom prst="rect">
            <a:avLst/>
          </a:prstGeom>
          <a:solidFill>
            <a:srgbClr val="F3E4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a:extLst>
              <a:ext uri="{FF2B5EF4-FFF2-40B4-BE49-F238E27FC236}">
                <a16:creationId xmlns:a16="http://schemas.microsoft.com/office/drawing/2014/main" id="{23E69FC6-D07E-8774-63E8-736E5F5FCD55}"/>
              </a:ext>
            </a:extLst>
          </p:cNvPr>
          <p:cNvPicPr>
            <a:picLocks noChangeAspect="1"/>
          </p:cNvPicPr>
          <p:nvPr/>
        </p:nvPicPr>
        <p:blipFill>
          <a:blip r:embed="rId3"/>
          <a:stretch>
            <a:fillRect/>
          </a:stretch>
        </p:blipFill>
        <p:spPr>
          <a:xfrm>
            <a:off x="11266948" y="5945786"/>
            <a:ext cx="850338" cy="850338"/>
          </a:xfrm>
          <a:prstGeom prst="rect">
            <a:avLst/>
          </a:prstGeom>
        </p:spPr>
      </p:pic>
      <p:sp>
        <p:nvSpPr>
          <p:cNvPr id="24" name="Content Placeholder 23">
            <a:extLst>
              <a:ext uri="{FF2B5EF4-FFF2-40B4-BE49-F238E27FC236}">
                <a16:creationId xmlns:a16="http://schemas.microsoft.com/office/drawing/2014/main" id="{295C7490-2FDB-B74A-C31E-269BB0BEE80A}"/>
              </a:ext>
            </a:extLst>
          </p:cNvPr>
          <p:cNvSpPr>
            <a:spLocks noGrp="1"/>
          </p:cNvSpPr>
          <p:nvPr>
            <p:ph idx="1"/>
          </p:nvPr>
        </p:nvSpPr>
        <p:spPr>
          <a:xfrm>
            <a:off x="838200" y="1626943"/>
            <a:ext cx="10515600" cy="4351338"/>
          </a:xfrm>
        </p:spPr>
        <p:txBody>
          <a:bodyPr>
            <a:normAutofit fontScale="92500" lnSpcReduction="10000"/>
          </a:bodyPr>
          <a:lstStyle/>
          <a:p>
            <a:r>
              <a:rPr lang="en-US" sz="2400" dirty="0"/>
              <a:t>5 Weeks </a:t>
            </a:r>
            <a:r>
              <a:rPr lang="en-US" sz="2400" dirty="0" err="1"/>
              <a:t>Circ</a:t>
            </a:r>
            <a:r>
              <a:rPr lang="en-US" sz="2400" dirty="0"/>
              <a:t> Transaction</a:t>
            </a:r>
          </a:p>
          <a:p>
            <a:pPr lvl="1"/>
            <a:r>
              <a:rPr lang="en-US" sz="2000" dirty="0"/>
              <a:t>Though we do use both </a:t>
            </a:r>
            <a:r>
              <a:rPr lang="en-US" sz="2000" dirty="0" err="1"/>
              <a:t>libraryIQ</a:t>
            </a:r>
            <a:r>
              <a:rPr lang="en-US" sz="2000" dirty="0"/>
              <a:t> and Decision Center</a:t>
            </a:r>
          </a:p>
          <a:p>
            <a:r>
              <a:rPr lang="en-US" sz="2400" dirty="0"/>
              <a:t>3 Months Fines Paid</a:t>
            </a:r>
          </a:p>
          <a:p>
            <a:r>
              <a:rPr lang="en-US" sz="2400" dirty="0"/>
              <a:t>3 months </a:t>
            </a:r>
            <a:r>
              <a:rPr lang="en-US" sz="2400" dirty="0" err="1"/>
              <a:t>lpatron</a:t>
            </a:r>
            <a:r>
              <a:rPr lang="en-US" sz="2400" dirty="0"/>
              <a:t> number in </a:t>
            </a:r>
            <a:r>
              <a:rPr lang="en-US" sz="2400" dirty="0" smtClean="0"/>
              <a:t>inactive items</a:t>
            </a:r>
          </a:p>
          <a:p>
            <a:r>
              <a:rPr lang="en-US" sz="2400" dirty="0" smtClean="0"/>
              <a:t>5 years inactive patrons, including outstanding bills</a:t>
            </a:r>
            <a:endParaRPr lang="en-US" sz="2400" dirty="0"/>
          </a:p>
          <a:p>
            <a:r>
              <a:rPr lang="en-US" sz="2400" dirty="0"/>
              <a:t>Do not use linked patron </a:t>
            </a:r>
            <a:r>
              <a:rPr lang="en-US" sz="2400" dirty="0" smtClean="0"/>
              <a:t>feature</a:t>
            </a:r>
          </a:p>
          <a:p>
            <a:r>
              <a:rPr lang="en-US" sz="2400" dirty="0" smtClean="0"/>
              <a:t>Do not use masquerade mode in Aspen</a:t>
            </a:r>
            <a:endParaRPr lang="en-US" sz="2400" dirty="0"/>
          </a:p>
          <a:p>
            <a:r>
              <a:rPr lang="en-US" sz="2400" dirty="0"/>
              <a:t>Removed gender </a:t>
            </a:r>
            <a:r>
              <a:rPr lang="en-US" sz="2400" dirty="0" smtClean="0"/>
              <a:t>field</a:t>
            </a:r>
            <a:endParaRPr lang="en-US" sz="2400" dirty="0"/>
          </a:p>
          <a:p>
            <a:r>
              <a:rPr lang="en-US" sz="2400" dirty="0" smtClean="0"/>
              <a:t>Many libraries omit birth dates</a:t>
            </a:r>
            <a:endParaRPr lang="en-US" sz="2000" dirty="0"/>
          </a:p>
          <a:p>
            <a:r>
              <a:rPr lang="en-US" sz="2400" dirty="0"/>
              <a:t>It was discussed if we really need addresses</a:t>
            </a:r>
          </a:p>
          <a:p>
            <a:pPr lvl="1"/>
            <a:r>
              <a:rPr lang="en-US" sz="2000" dirty="0"/>
              <a:t>We </a:t>
            </a:r>
            <a:r>
              <a:rPr lang="en-US" sz="2000" dirty="0" smtClean="0"/>
              <a:t>do</a:t>
            </a:r>
            <a:endParaRPr lang="en-US" sz="2000" dirty="0"/>
          </a:p>
        </p:txBody>
      </p:sp>
    </p:spTree>
    <p:extLst>
      <p:ext uri="{BB962C8B-B14F-4D97-AF65-F5344CB8AC3E}">
        <p14:creationId xmlns:p14="http://schemas.microsoft.com/office/powerpoint/2010/main" val="21130389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4DE5AA96-A1E2-424B-B98F-DF321364C02F}"/>
              </a:ext>
            </a:extLst>
          </p:cNvPr>
          <p:cNvSpPr>
            <a:spLocks noGrp="1"/>
          </p:cNvSpPr>
          <p:nvPr>
            <p:ph type="title"/>
          </p:nvPr>
        </p:nvSpPr>
        <p:spPr/>
        <p:txBody>
          <a:bodyPr/>
          <a:lstStyle/>
          <a:p>
            <a:r>
              <a:rPr lang="en-US" dirty="0"/>
              <a:t>And </a:t>
            </a:r>
            <a:r>
              <a:rPr lang="en-US" dirty="0" smtClean="0"/>
              <a:t>Yet...Data</a:t>
            </a:r>
            <a:endParaRPr lang="en-US" dirty="0">
              <a:solidFill>
                <a:srgbClr val="00223D"/>
              </a:solidFill>
            </a:endParaRPr>
          </a:p>
        </p:txBody>
      </p:sp>
      <p:sp>
        <p:nvSpPr>
          <p:cNvPr id="5" name="Rectangle 4">
            <a:extLst>
              <a:ext uri="{FF2B5EF4-FFF2-40B4-BE49-F238E27FC236}">
                <a16:creationId xmlns:a16="http://schemas.microsoft.com/office/drawing/2014/main" id="{8B506853-5B7D-556D-60A7-9B2A966C3921}"/>
              </a:ext>
            </a:extLst>
          </p:cNvPr>
          <p:cNvSpPr/>
          <p:nvPr/>
        </p:nvSpPr>
        <p:spPr>
          <a:xfrm>
            <a:off x="0" y="5873519"/>
            <a:ext cx="12192000" cy="984482"/>
          </a:xfrm>
          <a:prstGeom prst="rect">
            <a:avLst/>
          </a:prstGeom>
          <a:solidFill>
            <a:srgbClr val="F3E4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a:extLst>
              <a:ext uri="{FF2B5EF4-FFF2-40B4-BE49-F238E27FC236}">
                <a16:creationId xmlns:a16="http://schemas.microsoft.com/office/drawing/2014/main" id="{23E69FC6-D07E-8774-63E8-736E5F5FCD55}"/>
              </a:ext>
            </a:extLst>
          </p:cNvPr>
          <p:cNvPicPr>
            <a:picLocks noChangeAspect="1"/>
          </p:cNvPicPr>
          <p:nvPr/>
        </p:nvPicPr>
        <p:blipFill>
          <a:blip r:embed="rId3"/>
          <a:stretch>
            <a:fillRect/>
          </a:stretch>
        </p:blipFill>
        <p:spPr>
          <a:xfrm>
            <a:off x="11266948" y="5945786"/>
            <a:ext cx="850338" cy="850338"/>
          </a:xfrm>
          <a:prstGeom prst="rect">
            <a:avLst/>
          </a:prstGeom>
        </p:spPr>
      </p:pic>
      <p:pic>
        <p:nvPicPr>
          <p:cNvPr id="6" name="Picture 5"/>
          <p:cNvPicPr>
            <a:picLocks noChangeAspect="1"/>
          </p:cNvPicPr>
          <p:nvPr/>
        </p:nvPicPr>
        <p:blipFill>
          <a:blip r:embed="rId4"/>
          <a:stretch>
            <a:fillRect/>
          </a:stretch>
        </p:blipFill>
        <p:spPr>
          <a:xfrm>
            <a:off x="315077" y="1491654"/>
            <a:ext cx="4579700" cy="2966575"/>
          </a:xfrm>
          <a:prstGeom prst="rect">
            <a:avLst/>
          </a:prstGeom>
        </p:spPr>
      </p:pic>
      <p:pic>
        <p:nvPicPr>
          <p:cNvPr id="8" name="Picture 7"/>
          <p:cNvPicPr>
            <a:picLocks noChangeAspect="1"/>
          </p:cNvPicPr>
          <p:nvPr/>
        </p:nvPicPr>
        <p:blipFill>
          <a:blip r:embed="rId5"/>
          <a:stretch>
            <a:fillRect/>
          </a:stretch>
        </p:blipFill>
        <p:spPr>
          <a:xfrm>
            <a:off x="5031412" y="2717961"/>
            <a:ext cx="4264428" cy="3785535"/>
          </a:xfrm>
          <a:prstGeom prst="rect">
            <a:avLst/>
          </a:prstGeom>
        </p:spPr>
      </p:pic>
      <p:pic>
        <p:nvPicPr>
          <p:cNvPr id="9" name="Picture 8"/>
          <p:cNvPicPr>
            <a:picLocks noChangeAspect="1"/>
          </p:cNvPicPr>
          <p:nvPr/>
        </p:nvPicPr>
        <p:blipFill>
          <a:blip r:embed="rId6"/>
          <a:stretch>
            <a:fillRect/>
          </a:stretch>
        </p:blipFill>
        <p:spPr>
          <a:xfrm>
            <a:off x="7672884" y="3883140"/>
            <a:ext cx="4444402" cy="1962615"/>
          </a:xfrm>
          <a:prstGeom prst="rect">
            <a:avLst/>
          </a:prstGeom>
          <a:effectLst>
            <a:outerShdw blurRad="63500" sx="102000" sy="102000" algn="ctr" rotWithShape="0">
              <a:prstClr val="black">
                <a:alpha val="40000"/>
              </a:prstClr>
            </a:outerShdw>
          </a:effectLst>
        </p:spPr>
      </p:pic>
      <p:pic>
        <p:nvPicPr>
          <p:cNvPr id="10" name="Picture 9"/>
          <p:cNvPicPr>
            <a:picLocks noChangeAspect="1"/>
          </p:cNvPicPr>
          <p:nvPr/>
        </p:nvPicPr>
        <p:blipFill>
          <a:blip r:embed="rId7"/>
          <a:stretch>
            <a:fillRect/>
          </a:stretch>
        </p:blipFill>
        <p:spPr>
          <a:xfrm>
            <a:off x="136639" y="4846246"/>
            <a:ext cx="6690483" cy="1859497"/>
          </a:xfrm>
          <a:prstGeom prst="rect">
            <a:avLst/>
          </a:prstGeom>
          <a:effectLst>
            <a:outerShdw blurRad="63500" sx="102000" sy="102000" algn="ctr" rotWithShape="0">
              <a:prstClr val="black">
                <a:alpha val="40000"/>
              </a:prstClr>
            </a:outerShdw>
          </a:effectLst>
        </p:spPr>
      </p:pic>
      <p:pic>
        <p:nvPicPr>
          <p:cNvPr id="7" name="Picture 6"/>
          <p:cNvPicPr>
            <a:picLocks noChangeAspect="1"/>
          </p:cNvPicPr>
          <p:nvPr/>
        </p:nvPicPr>
        <p:blipFill>
          <a:blip r:embed="rId8"/>
          <a:stretch>
            <a:fillRect/>
          </a:stretch>
        </p:blipFill>
        <p:spPr>
          <a:xfrm>
            <a:off x="6707270" y="1059629"/>
            <a:ext cx="5348931" cy="2038152"/>
          </a:xfrm>
          <a:prstGeom prst="rect">
            <a:avLst/>
          </a:prstGeom>
        </p:spPr>
      </p:pic>
    </p:spTree>
    <p:extLst>
      <p:ext uri="{BB962C8B-B14F-4D97-AF65-F5344CB8AC3E}">
        <p14:creationId xmlns:p14="http://schemas.microsoft.com/office/powerpoint/2010/main" val="29809232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4DE5AA96-A1E2-424B-B98F-DF321364C02F}"/>
              </a:ext>
            </a:extLst>
          </p:cNvPr>
          <p:cNvSpPr>
            <a:spLocks noGrp="1"/>
          </p:cNvSpPr>
          <p:nvPr>
            <p:ph type="title"/>
          </p:nvPr>
        </p:nvSpPr>
        <p:spPr/>
        <p:txBody>
          <a:bodyPr/>
          <a:lstStyle/>
          <a:p>
            <a:r>
              <a:rPr lang="en-US" dirty="0"/>
              <a:t>Approach</a:t>
            </a:r>
            <a:endParaRPr lang="en-US" dirty="0">
              <a:solidFill>
                <a:srgbClr val="00223D"/>
              </a:solidFill>
            </a:endParaRPr>
          </a:p>
        </p:txBody>
      </p:sp>
      <p:sp>
        <p:nvSpPr>
          <p:cNvPr id="5" name="Rectangle 4">
            <a:extLst>
              <a:ext uri="{FF2B5EF4-FFF2-40B4-BE49-F238E27FC236}">
                <a16:creationId xmlns:a16="http://schemas.microsoft.com/office/drawing/2014/main" id="{8B506853-5B7D-556D-60A7-9B2A966C3921}"/>
              </a:ext>
            </a:extLst>
          </p:cNvPr>
          <p:cNvSpPr/>
          <p:nvPr/>
        </p:nvSpPr>
        <p:spPr>
          <a:xfrm>
            <a:off x="0" y="5873519"/>
            <a:ext cx="12192000" cy="984482"/>
          </a:xfrm>
          <a:prstGeom prst="rect">
            <a:avLst/>
          </a:prstGeom>
          <a:solidFill>
            <a:srgbClr val="F3E4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a:extLst>
              <a:ext uri="{FF2B5EF4-FFF2-40B4-BE49-F238E27FC236}">
                <a16:creationId xmlns:a16="http://schemas.microsoft.com/office/drawing/2014/main" id="{23E69FC6-D07E-8774-63E8-736E5F5FCD55}"/>
              </a:ext>
            </a:extLst>
          </p:cNvPr>
          <p:cNvPicPr>
            <a:picLocks noChangeAspect="1"/>
          </p:cNvPicPr>
          <p:nvPr/>
        </p:nvPicPr>
        <p:blipFill>
          <a:blip r:embed="rId3"/>
          <a:stretch>
            <a:fillRect/>
          </a:stretch>
        </p:blipFill>
        <p:spPr>
          <a:xfrm>
            <a:off x="11266948" y="5945786"/>
            <a:ext cx="850338" cy="850338"/>
          </a:xfrm>
          <a:prstGeom prst="rect">
            <a:avLst/>
          </a:prstGeom>
        </p:spPr>
      </p:pic>
      <p:sp>
        <p:nvSpPr>
          <p:cNvPr id="24" name="Content Placeholder 23">
            <a:extLst>
              <a:ext uri="{FF2B5EF4-FFF2-40B4-BE49-F238E27FC236}">
                <a16:creationId xmlns:a16="http://schemas.microsoft.com/office/drawing/2014/main" id="{295C7490-2FDB-B74A-C31E-269BB0BEE80A}"/>
              </a:ext>
            </a:extLst>
          </p:cNvPr>
          <p:cNvSpPr>
            <a:spLocks noGrp="1"/>
          </p:cNvSpPr>
          <p:nvPr>
            <p:ph idx="1"/>
          </p:nvPr>
        </p:nvSpPr>
        <p:spPr/>
        <p:txBody>
          <a:bodyPr/>
          <a:lstStyle/>
          <a:p>
            <a:r>
              <a:rPr lang="en-US" dirty="0"/>
              <a:t>Data Minimization</a:t>
            </a:r>
          </a:p>
          <a:p>
            <a:pPr lvl="1"/>
            <a:r>
              <a:rPr lang="en-US" dirty="0"/>
              <a:t>Store the bare minimum long term</a:t>
            </a:r>
          </a:p>
          <a:p>
            <a:pPr lvl="1"/>
            <a:r>
              <a:rPr lang="en-US" dirty="0"/>
              <a:t>Aggregate what we can</a:t>
            </a:r>
          </a:p>
          <a:p>
            <a:pPr lvl="1"/>
            <a:r>
              <a:rPr lang="en-US" dirty="0"/>
              <a:t>Avoid patron details as much as possible</a:t>
            </a:r>
          </a:p>
          <a:p>
            <a:r>
              <a:rPr lang="en-US" dirty="0"/>
              <a:t>Access Minimization</a:t>
            </a:r>
          </a:p>
          <a:p>
            <a:pPr lvl="1"/>
            <a:r>
              <a:rPr lang="en-US" dirty="0"/>
              <a:t>Report tools separate user access from raw data</a:t>
            </a:r>
          </a:p>
          <a:p>
            <a:pPr lvl="1"/>
            <a:r>
              <a:rPr lang="en-US" dirty="0"/>
              <a:t>Limit third party access to everything</a:t>
            </a:r>
          </a:p>
          <a:p>
            <a:endParaRPr lang="en-US" dirty="0"/>
          </a:p>
        </p:txBody>
      </p:sp>
    </p:spTree>
    <p:extLst>
      <p:ext uri="{BB962C8B-B14F-4D97-AF65-F5344CB8AC3E}">
        <p14:creationId xmlns:p14="http://schemas.microsoft.com/office/powerpoint/2010/main" val="30546365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4DE5AA96-A1E2-424B-B98F-DF321364C02F}"/>
              </a:ext>
            </a:extLst>
          </p:cNvPr>
          <p:cNvSpPr>
            <a:spLocks noGrp="1"/>
          </p:cNvSpPr>
          <p:nvPr>
            <p:ph type="title"/>
          </p:nvPr>
        </p:nvSpPr>
        <p:spPr/>
        <p:txBody>
          <a:bodyPr/>
          <a:lstStyle/>
          <a:p>
            <a:r>
              <a:rPr lang="en-US" dirty="0"/>
              <a:t>What We </a:t>
            </a:r>
            <a:r>
              <a:rPr lang="en-US" dirty="0" smtClean="0"/>
              <a:t>Can</a:t>
            </a:r>
            <a:r>
              <a:rPr lang="en-US" dirty="0" smtClean="0">
                <a:latin typeface="Bahnschrift Condensed" panose="020B0502040204020203" pitchFamily="34" charset="0"/>
              </a:rPr>
              <a:t>’</a:t>
            </a:r>
            <a:r>
              <a:rPr lang="en-US" dirty="0" smtClean="0"/>
              <a:t>t </a:t>
            </a:r>
            <a:r>
              <a:rPr lang="en-US" dirty="0"/>
              <a:t>Answer</a:t>
            </a:r>
            <a:endParaRPr lang="en-US" dirty="0">
              <a:solidFill>
                <a:srgbClr val="00223D"/>
              </a:solidFill>
            </a:endParaRPr>
          </a:p>
        </p:txBody>
      </p:sp>
      <p:sp>
        <p:nvSpPr>
          <p:cNvPr id="5" name="Rectangle 4">
            <a:extLst>
              <a:ext uri="{FF2B5EF4-FFF2-40B4-BE49-F238E27FC236}">
                <a16:creationId xmlns:a16="http://schemas.microsoft.com/office/drawing/2014/main" id="{8B506853-5B7D-556D-60A7-9B2A966C3921}"/>
              </a:ext>
            </a:extLst>
          </p:cNvPr>
          <p:cNvSpPr/>
          <p:nvPr/>
        </p:nvSpPr>
        <p:spPr>
          <a:xfrm>
            <a:off x="0" y="5873519"/>
            <a:ext cx="12192000" cy="984482"/>
          </a:xfrm>
          <a:prstGeom prst="rect">
            <a:avLst/>
          </a:prstGeom>
          <a:solidFill>
            <a:srgbClr val="F3E4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a:extLst>
              <a:ext uri="{FF2B5EF4-FFF2-40B4-BE49-F238E27FC236}">
                <a16:creationId xmlns:a16="http://schemas.microsoft.com/office/drawing/2014/main" id="{23E69FC6-D07E-8774-63E8-736E5F5FCD55}"/>
              </a:ext>
            </a:extLst>
          </p:cNvPr>
          <p:cNvPicPr>
            <a:picLocks noChangeAspect="1"/>
          </p:cNvPicPr>
          <p:nvPr/>
        </p:nvPicPr>
        <p:blipFill>
          <a:blip r:embed="rId3"/>
          <a:stretch>
            <a:fillRect/>
          </a:stretch>
        </p:blipFill>
        <p:spPr>
          <a:xfrm>
            <a:off x="11266948" y="5945786"/>
            <a:ext cx="850338" cy="850338"/>
          </a:xfrm>
          <a:prstGeom prst="rect">
            <a:avLst/>
          </a:prstGeom>
        </p:spPr>
      </p:pic>
      <p:sp>
        <p:nvSpPr>
          <p:cNvPr id="24" name="Content Placeholder 23">
            <a:extLst>
              <a:ext uri="{FF2B5EF4-FFF2-40B4-BE49-F238E27FC236}">
                <a16:creationId xmlns:a16="http://schemas.microsoft.com/office/drawing/2014/main" id="{295C7490-2FDB-B74A-C31E-269BB0BEE80A}"/>
              </a:ext>
            </a:extLst>
          </p:cNvPr>
          <p:cNvSpPr>
            <a:spLocks noGrp="1"/>
          </p:cNvSpPr>
          <p:nvPr>
            <p:ph idx="1"/>
          </p:nvPr>
        </p:nvSpPr>
        <p:spPr/>
        <p:txBody>
          <a:bodyPr/>
          <a:lstStyle/>
          <a:p>
            <a:r>
              <a:rPr lang="en-US" dirty="0"/>
              <a:t>How many times did a patron come to the library in the last year?</a:t>
            </a:r>
          </a:p>
          <a:p>
            <a:r>
              <a:rPr lang="en-US" dirty="0"/>
              <a:t>Which patrons have been the heaviest users of our hotspots?</a:t>
            </a:r>
          </a:p>
          <a:p>
            <a:r>
              <a:rPr lang="en-US" dirty="0"/>
              <a:t>Which patron checked out a particular item, 2 checkouts ago? </a:t>
            </a:r>
          </a:p>
          <a:p>
            <a:r>
              <a:rPr lang="en-US" dirty="0" smtClean="0"/>
              <a:t>* What </a:t>
            </a:r>
            <a:r>
              <a:rPr lang="en-US" dirty="0"/>
              <a:t>was the most checked out title of 2025</a:t>
            </a:r>
            <a:r>
              <a:rPr lang="en-US" dirty="0" smtClean="0"/>
              <a:t>?</a:t>
            </a:r>
            <a:endParaRPr lang="en-US" dirty="0"/>
          </a:p>
          <a:p>
            <a:endParaRPr lang="en-US" dirty="0"/>
          </a:p>
        </p:txBody>
      </p:sp>
    </p:spTree>
    <p:extLst>
      <p:ext uri="{BB962C8B-B14F-4D97-AF65-F5344CB8AC3E}">
        <p14:creationId xmlns:p14="http://schemas.microsoft.com/office/powerpoint/2010/main" val="2340062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4DE5AA96-A1E2-424B-B98F-DF321364C02F}"/>
              </a:ext>
            </a:extLst>
          </p:cNvPr>
          <p:cNvSpPr>
            <a:spLocks noGrp="1"/>
          </p:cNvSpPr>
          <p:nvPr>
            <p:ph type="title"/>
          </p:nvPr>
        </p:nvSpPr>
        <p:spPr/>
        <p:txBody>
          <a:bodyPr>
            <a:normAutofit fontScale="90000"/>
          </a:bodyPr>
          <a:lstStyle/>
          <a:p>
            <a:r>
              <a:rPr lang="en-US" dirty="0"/>
              <a:t>How many times did a patron come to the library in the last year?</a:t>
            </a:r>
            <a:endParaRPr lang="en-US" dirty="0">
              <a:solidFill>
                <a:srgbClr val="00223D"/>
              </a:solidFill>
            </a:endParaRPr>
          </a:p>
        </p:txBody>
      </p:sp>
      <p:sp>
        <p:nvSpPr>
          <p:cNvPr id="5" name="Rectangle 4">
            <a:extLst>
              <a:ext uri="{FF2B5EF4-FFF2-40B4-BE49-F238E27FC236}">
                <a16:creationId xmlns:a16="http://schemas.microsoft.com/office/drawing/2014/main" id="{8B506853-5B7D-556D-60A7-9B2A966C3921}"/>
              </a:ext>
            </a:extLst>
          </p:cNvPr>
          <p:cNvSpPr/>
          <p:nvPr/>
        </p:nvSpPr>
        <p:spPr>
          <a:xfrm>
            <a:off x="0" y="5873519"/>
            <a:ext cx="12192000" cy="984482"/>
          </a:xfrm>
          <a:prstGeom prst="rect">
            <a:avLst/>
          </a:prstGeom>
          <a:solidFill>
            <a:srgbClr val="F3E4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a:extLst>
              <a:ext uri="{FF2B5EF4-FFF2-40B4-BE49-F238E27FC236}">
                <a16:creationId xmlns:a16="http://schemas.microsoft.com/office/drawing/2014/main" id="{23E69FC6-D07E-8774-63E8-736E5F5FCD55}"/>
              </a:ext>
            </a:extLst>
          </p:cNvPr>
          <p:cNvPicPr>
            <a:picLocks noChangeAspect="1"/>
          </p:cNvPicPr>
          <p:nvPr/>
        </p:nvPicPr>
        <p:blipFill>
          <a:blip r:embed="rId3"/>
          <a:stretch>
            <a:fillRect/>
          </a:stretch>
        </p:blipFill>
        <p:spPr>
          <a:xfrm>
            <a:off x="11266948" y="5945786"/>
            <a:ext cx="850338" cy="850338"/>
          </a:xfrm>
          <a:prstGeom prst="rect">
            <a:avLst/>
          </a:prstGeom>
        </p:spPr>
      </p:pic>
      <p:sp>
        <p:nvSpPr>
          <p:cNvPr id="24" name="Content Placeholder 23">
            <a:extLst>
              <a:ext uri="{FF2B5EF4-FFF2-40B4-BE49-F238E27FC236}">
                <a16:creationId xmlns:a16="http://schemas.microsoft.com/office/drawing/2014/main" id="{295C7490-2FDB-B74A-C31E-269BB0BEE80A}"/>
              </a:ext>
            </a:extLst>
          </p:cNvPr>
          <p:cNvSpPr>
            <a:spLocks noGrp="1"/>
          </p:cNvSpPr>
          <p:nvPr>
            <p:ph idx="1"/>
          </p:nvPr>
        </p:nvSpPr>
        <p:spPr/>
        <p:txBody>
          <a:bodyPr/>
          <a:lstStyle/>
          <a:p>
            <a:r>
              <a:rPr lang="en-US" dirty="0"/>
              <a:t>Lack the transaction history to pick out individual days when the patron recorded a transaction</a:t>
            </a:r>
          </a:p>
          <a:p>
            <a:r>
              <a:rPr lang="en-US" dirty="0"/>
              <a:t>Transaction aren</a:t>
            </a:r>
            <a:r>
              <a:rPr lang="en-US" dirty="0">
                <a:latin typeface="Bahnschrift Condensed" panose="020B0502040204020203" pitchFamily="34" charset="0"/>
              </a:rPr>
              <a:t>’</a:t>
            </a:r>
            <a:r>
              <a:rPr lang="en-US" dirty="0"/>
              <a:t>t everything, system never records online use, program attendance, etc.</a:t>
            </a:r>
          </a:p>
          <a:p>
            <a:endParaRPr lang="en-US" dirty="0"/>
          </a:p>
        </p:txBody>
      </p:sp>
    </p:spTree>
    <p:extLst>
      <p:ext uri="{BB962C8B-B14F-4D97-AF65-F5344CB8AC3E}">
        <p14:creationId xmlns:p14="http://schemas.microsoft.com/office/powerpoint/2010/main" val="40673104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4DE5AA96-A1E2-424B-B98F-DF321364C02F}"/>
              </a:ext>
            </a:extLst>
          </p:cNvPr>
          <p:cNvSpPr>
            <a:spLocks noGrp="1"/>
          </p:cNvSpPr>
          <p:nvPr>
            <p:ph type="title"/>
          </p:nvPr>
        </p:nvSpPr>
        <p:spPr/>
        <p:txBody>
          <a:bodyPr/>
          <a:lstStyle/>
          <a:p>
            <a:r>
              <a:rPr lang="en-US" dirty="0"/>
              <a:t>What We Can Answer Instead</a:t>
            </a:r>
            <a:endParaRPr lang="en-US" dirty="0">
              <a:solidFill>
                <a:srgbClr val="00223D"/>
              </a:solidFill>
            </a:endParaRPr>
          </a:p>
        </p:txBody>
      </p:sp>
      <p:sp>
        <p:nvSpPr>
          <p:cNvPr id="5" name="Rectangle 4">
            <a:extLst>
              <a:ext uri="{FF2B5EF4-FFF2-40B4-BE49-F238E27FC236}">
                <a16:creationId xmlns:a16="http://schemas.microsoft.com/office/drawing/2014/main" id="{8B506853-5B7D-556D-60A7-9B2A966C3921}"/>
              </a:ext>
            </a:extLst>
          </p:cNvPr>
          <p:cNvSpPr/>
          <p:nvPr/>
        </p:nvSpPr>
        <p:spPr>
          <a:xfrm>
            <a:off x="0" y="5873519"/>
            <a:ext cx="12192000" cy="984482"/>
          </a:xfrm>
          <a:prstGeom prst="rect">
            <a:avLst/>
          </a:prstGeom>
          <a:solidFill>
            <a:srgbClr val="F3E4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a:extLst>
              <a:ext uri="{FF2B5EF4-FFF2-40B4-BE49-F238E27FC236}">
                <a16:creationId xmlns:a16="http://schemas.microsoft.com/office/drawing/2014/main" id="{23E69FC6-D07E-8774-63E8-736E5F5FCD55}"/>
              </a:ext>
            </a:extLst>
          </p:cNvPr>
          <p:cNvPicPr>
            <a:picLocks noChangeAspect="1"/>
          </p:cNvPicPr>
          <p:nvPr/>
        </p:nvPicPr>
        <p:blipFill>
          <a:blip r:embed="rId3"/>
          <a:stretch>
            <a:fillRect/>
          </a:stretch>
        </p:blipFill>
        <p:spPr>
          <a:xfrm>
            <a:off x="11266948" y="5945786"/>
            <a:ext cx="850338" cy="850338"/>
          </a:xfrm>
          <a:prstGeom prst="rect">
            <a:avLst/>
          </a:prstGeom>
        </p:spPr>
      </p:pic>
      <p:sp>
        <p:nvSpPr>
          <p:cNvPr id="24" name="Content Placeholder 23">
            <a:extLst>
              <a:ext uri="{FF2B5EF4-FFF2-40B4-BE49-F238E27FC236}">
                <a16:creationId xmlns:a16="http://schemas.microsoft.com/office/drawing/2014/main" id="{295C7490-2FDB-B74A-C31E-269BB0BEE80A}"/>
              </a:ext>
            </a:extLst>
          </p:cNvPr>
          <p:cNvSpPr>
            <a:spLocks noGrp="1"/>
          </p:cNvSpPr>
          <p:nvPr>
            <p:ph idx="1"/>
          </p:nvPr>
        </p:nvSpPr>
        <p:spPr/>
        <p:txBody>
          <a:bodyPr/>
          <a:lstStyle/>
          <a:p>
            <a:pPr marL="0" indent="0">
              <a:buNone/>
            </a:pPr>
            <a:r>
              <a:rPr lang="en-US" dirty="0"/>
              <a:t>Which communities are we succeeding/failing to serve?</a:t>
            </a:r>
          </a:p>
          <a:p>
            <a:pPr marL="0" indent="0">
              <a:buNone/>
            </a:pPr>
            <a:endParaRPr lang="en-US" dirty="0"/>
          </a:p>
        </p:txBody>
      </p:sp>
      <p:pic>
        <p:nvPicPr>
          <p:cNvPr id="6" name="Picture 5"/>
          <p:cNvPicPr>
            <a:picLocks noChangeAspect="1"/>
          </p:cNvPicPr>
          <p:nvPr/>
        </p:nvPicPr>
        <p:blipFill>
          <a:blip r:embed="rId4"/>
          <a:stretch>
            <a:fillRect/>
          </a:stretch>
        </p:blipFill>
        <p:spPr>
          <a:xfrm>
            <a:off x="5214613" y="3017334"/>
            <a:ext cx="6902673" cy="2648852"/>
          </a:xfrm>
          <a:prstGeom prst="rect">
            <a:avLst/>
          </a:prstGeom>
          <a:effectLst>
            <a:outerShdw blurRad="50800" dist="38100" dir="2700000" algn="tl" rotWithShape="0">
              <a:prstClr val="black">
                <a:alpha val="40000"/>
              </a:prstClr>
            </a:outerShdw>
          </a:effectLst>
        </p:spPr>
      </p:pic>
      <p:pic>
        <p:nvPicPr>
          <p:cNvPr id="7" name="Picture 6"/>
          <p:cNvPicPr>
            <a:picLocks noChangeAspect="1"/>
          </p:cNvPicPr>
          <p:nvPr/>
        </p:nvPicPr>
        <p:blipFill>
          <a:blip r:embed="rId5"/>
          <a:stretch>
            <a:fillRect/>
          </a:stretch>
        </p:blipFill>
        <p:spPr>
          <a:xfrm>
            <a:off x="74714" y="2810001"/>
            <a:ext cx="5067015" cy="3235195"/>
          </a:xfrm>
          <a:prstGeom prst="rect">
            <a:avLst/>
          </a:prstGeom>
        </p:spPr>
      </p:pic>
    </p:spTree>
    <p:extLst>
      <p:ext uri="{BB962C8B-B14F-4D97-AF65-F5344CB8AC3E}">
        <p14:creationId xmlns:p14="http://schemas.microsoft.com/office/powerpoint/2010/main" val="29643051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4DE5AA96-A1E2-424B-B98F-DF321364C02F}"/>
              </a:ext>
            </a:extLst>
          </p:cNvPr>
          <p:cNvSpPr>
            <a:spLocks noGrp="1"/>
          </p:cNvSpPr>
          <p:nvPr>
            <p:ph type="title"/>
          </p:nvPr>
        </p:nvSpPr>
        <p:spPr/>
        <p:txBody>
          <a:bodyPr/>
          <a:lstStyle/>
          <a:p>
            <a:r>
              <a:rPr lang="en-US" dirty="0"/>
              <a:t>What We Can Answer Instead</a:t>
            </a:r>
            <a:endParaRPr lang="en-US" dirty="0">
              <a:solidFill>
                <a:srgbClr val="00223D"/>
              </a:solidFill>
            </a:endParaRPr>
          </a:p>
        </p:txBody>
      </p:sp>
      <p:sp>
        <p:nvSpPr>
          <p:cNvPr id="5" name="Rectangle 4">
            <a:extLst>
              <a:ext uri="{FF2B5EF4-FFF2-40B4-BE49-F238E27FC236}">
                <a16:creationId xmlns:a16="http://schemas.microsoft.com/office/drawing/2014/main" id="{8B506853-5B7D-556D-60A7-9B2A966C3921}"/>
              </a:ext>
            </a:extLst>
          </p:cNvPr>
          <p:cNvSpPr/>
          <p:nvPr/>
        </p:nvSpPr>
        <p:spPr>
          <a:xfrm>
            <a:off x="0" y="5873519"/>
            <a:ext cx="12192000" cy="984482"/>
          </a:xfrm>
          <a:prstGeom prst="rect">
            <a:avLst/>
          </a:prstGeom>
          <a:solidFill>
            <a:srgbClr val="F3E4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a:extLst>
              <a:ext uri="{FF2B5EF4-FFF2-40B4-BE49-F238E27FC236}">
                <a16:creationId xmlns:a16="http://schemas.microsoft.com/office/drawing/2014/main" id="{23E69FC6-D07E-8774-63E8-736E5F5FCD55}"/>
              </a:ext>
            </a:extLst>
          </p:cNvPr>
          <p:cNvPicPr>
            <a:picLocks noChangeAspect="1"/>
          </p:cNvPicPr>
          <p:nvPr/>
        </p:nvPicPr>
        <p:blipFill>
          <a:blip r:embed="rId3"/>
          <a:stretch>
            <a:fillRect/>
          </a:stretch>
        </p:blipFill>
        <p:spPr>
          <a:xfrm>
            <a:off x="11266948" y="5945786"/>
            <a:ext cx="850338" cy="850338"/>
          </a:xfrm>
          <a:prstGeom prst="rect">
            <a:avLst/>
          </a:prstGeom>
        </p:spPr>
      </p:pic>
      <p:sp>
        <p:nvSpPr>
          <p:cNvPr id="24" name="Content Placeholder 23">
            <a:extLst>
              <a:ext uri="{FF2B5EF4-FFF2-40B4-BE49-F238E27FC236}">
                <a16:creationId xmlns:a16="http://schemas.microsoft.com/office/drawing/2014/main" id="{295C7490-2FDB-B74A-C31E-269BB0BEE80A}"/>
              </a:ext>
            </a:extLst>
          </p:cNvPr>
          <p:cNvSpPr>
            <a:spLocks noGrp="1"/>
          </p:cNvSpPr>
          <p:nvPr>
            <p:ph idx="1"/>
          </p:nvPr>
        </p:nvSpPr>
        <p:spPr/>
        <p:txBody>
          <a:bodyPr/>
          <a:lstStyle/>
          <a:p>
            <a:pPr marL="0" indent="0">
              <a:buNone/>
            </a:pPr>
            <a:r>
              <a:rPr lang="en-US" dirty="0"/>
              <a:t>How many individuals checked out at the library each day?</a:t>
            </a:r>
          </a:p>
          <a:p>
            <a:pPr marL="0" indent="0">
              <a:buNone/>
            </a:pPr>
            <a:endParaRPr lang="en-US" dirty="0"/>
          </a:p>
        </p:txBody>
      </p:sp>
      <p:pic>
        <p:nvPicPr>
          <p:cNvPr id="6" name="Picture 5"/>
          <p:cNvPicPr>
            <a:picLocks noChangeAspect="1"/>
          </p:cNvPicPr>
          <p:nvPr/>
        </p:nvPicPr>
        <p:blipFill>
          <a:blip r:embed="rId4"/>
          <a:stretch>
            <a:fillRect/>
          </a:stretch>
        </p:blipFill>
        <p:spPr>
          <a:xfrm>
            <a:off x="211015" y="2770299"/>
            <a:ext cx="5181600" cy="3941199"/>
          </a:xfrm>
          <a:prstGeom prst="rect">
            <a:avLst/>
          </a:prstGeom>
          <a:effectLst>
            <a:outerShdw blurRad="50800" dist="38100" dir="16200000" rotWithShape="0">
              <a:prstClr val="black">
                <a:alpha val="40000"/>
              </a:prstClr>
            </a:outerShdw>
          </a:effectLst>
        </p:spPr>
      </p:pic>
      <p:pic>
        <p:nvPicPr>
          <p:cNvPr id="7" name="Picture 6"/>
          <p:cNvPicPr>
            <a:picLocks noChangeAspect="1"/>
          </p:cNvPicPr>
          <p:nvPr/>
        </p:nvPicPr>
        <p:blipFill>
          <a:blip r:embed="rId5"/>
          <a:stretch>
            <a:fillRect/>
          </a:stretch>
        </p:blipFill>
        <p:spPr>
          <a:xfrm>
            <a:off x="5511914" y="2771435"/>
            <a:ext cx="6469071" cy="2967147"/>
          </a:xfrm>
          <a:prstGeom prst="rect">
            <a:avLst/>
          </a:prstGeom>
        </p:spPr>
      </p:pic>
    </p:spTree>
    <p:extLst>
      <p:ext uri="{BB962C8B-B14F-4D97-AF65-F5344CB8AC3E}">
        <p14:creationId xmlns:p14="http://schemas.microsoft.com/office/powerpoint/2010/main" val="14246365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4DE5AA96-A1E2-424B-B98F-DF321364C02F}"/>
              </a:ext>
            </a:extLst>
          </p:cNvPr>
          <p:cNvSpPr>
            <a:spLocks noGrp="1"/>
          </p:cNvSpPr>
          <p:nvPr>
            <p:ph type="title"/>
          </p:nvPr>
        </p:nvSpPr>
        <p:spPr/>
        <p:txBody>
          <a:bodyPr/>
          <a:lstStyle/>
          <a:p>
            <a:r>
              <a:rPr lang="en-US" dirty="0"/>
              <a:t>Which Patrons Are the Heaviest Users of Our Hotspots?</a:t>
            </a:r>
            <a:endParaRPr lang="en-US" dirty="0">
              <a:solidFill>
                <a:srgbClr val="00223D"/>
              </a:solidFill>
            </a:endParaRPr>
          </a:p>
        </p:txBody>
      </p:sp>
      <p:sp>
        <p:nvSpPr>
          <p:cNvPr id="5" name="Rectangle 4">
            <a:extLst>
              <a:ext uri="{FF2B5EF4-FFF2-40B4-BE49-F238E27FC236}">
                <a16:creationId xmlns:a16="http://schemas.microsoft.com/office/drawing/2014/main" id="{8B506853-5B7D-556D-60A7-9B2A966C3921}"/>
              </a:ext>
            </a:extLst>
          </p:cNvPr>
          <p:cNvSpPr/>
          <p:nvPr/>
        </p:nvSpPr>
        <p:spPr>
          <a:xfrm>
            <a:off x="0" y="5873519"/>
            <a:ext cx="12192000" cy="984482"/>
          </a:xfrm>
          <a:prstGeom prst="rect">
            <a:avLst/>
          </a:prstGeom>
          <a:solidFill>
            <a:srgbClr val="F3E4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a:extLst>
              <a:ext uri="{FF2B5EF4-FFF2-40B4-BE49-F238E27FC236}">
                <a16:creationId xmlns:a16="http://schemas.microsoft.com/office/drawing/2014/main" id="{23E69FC6-D07E-8774-63E8-736E5F5FCD55}"/>
              </a:ext>
            </a:extLst>
          </p:cNvPr>
          <p:cNvPicPr>
            <a:picLocks noChangeAspect="1"/>
          </p:cNvPicPr>
          <p:nvPr/>
        </p:nvPicPr>
        <p:blipFill>
          <a:blip r:embed="rId3"/>
          <a:stretch>
            <a:fillRect/>
          </a:stretch>
        </p:blipFill>
        <p:spPr>
          <a:xfrm>
            <a:off x="11266948" y="5945786"/>
            <a:ext cx="850338" cy="850338"/>
          </a:xfrm>
          <a:prstGeom prst="rect">
            <a:avLst/>
          </a:prstGeom>
        </p:spPr>
      </p:pic>
      <p:sp>
        <p:nvSpPr>
          <p:cNvPr id="24" name="Content Placeholder 23">
            <a:extLst>
              <a:ext uri="{FF2B5EF4-FFF2-40B4-BE49-F238E27FC236}">
                <a16:creationId xmlns:a16="http://schemas.microsoft.com/office/drawing/2014/main" id="{295C7490-2FDB-B74A-C31E-269BB0BEE80A}"/>
              </a:ext>
            </a:extLst>
          </p:cNvPr>
          <p:cNvSpPr>
            <a:spLocks noGrp="1"/>
          </p:cNvSpPr>
          <p:nvPr>
            <p:ph idx="1"/>
          </p:nvPr>
        </p:nvSpPr>
        <p:spPr>
          <a:xfrm>
            <a:off x="1099537" y="1690688"/>
            <a:ext cx="9992926" cy="4351338"/>
          </a:xfrm>
        </p:spPr>
        <p:txBody>
          <a:bodyPr/>
          <a:lstStyle/>
          <a:p>
            <a:r>
              <a:rPr lang="en-US" sz="2400" dirty="0" smtClean="0"/>
              <a:t>Which locations should have the most inventory given hotspots are not placed in delivery?</a:t>
            </a:r>
            <a:endParaRPr lang="en-US" sz="2400" dirty="0"/>
          </a:p>
          <a:p>
            <a:r>
              <a:rPr lang="en-US" sz="2400" dirty="0" smtClean="0"/>
              <a:t>How can we track usage patterns without storing reading history?</a:t>
            </a:r>
            <a:endParaRPr lang="en-US" sz="2400" dirty="0"/>
          </a:p>
          <a:p>
            <a:endParaRPr lang="en-US" dirty="0"/>
          </a:p>
        </p:txBody>
      </p:sp>
      <p:pic>
        <p:nvPicPr>
          <p:cNvPr id="6" name="Picture 5"/>
          <p:cNvPicPr>
            <a:picLocks noChangeAspect="1"/>
          </p:cNvPicPr>
          <p:nvPr/>
        </p:nvPicPr>
        <p:blipFill>
          <a:blip r:embed="rId4"/>
          <a:stretch>
            <a:fillRect/>
          </a:stretch>
        </p:blipFill>
        <p:spPr>
          <a:xfrm>
            <a:off x="3491336" y="3589507"/>
            <a:ext cx="6033664" cy="3268494"/>
          </a:xfrm>
          <a:prstGeom prst="rect">
            <a:avLst/>
          </a:prstGeom>
        </p:spPr>
      </p:pic>
    </p:spTree>
    <p:extLst>
      <p:ext uri="{BB962C8B-B14F-4D97-AF65-F5344CB8AC3E}">
        <p14:creationId xmlns:p14="http://schemas.microsoft.com/office/powerpoint/2010/main" val="22727072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4DE5AA96-A1E2-424B-B98F-DF321364C02F}"/>
              </a:ext>
            </a:extLst>
          </p:cNvPr>
          <p:cNvSpPr>
            <a:spLocks noGrp="1"/>
          </p:cNvSpPr>
          <p:nvPr>
            <p:ph type="title"/>
          </p:nvPr>
        </p:nvSpPr>
        <p:spPr/>
        <p:txBody>
          <a:bodyPr/>
          <a:lstStyle/>
          <a:p>
            <a:r>
              <a:rPr lang="en-US" dirty="0"/>
              <a:t>Which Patrons Are the Heaviest Users of Our Hotspots?</a:t>
            </a:r>
            <a:endParaRPr lang="en-US" dirty="0">
              <a:solidFill>
                <a:srgbClr val="00223D"/>
              </a:solidFill>
            </a:endParaRPr>
          </a:p>
        </p:txBody>
      </p:sp>
      <p:sp>
        <p:nvSpPr>
          <p:cNvPr id="5" name="Rectangle 4">
            <a:extLst>
              <a:ext uri="{FF2B5EF4-FFF2-40B4-BE49-F238E27FC236}">
                <a16:creationId xmlns:a16="http://schemas.microsoft.com/office/drawing/2014/main" id="{8B506853-5B7D-556D-60A7-9B2A966C3921}"/>
              </a:ext>
            </a:extLst>
          </p:cNvPr>
          <p:cNvSpPr/>
          <p:nvPr/>
        </p:nvSpPr>
        <p:spPr>
          <a:xfrm>
            <a:off x="0" y="5873519"/>
            <a:ext cx="12192000" cy="984482"/>
          </a:xfrm>
          <a:prstGeom prst="rect">
            <a:avLst/>
          </a:prstGeom>
          <a:solidFill>
            <a:srgbClr val="F3E4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a:extLst>
              <a:ext uri="{FF2B5EF4-FFF2-40B4-BE49-F238E27FC236}">
                <a16:creationId xmlns:a16="http://schemas.microsoft.com/office/drawing/2014/main" id="{23E69FC6-D07E-8774-63E8-736E5F5FCD55}"/>
              </a:ext>
            </a:extLst>
          </p:cNvPr>
          <p:cNvPicPr>
            <a:picLocks noChangeAspect="1"/>
          </p:cNvPicPr>
          <p:nvPr/>
        </p:nvPicPr>
        <p:blipFill>
          <a:blip r:embed="rId3"/>
          <a:stretch>
            <a:fillRect/>
          </a:stretch>
        </p:blipFill>
        <p:spPr>
          <a:xfrm>
            <a:off x="11266948" y="5945786"/>
            <a:ext cx="850338" cy="850338"/>
          </a:xfrm>
          <a:prstGeom prst="rect">
            <a:avLst/>
          </a:prstGeom>
        </p:spPr>
      </p:pic>
      <p:pic>
        <p:nvPicPr>
          <p:cNvPr id="6" name="Picture 5"/>
          <p:cNvPicPr>
            <a:picLocks noChangeAspect="1"/>
          </p:cNvPicPr>
          <p:nvPr/>
        </p:nvPicPr>
        <p:blipFill>
          <a:blip r:embed="rId4"/>
          <a:stretch>
            <a:fillRect/>
          </a:stretch>
        </p:blipFill>
        <p:spPr>
          <a:xfrm>
            <a:off x="128954" y="2241800"/>
            <a:ext cx="6226655" cy="3282462"/>
          </a:xfrm>
          <a:prstGeom prst="rect">
            <a:avLst/>
          </a:prstGeom>
        </p:spPr>
      </p:pic>
      <p:pic>
        <p:nvPicPr>
          <p:cNvPr id="7" name="Picture 6"/>
          <p:cNvPicPr>
            <a:picLocks noChangeAspect="1"/>
          </p:cNvPicPr>
          <p:nvPr/>
        </p:nvPicPr>
        <p:blipFill>
          <a:blip r:embed="rId5"/>
          <a:stretch>
            <a:fillRect/>
          </a:stretch>
        </p:blipFill>
        <p:spPr>
          <a:xfrm>
            <a:off x="6647075" y="1949137"/>
            <a:ext cx="5310464" cy="3867788"/>
          </a:xfrm>
          <a:prstGeom prst="rect">
            <a:avLst/>
          </a:prstGeom>
        </p:spPr>
      </p:pic>
    </p:spTree>
    <p:extLst>
      <p:ext uri="{BB962C8B-B14F-4D97-AF65-F5344CB8AC3E}">
        <p14:creationId xmlns:p14="http://schemas.microsoft.com/office/powerpoint/2010/main" val="32984691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4DE5AA96-A1E2-424B-B98F-DF321364C02F}"/>
              </a:ext>
            </a:extLst>
          </p:cNvPr>
          <p:cNvSpPr>
            <a:spLocks noGrp="1"/>
          </p:cNvSpPr>
          <p:nvPr>
            <p:ph type="title"/>
          </p:nvPr>
        </p:nvSpPr>
        <p:spPr/>
        <p:txBody>
          <a:bodyPr/>
          <a:lstStyle/>
          <a:p>
            <a:r>
              <a:rPr lang="en-US" dirty="0"/>
              <a:t>Which Patrons Are the Heaviest Users of Our Hotspots?</a:t>
            </a:r>
            <a:endParaRPr lang="en-US" dirty="0">
              <a:solidFill>
                <a:srgbClr val="00223D"/>
              </a:solidFill>
            </a:endParaRPr>
          </a:p>
        </p:txBody>
      </p:sp>
      <p:sp>
        <p:nvSpPr>
          <p:cNvPr id="5" name="Rectangle 4">
            <a:extLst>
              <a:ext uri="{FF2B5EF4-FFF2-40B4-BE49-F238E27FC236}">
                <a16:creationId xmlns:a16="http://schemas.microsoft.com/office/drawing/2014/main" id="{8B506853-5B7D-556D-60A7-9B2A966C3921}"/>
              </a:ext>
            </a:extLst>
          </p:cNvPr>
          <p:cNvSpPr/>
          <p:nvPr/>
        </p:nvSpPr>
        <p:spPr>
          <a:xfrm>
            <a:off x="0" y="5873519"/>
            <a:ext cx="12192000" cy="984482"/>
          </a:xfrm>
          <a:prstGeom prst="rect">
            <a:avLst/>
          </a:prstGeom>
          <a:solidFill>
            <a:srgbClr val="F3E4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a:extLst>
              <a:ext uri="{FF2B5EF4-FFF2-40B4-BE49-F238E27FC236}">
                <a16:creationId xmlns:a16="http://schemas.microsoft.com/office/drawing/2014/main" id="{23E69FC6-D07E-8774-63E8-736E5F5FCD55}"/>
              </a:ext>
            </a:extLst>
          </p:cNvPr>
          <p:cNvPicPr>
            <a:picLocks noChangeAspect="1"/>
          </p:cNvPicPr>
          <p:nvPr/>
        </p:nvPicPr>
        <p:blipFill>
          <a:blip r:embed="rId3"/>
          <a:stretch>
            <a:fillRect/>
          </a:stretch>
        </p:blipFill>
        <p:spPr>
          <a:xfrm>
            <a:off x="11266948" y="5945786"/>
            <a:ext cx="850338" cy="850338"/>
          </a:xfrm>
          <a:prstGeom prst="rect">
            <a:avLst/>
          </a:prstGeom>
        </p:spPr>
      </p:pic>
      <p:sp>
        <p:nvSpPr>
          <p:cNvPr id="7" name="TextBox 6"/>
          <p:cNvSpPr txBox="1"/>
          <p:nvPr/>
        </p:nvSpPr>
        <p:spPr>
          <a:xfrm>
            <a:off x="1151790" y="5161939"/>
            <a:ext cx="3351335" cy="369332"/>
          </a:xfrm>
          <a:prstGeom prst="rect">
            <a:avLst/>
          </a:prstGeom>
          <a:noFill/>
        </p:spPr>
        <p:txBody>
          <a:bodyPr wrap="square" rtlCol="0">
            <a:spAutoFit/>
          </a:bodyPr>
          <a:lstStyle/>
          <a:p>
            <a:pPr algn="ctr"/>
            <a:r>
              <a:rPr lang="en-US" sz="1800" dirty="0" smtClean="0"/>
              <a:t>Geocoding Script</a:t>
            </a:r>
            <a:endParaRPr lang="en-US" sz="1800" dirty="0"/>
          </a:p>
        </p:txBody>
      </p:sp>
      <p:sp>
        <p:nvSpPr>
          <p:cNvPr id="9" name="TextBox 8"/>
          <p:cNvSpPr txBox="1"/>
          <p:nvPr/>
        </p:nvSpPr>
        <p:spPr>
          <a:xfrm>
            <a:off x="7327471" y="5161939"/>
            <a:ext cx="3313601" cy="646331"/>
          </a:xfrm>
          <a:prstGeom prst="rect">
            <a:avLst/>
          </a:prstGeom>
          <a:noFill/>
        </p:spPr>
        <p:txBody>
          <a:bodyPr wrap="square" rtlCol="0">
            <a:spAutoFit/>
          </a:bodyPr>
          <a:lstStyle/>
          <a:p>
            <a:pPr algn="ctr"/>
            <a:r>
              <a:rPr lang="en-US" dirty="0" smtClean="0"/>
              <a:t>Transactions by Geography Query</a:t>
            </a:r>
            <a:endParaRPr lang="en-US" dirty="0"/>
          </a:p>
        </p:txBody>
      </p:sp>
      <p:pic>
        <p:nvPicPr>
          <p:cNvPr id="3" name="Picture 2"/>
          <p:cNvPicPr>
            <a:picLocks noChangeAspect="1"/>
          </p:cNvPicPr>
          <p:nvPr/>
        </p:nvPicPr>
        <p:blipFill>
          <a:blip r:embed="rId4"/>
          <a:stretch>
            <a:fillRect/>
          </a:stretch>
        </p:blipFill>
        <p:spPr>
          <a:xfrm>
            <a:off x="1364272" y="2110853"/>
            <a:ext cx="2926373" cy="2926373"/>
          </a:xfrm>
          <a:prstGeom prst="rect">
            <a:avLst/>
          </a:prstGeom>
        </p:spPr>
      </p:pic>
      <p:pic>
        <p:nvPicPr>
          <p:cNvPr id="4" name="Picture 3"/>
          <p:cNvPicPr>
            <a:picLocks noChangeAspect="1"/>
          </p:cNvPicPr>
          <p:nvPr/>
        </p:nvPicPr>
        <p:blipFill>
          <a:blip r:embed="rId5"/>
          <a:stretch>
            <a:fillRect/>
          </a:stretch>
        </p:blipFill>
        <p:spPr>
          <a:xfrm>
            <a:off x="7528636" y="2110853"/>
            <a:ext cx="2911272" cy="2911272"/>
          </a:xfrm>
          <a:prstGeom prst="rect">
            <a:avLst/>
          </a:prstGeom>
        </p:spPr>
      </p:pic>
    </p:spTree>
    <p:extLst>
      <p:ext uri="{BB962C8B-B14F-4D97-AF65-F5344CB8AC3E}">
        <p14:creationId xmlns:p14="http://schemas.microsoft.com/office/powerpoint/2010/main" val="9794221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4DE5AA96-A1E2-424B-B98F-DF321364C02F}"/>
              </a:ext>
            </a:extLst>
          </p:cNvPr>
          <p:cNvSpPr>
            <a:spLocks noGrp="1"/>
          </p:cNvSpPr>
          <p:nvPr>
            <p:ph type="title"/>
          </p:nvPr>
        </p:nvSpPr>
        <p:spPr/>
        <p:txBody>
          <a:bodyPr>
            <a:normAutofit fontScale="90000"/>
          </a:bodyPr>
          <a:lstStyle/>
          <a:p>
            <a:r>
              <a:rPr lang="en-US" dirty="0"/>
              <a:t>Which patron checked out a particular item, 2 checkouts ago?</a:t>
            </a:r>
            <a:endParaRPr lang="en-US" dirty="0">
              <a:solidFill>
                <a:srgbClr val="00223D"/>
              </a:solidFill>
            </a:endParaRPr>
          </a:p>
        </p:txBody>
      </p:sp>
      <p:sp>
        <p:nvSpPr>
          <p:cNvPr id="5" name="Rectangle 4">
            <a:extLst>
              <a:ext uri="{FF2B5EF4-FFF2-40B4-BE49-F238E27FC236}">
                <a16:creationId xmlns:a16="http://schemas.microsoft.com/office/drawing/2014/main" id="{8B506853-5B7D-556D-60A7-9B2A966C3921}"/>
              </a:ext>
            </a:extLst>
          </p:cNvPr>
          <p:cNvSpPr/>
          <p:nvPr/>
        </p:nvSpPr>
        <p:spPr>
          <a:xfrm>
            <a:off x="0" y="5873519"/>
            <a:ext cx="12192000" cy="984482"/>
          </a:xfrm>
          <a:prstGeom prst="rect">
            <a:avLst/>
          </a:prstGeom>
          <a:solidFill>
            <a:srgbClr val="F3E4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a:extLst>
              <a:ext uri="{FF2B5EF4-FFF2-40B4-BE49-F238E27FC236}">
                <a16:creationId xmlns:a16="http://schemas.microsoft.com/office/drawing/2014/main" id="{23E69FC6-D07E-8774-63E8-736E5F5FCD55}"/>
              </a:ext>
            </a:extLst>
          </p:cNvPr>
          <p:cNvPicPr>
            <a:picLocks noChangeAspect="1"/>
          </p:cNvPicPr>
          <p:nvPr/>
        </p:nvPicPr>
        <p:blipFill>
          <a:blip r:embed="rId3"/>
          <a:stretch>
            <a:fillRect/>
          </a:stretch>
        </p:blipFill>
        <p:spPr>
          <a:xfrm>
            <a:off x="11266948" y="5945786"/>
            <a:ext cx="850338" cy="850338"/>
          </a:xfrm>
          <a:prstGeom prst="rect">
            <a:avLst/>
          </a:prstGeom>
        </p:spPr>
      </p:pic>
      <p:sp>
        <p:nvSpPr>
          <p:cNvPr id="24" name="Content Placeholder 23">
            <a:extLst>
              <a:ext uri="{FF2B5EF4-FFF2-40B4-BE49-F238E27FC236}">
                <a16:creationId xmlns:a16="http://schemas.microsoft.com/office/drawing/2014/main" id="{295C7490-2FDB-B74A-C31E-269BB0BEE80A}"/>
              </a:ext>
            </a:extLst>
          </p:cNvPr>
          <p:cNvSpPr>
            <a:spLocks noGrp="1"/>
          </p:cNvSpPr>
          <p:nvPr>
            <p:ph idx="1"/>
          </p:nvPr>
        </p:nvSpPr>
        <p:spPr/>
        <p:txBody>
          <a:bodyPr/>
          <a:lstStyle/>
          <a:p>
            <a:r>
              <a:rPr lang="en-US" dirty="0"/>
              <a:t>Staff check in an item and are then informed the item was damaged by the prior patron</a:t>
            </a:r>
          </a:p>
          <a:p>
            <a:r>
              <a:rPr lang="en-US" dirty="0"/>
              <a:t>If 5 weeks have elapsed since that check in, that data is gone and the </a:t>
            </a:r>
            <a:r>
              <a:rPr lang="en-US" dirty="0" err="1"/>
              <a:t>lpatron</a:t>
            </a:r>
            <a:r>
              <a:rPr lang="en-US" dirty="0"/>
              <a:t> field now reflects this most recent transaction instead</a:t>
            </a:r>
          </a:p>
          <a:p>
            <a:pPr marL="0" indent="0">
              <a:buNone/>
            </a:pPr>
            <a:endParaRPr lang="en-US" dirty="0"/>
          </a:p>
        </p:txBody>
      </p:sp>
    </p:spTree>
    <p:extLst>
      <p:ext uri="{BB962C8B-B14F-4D97-AF65-F5344CB8AC3E}">
        <p14:creationId xmlns:p14="http://schemas.microsoft.com/office/powerpoint/2010/main" val="12938151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4DE5AA96-A1E2-424B-B98F-DF321364C02F}"/>
              </a:ext>
            </a:extLst>
          </p:cNvPr>
          <p:cNvSpPr>
            <a:spLocks noGrp="1"/>
          </p:cNvSpPr>
          <p:nvPr>
            <p:ph type="title"/>
          </p:nvPr>
        </p:nvSpPr>
        <p:spPr/>
        <p:txBody>
          <a:bodyPr/>
          <a:lstStyle/>
          <a:p>
            <a:r>
              <a:rPr lang="en-US" dirty="0"/>
              <a:t>What was the most checked out title of 2025?</a:t>
            </a:r>
            <a:endParaRPr lang="en-US" dirty="0">
              <a:solidFill>
                <a:srgbClr val="00223D"/>
              </a:solidFill>
            </a:endParaRPr>
          </a:p>
        </p:txBody>
      </p:sp>
      <p:sp>
        <p:nvSpPr>
          <p:cNvPr id="5" name="Rectangle 4">
            <a:extLst>
              <a:ext uri="{FF2B5EF4-FFF2-40B4-BE49-F238E27FC236}">
                <a16:creationId xmlns:a16="http://schemas.microsoft.com/office/drawing/2014/main" id="{8B506853-5B7D-556D-60A7-9B2A966C3921}"/>
              </a:ext>
            </a:extLst>
          </p:cNvPr>
          <p:cNvSpPr/>
          <p:nvPr/>
        </p:nvSpPr>
        <p:spPr>
          <a:xfrm>
            <a:off x="0" y="5873519"/>
            <a:ext cx="12192000" cy="984482"/>
          </a:xfrm>
          <a:prstGeom prst="rect">
            <a:avLst/>
          </a:prstGeom>
          <a:solidFill>
            <a:srgbClr val="F3E4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a:extLst>
              <a:ext uri="{FF2B5EF4-FFF2-40B4-BE49-F238E27FC236}">
                <a16:creationId xmlns:a16="http://schemas.microsoft.com/office/drawing/2014/main" id="{23E69FC6-D07E-8774-63E8-736E5F5FCD55}"/>
              </a:ext>
            </a:extLst>
          </p:cNvPr>
          <p:cNvPicPr>
            <a:picLocks noChangeAspect="1"/>
          </p:cNvPicPr>
          <p:nvPr/>
        </p:nvPicPr>
        <p:blipFill>
          <a:blip r:embed="rId3"/>
          <a:stretch>
            <a:fillRect/>
          </a:stretch>
        </p:blipFill>
        <p:spPr>
          <a:xfrm>
            <a:off x="11266948" y="5945786"/>
            <a:ext cx="850338" cy="850338"/>
          </a:xfrm>
          <a:prstGeom prst="rect">
            <a:avLst/>
          </a:prstGeom>
        </p:spPr>
      </p:pic>
      <p:sp>
        <p:nvSpPr>
          <p:cNvPr id="24" name="Content Placeholder 23">
            <a:extLst>
              <a:ext uri="{FF2B5EF4-FFF2-40B4-BE49-F238E27FC236}">
                <a16:creationId xmlns:a16="http://schemas.microsoft.com/office/drawing/2014/main" id="{295C7490-2FDB-B74A-C31E-269BB0BEE80A}"/>
              </a:ext>
            </a:extLst>
          </p:cNvPr>
          <p:cNvSpPr>
            <a:spLocks noGrp="1"/>
          </p:cNvSpPr>
          <p:nvPr>
            <p:ph idx="1"/>
          </p:nvPr>
        </p:nvSpPr>
        <p:spPr>
          <a:xfrm>
            <a:off x="335901" y="2090057"/>
            <a:ext cx="11327363" cy="4086906"/>
          </a:xfrm>
        </p:spPr>
        <p:txBody>
          <a:bodyPr/>
          <a:lstStyle/>
          <a:p>
            <a:r>
              <a:rPr lang="en-US" dirty="0"/>
              <a:t>Our YTD and LYTD </a:t>
            </a:r>
            <a:r>
              <a:rPr lang="en-US" dirty="0" err="1"/>
              <a:t>circ</a:t>
            </a:r>
            <a:r>
              <a:rPr lang="en-US" dirty="0"/>
              <a:t> fields are fiscal year </a:t>
            </a:r>
            <a:r>
              <a:rPr lang="en-US" dirty="0" smtClean="0"/>
              <a:t>based</a:t>
            </a:r>
            <a:endParaRPr lang="en-US" dirty="0"/>
          </a:p>
        </p:txBody>
      </p:sp>
      <p:pic>
        <p:nvPicPr>
          <p:cNvPr id="2" name="Picture 1"/>
          <p:cNvPicPr>
            <a:picLocks noChangeAspect="1"/>
          </p:cNvPicPr>
          <p:nvPr/>
        </p:nvPicPr>
        <p:blipFill>
          <a:blip r:embed="rId4"/>
          <a:stretch>
            <a:fillRect/>
          </a:stretch>
        </p:blipFill>
        <p:spPr>
          <a:xfrm>
            <a:off x="2206201" y="2597464"/>
            <a:ext cx="7778755" cy="3978868"/>
          </a:xfrm>
          <a:prstGeom prst="rect">
            <a:avLst/>
          </a:prstGeom>
        </p:spPr>
      </p:pic>
    </p:spTree>
    <p:extLst>
      <p:ext uri="{BB962C8B-B14F-4D97-AF65-F5344CB8AC3E}">
        <p14:creationId xmlns:p14="http://schemas.microsoft.com/office/powerpoint/2010/main" val="42589151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4DE5AA96-A1E2-424B-B98F-DF321364C02F}"/>
              </a:ext>
            </a:extLst>
          </p:cNvPr>
          <p:cNvSpPr>
            <a:spLocks noGrp="1"/>
          </p:cNvSpPr>
          <p:nvPr>
            <p:ph type="title"/>
          </p:nvPr>
        </p:nvSpPr>
        <p:spPr/>
        <p:txBody>
          <a:bodyPr/>
          <a:lstStyle/>
          <a:p>
            <a:r>
              <a:rPr lang="en-US" dirty="0"/>
              <a:t>Imperfect Option</a:t>
            </a:r>
            <a:endParaRPr lang="en-US" dirty="0">
              <a:solidFill>
                <a:srgbClr val="00223D"/>
              </a:solidFill>
            </a:endParaRPr>
          </a:p>
        </p:txBody>
      </p:sp>
      <p:sp>
        <p:nvSpPr>
          <p:cNvPr id="5" name="Rectangle 4">
            <a:extLst>
              <a:ext uri="{FF2B5EF4-FFF2-40B4-BE49-F238E27FC236}">
                <a16:creationId xmlns:a16="http://schemas.microsoft.com/office/drawing/2014/main" id="{8B506853-5B7D-556D-60A7-9B2A966C3921}"/>
              </a:ext>
            </a:extLst>
          </p:cNvPr>
          <p:cNvSpPr/>
          <p:nvPr/>
        </p:nvSpPr>
        <p:spPr>
          <a:xfrm>
            <a:off x="0" y="5873519"/>
            <a:ext cx="12192000" cy="984482"/>
          </a:xfrm>
          <a:prstGeom prst="rect">
            <a:avLst/>
          </a:prstGeom>
          <a:solidFill>
            <a:srgbClr val="F3E4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a:extLst>
              <a:ext uri="{FF2B5EF4-FFF2-40B4-BE49-F238E27FC236}">
                <a16:creationId xmlns:a16="http://schemas.microsoft.com/office/drawing/2014/main" id="{23E69FC6-D07E-8774-63E8-736E5F5FCD55}"/>
              </a:ext>
            </a:extLst>
          </p:cNvPr>
          <p:cNvPicPr>
            <a:picLocks noChangeAspect="1"/>
          </p:cNvPicPr>
          <p:nvPr/>
        </p:nvPicPr>
        <p:blipFill>
          <a:blip r:embed="rId3"/>
          <a:stretch>
            <a:fillRect/>
          </a:stretch>
        </p:blipFill>
        <p:spPr>
          <a:xfrm>
            <a:off x="11266948" y="5945786"/>
            <a:ext cx="850338" cy="850338"/>
          </a:xfrm>
          <a:prstGeom prst="rect">
            <a:avLst/>
          </a:prstGeom>
        </p:spPr>
      </p:pic>
      <p:sp>
        <p:nvSpPr>
          <p:cNvPr id="24" name="Content Placeholder 23">
            <a:extLst>
              <a:ext uri="{FF2B5EF4-FFF2-40B4-BE49-F238E27FC236}">
                <a16:creationId xmlns:a16="http://schemas.microsoft.com/office/drawing/2014/main" id="{295C7490-2FDB-B74A-C31E-269BB0BEE80A}"/>
              </a:ext>
            </a:extLst>
          </p:cNvPr>
          <p:cNvSpPr>
            <a:spLocks noGrp="1"/>
          </p:cNvSpPr>
          <p:nvPr>
            <p:ph idx="1"/>
          </p:nvPr>
        </p:nvSpPr>
        <p:spPr>
          <a:xfrm>
            <a:off x="7898295" y="1675835"/>
            <a:ext cx="4107024" cy="2774367"/>
          </a:xfrm>
        </p:spPr>
        <p:txBody>
          <a:bodyPr>
            <a:normAutofit/>
          </a:bodyPr>
          <a:lstStyle/>
          <a:p>
            <a:r>
              <a:rPr lang="en-US" dirty="0"/>
              <a:t>DC stores 3 years of data</a:t>
            </a:r>
          </a:p>
          <a:p>
            <a:pPr lvl="1"/>
            <a:r>
              <a:rPr lang="en-US" dirty="0" smtClean="0"/>
              <a:t>It</a:t>
            </a:r>
            <a:r>
              <a:rPr lang="en-US" dirty="0" smtClean="0">
                <a:latin typeface="Bahnschrift Condensed" panose="020B0502040204020203" pitchFamily="34" charset="0"/>
              </a:rPr>
              <a:t>’</a:t>
            </a:r>
            <a:r>
              <a:rPr lang="en-US" dirty="0" smtClean="0"/>
              <a:t>s </a:t>
            </a:r>
            <a:r>
              <a:rPr lang="en-US" dirty="0"/>
              <a:t>slow</a:t>
            </a:r>
          </a:p>
          <a:p>
            <a:pPr lvl="1"/>
            <a:r>
              <a:rPr lang="en-US" dirty="0"/>
              <a:t>It times out</a:t>
            </a:r>
          </a:p>
          <a:p>
            <a:pPr lvl="1"/>
            <a:r>
              <a:rPr lang="en-US" dirty="0"/>
              <a:t>It only returns the top 100</a:t>
            </a:r>
          </a:p>
          <a:p>
            <a:endParaRPr lang="en-US" dirty="0"/>
          </a:p>
        </p:txBody>
      </p:sp>
      <p:pic>
        <p:nvPicPr>
          <p:cNvPr id="6" name="Picture 5"/>
          <p:cNvPicPr>
            <a:picLocks noChangeAspect="1"/>
          </p:cNvPicPr>
          <p:nvPr/>
        </p:nvPicPr>
        <p:blipFill>
          <a:blip r:embed="rId4"/>
          <a:stretch>
            <a:fillRect/>
          </a:stretch>
        </p:blipFill>
        <p:spPr>
          <a:xfrm>
            <a:off x="74714" y="1372005"/>
            <a:ext cx="5112071" cy="3689081"/>
          </a:xfrm>
          <a:prstGeom prst="rect">
            <a:avLst/>
          </a:prstGeom>
        </p:spPr>
      </p:pic>
      <p:pic>
        <p:nvPicPr>
          <p:cNvPr id="7" name="Picture 6"/>
          <p:cNvPicPr>
            <a:picLocks noChangeAspect="1"/>
          </p:cNvPicPr>
          <p:nvPr/>
        </p:nvPicPr>
        <p:blipFill>
          <a:blip r:embed="rId5"/>
          <a:stretch>
            <a:fillRect/>
          </a:stretch>
        </p:blipFill>
        <p:spPr>
          <a:xfrm>
            <a:off x="3052159" y="3356637"/>
            <a:ext cx="5321560" cy="3303037"/>
          </a:xfrm>
          <a:prstGeom prst="rect">
            <a:avLst/>
          </a:prstGeom>
        </p:spPr>
      </p:pic>
    </p:spTree>
    <p:extLst>
      <p:ext uri="{BB962C8B-B14F-4D97-AF65-F5344CB8AC3E}">
        <p14:creationId xmlns:p14="http://schemas.microsoft.com/office/powerpoint/2010/main" val="173126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4DE5AA96-A1E2-424B-B98F-DF321364C02F}"/>
              </a:ext>
            </a:extLst>
          </p:cNvPr>
          <p:cNvSpPr>
            <a:spLocks noGrp="1"/>
          </p:cNvSpPr>
          <p:nvPr>
            <p:ph type="title"/>
          </p:nvPr>
        </p:nvSpPr>
        <p:spPr/>
        <p:txBody>
          <a:bodyPr/>
          <a:lstStyle/>
          <a:p>
            <a:r>
              <a:rPr lang="en-US" dirty="0" smtClean="0"/>
              <a:t>More Options</a:t>
            </a:r>
            <a:endParaRPr lang="en-US" dirty="0">
              <a:solidFill>
                <a:srgbClr val="00223D"/>
              </a:solidFill>
            </a:endParaRPr>
          </a:p>
        </p:txBody>
      </p:sp>
      <p:sp>
        <p:nvSpPr>
          <p:cNvPr id="5" name="Rectangle 4">
            <a:extLst>
              <a:ext uri="{FF2B5EF4-FFF2-40B4-BE49-F238E27FC236}">
                <a16:creationId xmlns:a16="http://schemas.microsoft.com/office/drawing/2014/main" id="{8B506853-5B7D-556D-60A7-9B2A966C3921}"/>
              </a:ext>
            </a:extLst>
          </p:cNvPr>
          <p:cNvSpPr/>
          <p:nvPr/>
        </p:nvSpPr>
        <p:spPr>
          <a:xfrm>
            <a:off x="0" y="5873519"/>
            <a:ext cx="12192000" cy="984482"/>
          </a:xfrm>
          <a:prstGeom prst="rect">
            <a:avLst/>
          </a:prstGeom>
          <a:solidFill>
            <a:srgbClr val="F3E4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a:extLst>
              <a:ext uri="{FF2B5EF4-FFF2-40B4-BE49-F238E27FC236}">
                <a16:creationId xmlns:a16="http://schemas.microsoft.com/office/drawing/2014/main" id="{23E69FC6-D07E-8774-63E8-736E5F5FCD55}"/>
              </a:ext>
            </a:extLst>
          </p:cNvPr>
          <p:cNvPicPr>
            <a:picLocks noChangeAspect="1"/>
          </p:cNvPicPr>
          <p:nvPr/>
        </p:nvPicPr>
        <p:blipFill>
          <a:blip r:embed="rId3"/>
          <a:stretch>
            <a:fillRect/>
          </a:stretch>
        </p:blipFill>
        <p:spPr>
          <a:xfrm>
            <a:off x="11266948" y="5945786"/>
            <a:ext cx="850338" cy="850338"/>
          </a:xfrm>
          <a:prstGeom prst="rect">
            <a:avLst/>
          </a:prstGeom>
        </p:spPr>
      </p:pic>
      <p:sp>
        <p:nvSpPr>
          <p:cNvPr id="24" name="Content Placeholder 23">
            <a:extLst>
              <a:ext uri="{FF2B5EF4-FFF2-40B4-BE49-F238E27FC236}">
                <a16:creationId xmlns:a16="http://schemas.microsoft.com/office/drawing/2014/main" id="{295C7490-2FDB-B74A-C31E-269BB0BEE80A}"/>
              </a:ext>
            </a:extLst>
          </p:cNvPr>
          <p:cNvSpPr>
            <a:spLocks noGrp="1"/>
          </p:cNvSpPr>
          <p:nvPr>
            <p:ph idx="1"/>
          </p:nvPr>
        </p:nvSpPr>
        <p:spPr>
          <a:xfrm>
            <a:off x="7268547" y="1690688"/>
            <a:ext cx="4470918" cy="2186538"/>
          </a:xfrm>
        </p:spPr>
        <p:txBody>
          <a:bodyPr/>
          <a:lstStyle/>
          <a:p>
            <a:pPr marL="0" indent="0">
              <a:buNone/>
            </a:pPr>
            <a:r>
              <a:rPr lang="en-US" dirty="0" err="1"/>
              <a:t>libraryIQ</a:t>
            </a:r>
            <a:r>
              <a:rPr lang="en-US" dirty="0"/>
              <a:t> Trending Titles</a:t>
            </a:r>
          </a:p>
          <a:p>
            <a:pPr marL="0" indent="0">
              <a:buNone/>
            </a:pPr>
            <a:r>
              <a:rPr lang="en-US" dirty="0"/>
              <a:t>Most circs of items in collection</a:t>
            </a:r>
          </a:p>
          <a:p>
            <a:pPr marL="0" indent="0">
              <a:buNone/>
            </a:pPr>
            <a:endParaRPr lang="en-US" dirty="0"/>
          </a:p>
        </p:txBody>
      </p:sp>
      <p:pic>
        <p:nvPicPr>
          <p:cNvPr id="6" name="Picture 5"/>
          <p:cNvPicPr>
            <a:picLocks noChangeAspect="1"/>
          </p:cNvPicPr>
          <p:nvPr/>
        </p:nvPicPr>
        <p:blipFill>
          <a:blip r:embed="rId4"/>
          <a:stretch>
            <a:fillRect/>
          </a:stretch>
        </p:blipFill>
        <p:spPr>
          <a:xfrm>
            <a:off x="1670181" y="1511762"/>
            <a:ext cx="4441371" cy="2510340"/>
          </a:xfrm>
          <a:prstGeom prst="rect">
            <a:avLst/>
          </a:prstGeom>
        </p:spPr>
      </p:pic>
      <p:pic>
        <p:nvPicPr>
          <p:cNvPr id="7" name="Picture 6"/>
          <p:cNvPicPr>
            <a:picLocks noChangeAspect="1"/>
          </p:cNvPicPr>
          <p:nvPr/>
        </p:nvPicPr>
        <p:blipFill>
          <a:blip r:embed="rId5"/>
          <a:stretch>
            <a:fillRect/>
          </a:stretch>
        </p:blipFill>
        <p:spPr>
          <a:xfrm>
            <a:off x="5618584" y="4179222"/>
            <a:ext cx="5380495" cy="2522259"/>
          </a:xfrm>
          <a:prstGeom prst="rect">
            <a:avLst/>
          </a:prstGeom>
        </p:spPr>
      </p:pic>
      <p:sp>
        <p:nvSpPr>
          <p:cNvPr id="8" name="Content Placeholder 23">
            <a:extLst>
              <a:ext uri="{FF2B5EF4-FFF2-40B4-BE49-F238E27FC236}">
                <a16:creationId xmlns:a16="http://schemas.microsoft.com/office/drawing/2014/main" id="{295C7490-2FDB-B74A-C31E-269BB0BEE80A}"/>
              </a:ext>
            </a:extLst>
          </p:cNvPr>
          <p:cNvSpPr txBox="1">
            <a:spLocks/>
          </p:cNvSpPr>
          <p:nvPr/>
        </p:nvSpPr>
        <p:spPr>
          <a:xfrm>
            <a:off x="663834" y="4179222"/>
            <a:ext cx="4470918" cy="21865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Minuteman Purchase Alert</a:t>
            </a:r>
          </a:p>
          <a:p>
            <a:pPr marL="0" indent="0">
              <a:buNone/>
            </a:pPr>
            <a:r>
              <a:rPr lang="en-US" dirty="0"/>
              <a:t>Outstanding holds for pickup location</a:t>
            </a:r>
          </a:p>
          <a:p>
            <a:pPr marL="0" indent="0">
              <a:buFont typeface="Arial" panose="020B0604020202020204" pitchFamily="34" charset="0"/>
              <a:buNone/>
            </a:pPr>
            <a:endParaRPr lang="en-US" dirty="0"/>
          </a:p>
        </p:txBody>
      </p:sp>
    </p:spTree>
    <p:extLst>
      <p:ext uri="{BB962C8B-B14F-4D97-AF65-F5344CB8AC3E}">
        <p14:creationId xmlns:p14="http://schemas.microsoft.com/office/powerpoint/2010/main" val="3291733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4DE5AA96-A1E2-424B-B98F-DF321364C02F}"/>
              </a:ext>
            </a:extLst>
          </p:cNvPr>
          <p:cNvSpPr>
            <a:spLocks noGrp="1"/>
          </p:cNvSpPr>
          <p:nvPr>
            <p:ph type="title"/>
          </p:nvPr>
        </p:nvSpPr>
        <p:spPr/>
        <p:txBody>
          <a:bodyPr/>
          <a:lstStyle/>
          <a:p>
            <a:r>
              <a:rPr lang="en-US" dirty="0"/>
              <a:t>Even More Options</a:t>
            </a:r>
            <a:endParaRPr lang="en-US" dirty="0">
              <a:solidFill>
                <a:srgbClr val="00223D"/>
              </a:solidFill>
            </a:endParaRPr>
          </a:p>
        </p:txBody>
      </p:sp>
      <p:sp>
        <p:nvSpPr>
          <p:cNvPr id="5" name="Rectangle 4">
            <a:extLst>
              <a:ext uri="{FF2B5EF4-FFF2-40B4-BE49-F238E27FC236}">
                <a16:creationId xmlns:a16="http://schemas.microsoft.com/office/drawing/2014/main" id="{8B506853-5B7D-556D-60A7-9B2A966C3921}"/>
              </a:ext>
            </a:extLst>
          </p:cNvPr>
          <p:cNvSpPr/>
          <p:nvPr/>
        </p:nvSpPr>
        <p:spPr>
          <a:xfrm>
            <a:off x="0" y="5873519"/>
            <a:ext cx="12192000" cy="984482"/>
          </a:xfrm>
          <a:prstGeom prst="rect">
            <a:avLst/>
          </a:prstGeom>
          <a:solidFill>
            <a:srgbClr val="F3E4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a:extLst>
              <a:ext uri="{FF2B5EF4-FFF2-40B4-BE49-F238E27FC236}">
                <a16:creationId xmlns:a16="http://schemas.microsoft.com/office/drawing/2014/main" id="{23E69FC6-D07E-8774-63E8-736E5F5FCD55}"/>
              </a:ext>
            </a:extLst>
          </p:cNvPr>
          <p:cNvPicPr>
            <a:picLocks noChangeAspect="1"/>
          </p:cNvPicPr>
          <p:nvPr/>
        </p:nvPicPr>
        <p:blipFill>
          <a:blip r:embed="rId3"/>
          <a:stretch>
            <a:fillRect/>
          </a:stretch>
        </p:blipFill>
        <p:spPr>
          <a:xfrm>
            <a:off x="11266948" y="5945786"/>
            <a:ext cx="850338" cy="850338"/>
          </a:xfrm>
          <a:prstGeom prst="rect">
            <a:avLst/>
          </a:prstGeom>
        </p:spPr>
      </p:pic>
      <p:pic>
        <p:nvPicPr>
          <p:cNvPr id="6" name="Picture 5"/>
          <p:cNvPicPr>
            <a:picLocks noChangeAspect="1"/>
          </p:cNvPicPr>
          <p:nvPr/>
        </p:nvPicPr>
        <p:blipFill>
          <a:blip r:embed="rId4"/>
          <a:stretch>
            <a:fillRect/>
          </a:stretch>
        </p:blipFill>
        <p:spPr>
          <a:xfrm>
            <a:off x="597616" y="1485123"/>
            <a:ext cx="4789367" cy="3657600"/>
          </a:xfrm>
          <a:prstGeom prst="rect">
            <a:avLst/>
          </a:prstGeom>
        </p:spPr>
      </p:pic>
      <p:pic>
        <p:nvPicPr>
          <p:cNvPr id="7" name="Picture 6"/>
          <p:cNvPicPr>
            <a:picLocks noChangeAspect="1"/>
          </p:cNvPicPr>
          <p:nvPr/>
        </p:nvPicPr>
        <p:blipFill>
          <a:blip r:embed="rId5"/>
          <a:stretch>
            <a:fillRect/>
          </a:stretch>
        </p:blipFill>
        <p:spPr>
          <a:xfrm>
            <a:off x="6820088" y="1485123"/>
            <a:ext cx="4200525" cy="1745288"/>
          </a:xfrm>
          <a:prstGeom prst="rect">
            <a:avLst/>
          </a:prstGeom>
        </p:spPr>
      </p:pic>
      <p:pic>
        <p:nvPicPr>
          <p:cNvPr id="8" name="Picture 7"/>
          <p:cNvPicPr>
            <a:picLocks noChangeAspect="1"/>
          </p:cNvPicPr>
          <p:nvPr/>
        </p:nvPicPr>
        <p:blipFill>
          <a:blip r:embed="rId6"/>
          <a:stretch>
            <a:fillRect/>
          </a:stretch>
        </p:blipFill>
        <p:spPr>
          <a:xfrm>
            <a:off x="6820088" y="3230411"/>
            <a:ext cx="4171858" cy="3178358"/>
          </a:xfrm>
          <a:prstGeom prst="rect">
            <a:avLst/>
          </a:prstGeom>
        </p:spPr>
      </p:pic>
      <p:pic>
        <p:nvPicPr>
          <p:cNvPr id="2" name="Picture 1"/>
          <p:cNvPicPr>
            <a:picLocks noChangeAspect="1"/>
          </p:cNvPicPr>
          <p:nvPr/>
        </p:nvPicPr>
        <p:blipFill>
          <a:blip r:embed="rId7"/>
          <a:stretch>
            <a:fillRect/>
          </a:stretch>
        </p:blipFill>
        <p:spPr>
          <a:xfrm>
            <a:off x="3881535" y="4171776"/>
            <a:ext cx="2588906" cy="2588906"/>
          </a:xfrm>
          <a:prstGeom prst="rect">
            <a:avLst/>
          </a:prstGeom>
        </p:spPr>
      </p:pic>
    </p:spTree>
    <p:extLst>
      <p:ext uri="{BB962C8B-B14F-4D97-AF65-F5344CB8AC3E}">
        <p14:creationId xmlns:p14="http://schemas.microsoft.com/office/powerpoint/2010/main" val="36120690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A71898F-4D0F-919F-D69B-72879BA74619}"/>
              </a:ext>
            </a:extLst>
          </p:cNvPr>
          <p:cNvSpPr/>
          <p:nvPr/>
        </p:nvSpPr>
        <p:spPr>
          <a:xfrm>
            <a:off x="3357250" y="0"/>
            <a:ext cx="8834750" cy="6858000"/>
          </a:xfrm>
          <a:prstGeom prst="rect">
            <a:avLst/>
          </a:prstGeom>
          <a:solidFill>
            <a:srgbClr val="F3E4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181F9501-4654-8CF0-CEF7-2697A05CB704}"/>
              </a:ext>
            </a:extLst>
          </p:cNvPr>
          <p:cNvPicPr>
            <a:picLocks noChangeAspect="1"/>
          </p:cNvPicPr>
          <p:nvPr/>
        </p:nvPicPr>
        <p:blipFill>
          <a:blip r:embed="rId2"/>
          <a:stretch>
            <a:fillRect/>
          </a:stretch>
        </p:blipFill>
        <p:spPr>
          <a:xfrm>
            <a:off x="237500" y="2004002"/>
            <a:ext cx="2849993" cy="2849993"/>
          </a:xfrm>
          <a:prstGeom prst="rect">
            <a:avLst/>
          </a:prstGeom>
        </p:spPr>
      </p:pic>
      <p:sp>
        <p:nvSpPr>
          <p:cNvPr id="2" name="Title 1">
            <a:extLst>
              <a:ext uri="{FF2B5EF4-FFF2-40B4-BE49-F238E27FC236}">
                <a16:creationId xmlns:a16="http://schemas.microsoft.com/office/drawing/2014/main" id="{01BD3775-4F06-3D6F-F872-CC0186454DBE}"/>
              </a:ext>
            </a:extLst>
          </p:cNvPr>
          <p:cNvSpPr>
            <a:spLocks noGrp="1"/>
          </p:cNvSpPr>
          <p:nvPr>
            <p:ph type="ctrTitle"/>
          </p:nvPr>
        </p:nvSpPr>
        <p:spPr>
          <a:xfrm>
            <a:off x="4377539" y="1356766"/>
            <a:ext cx="7190509" cy="1437719"/>
          </a:xfrm>
        </p:spPr>
        <p:txBody>
          <a:bodyPr>
            <a:normAutofit/>
          </a:bodyPr>
          <a:lstStyle/>
          <a:p>
            <a:r>
              <a:rPr lang="en-US" sz="7200" dirty="0" smtClean="0">
                <a:solidFill>
                  <a:srgbClr val="00223D"/>
                </a:solidFill>
              </a:rPr>
              <a:t>Thank You!</a:t>
            </a:r>
            <a:endParaRPr lang="en-US" sz="7200" dirty="0">
              <a:solidFill>
                <a:srgbClr val="00223D"/>
              </a:solidFill>
            </a:endParaRPr>
          </a:p>
        </p:txBody>
      </p:sp>
      <p:sp>
        <p:nvSpPr>
          <p:cNvPr id="6" name="Subtitle 5">
            <a:extLst>
              <a:ext uri="{FF2B5EF4-FFF2-40B4-BE49-F238E27FC236}">
                <a16:creationId xmlns:a16="http://schemas.microsoft.com/office/drawing/2014/main" id="{D6138A63-B70F-BF2F-B517-91379908FA8D}"/>
              </a:ext>
            </a:extLst>
          </p:cNvPr>
          <p:cNvSpPr>
            <a:spLocks noGrp="1"/>
          </p:cNvSpPr>
          <p:nvPr>
            <p:ph type="subTitle" idx="1"/>
          </p:nvPr>
        </p:nvSpPr>
        <p:spPr>
          <a:xfrm>
            <a:off x="5111785" y="3192928"/>
            <a:ext cx="5722018" cy="1036122"/>
          </a:xfrm>
        </p:spPr>
        <p:txBody>
          <a:bodyPr>
            <a:normAutofit fontScale="85000" lnSpcReduction="20000"/>
          </a:bodyPr>
          <a:lstStyle/>
          <a:p>
            <a:r>
              <a:rPr lang="en-US" dirty="0" smtClean="0">
                <a:solidFill>
                  <a:srgbClr val="00223D"/>
                </a:solidFill>
              </a:rPr>
              <a:t>Jeremy Goldstein</a:t>
            </a:r>
          </a:p>
          <a:p>
            <a:r>
              <a:rPr lang="en-US" dirty="0" smtClean="0">
                <a:solidFill>
                  <a:srgbClr val="00223D"/>
                </a:solidFill>
              </a:rPr>
              <a:t>Minuteman Library Network</a:t>
            </a:r>
          </a:p>
          <a:p>
            <a:r>
              <a:rPr lang="en-US" dirty="0" smtClean="0">
                <a:solidFill>
                  <a:srgbClr val="00223D"/>
                </a:solidFill>
              </a:rPr>
              <a:t>jgoldstein@minlib.net</a:t>
            </a:r>
            <a:endParaRPr lang="en-US" dirty="0">
              <a:solidFill>
                <a:srgbClr val="00223D"/>
              </a:solidFill>
            </a:endParaRPr>
          </a:p>
        </p:txBody>
      </p:sp>
    </p:spTree>
    <p:extLst>
      <p:ext uri="{BB962C8B-B14F-4D97-AF65-F5344CB8AC3E}">
        <p14:creationId xmlns:p14="http://schemas.microsoft.com/office/powerpoint/2010/main" val="386700595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IUG 2026 PPT template" id="{BA4BCBE3-25E0-4778-AF3C-E513E8CEEA7C}" vid="{E1BE4A6A-C8DC-4AD0-BACA-A2C24286B45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IUG_2026_PPT_template</Template>
  <TotalTime>561</TotalTime>
  <Words>3243</Words>
  <Application>Microsoft Office PowerPoint</Application>
  <PresentationFormat>Widescreen</PresentationFormat>
  <Paragraphs>139</Paragraphs>
  <Slides>20</Slides>
  <Notes>19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Aptos</vt:lpstr>
      <vt:lpstr>Aptos Display</vt:lpstr>
      <vt:lpstr>Arial</vt:lpstr>
      <vt:lpstr>Bahnschrift Condensed</vt:lpstr>
      <vt:lpstr>Times New Roman</vt:lpstr>
      <vt:lpstr>Office Theme</vt:lpstr>
      <vt:lpstr>Putting Privacy First: Making Due with Less Data </vt:lpstr>
      <vt:lpstr>Massachusetts Law</vt:lpstr>
      <vt:lpstr>Policy Interpretation</vt:lpstr>
      <vt:lpstr>Massachusetts Data Privacy Act</vt:lpstr>
      <vt:lpstr>Minuteman Standards</vt:lpstr>
      <vt:lpstr>And Yet...Data</vt:lpstr>
      <vt:lpstr>Approach</vt:lpstr>
      <vt:lpstr>What We Can’t Answer</vt:lpstr>
      <vt:lpstr>How many times did a patron come to the library in the last year?</vt:lpstr>
      <vt:lpstr>What We Can Answer Instead</vt:lpstr>
      <vt:lpstr>What We Can Answer Instead</vt:lpstr>
      <vt:lpstr>Which Patrons Are the Heaviest Users of Our Hotspots?</vt:lpstr>
      <vt:lpstr>Which Patrons Are the Heaviest Users of Our Hotspots?</vt:lpstr>
      <vt:lpstr>Which Patrons Are the Heaviest Users of Our Hotspots?</vt:lpstr>
      <vt:lpstr>Which patron checked out a particular item, 2 checkouts ago?</vt:lpstr>
      <vt:lpstr>What was the most checked out title of 2025?</vt:lpstr>
      <vt:lpstr>Imperfect Option</vt:lpstr>
      <vt:lpstr>More Options</vt:lpstr>
      <vt:lpstr>Even More Options</vt:lpstr>
      <vt:lpstr>Thank You!</vt:lpstr>
    </vt:vector>
  </TitlesOfParts>
  <Company>Minuteman Library Network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Jeremy Goldstein</dc:creator>
  <cp:lastModifiedBy>Jeremy Goldstein</cp:lastModifiedBy>
  <cp:revision>21</cp:revision>
  <dcterms:created xsi:type="dcterms:W3CDTF">2026-03-03T14:46:33Z</dcterms:created>
  <dcterms:modified xsi:type="dcterms:W3CDTF">2026-04-02T17:15:16Z</dcterms:modified>
</cp:coreProperties>
</file>