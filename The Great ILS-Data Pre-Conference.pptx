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77"/>
  </p:notesMasterIdLst>
  <p:sldIdLst>
    <p:sldId id="257" r:id="rId3"/>
    <p:sldId id="280" r:id="rId4"/>
    <p:sldId id="279" r:id="rId5"/>
    <p:sldId id="281" r:id="rId6"/>
    <p:sldId id="282" r:id="rId7"/>
    <p:sldId id="293" r:id="rId8"/>
    <p:sldId id="294" r:id="rId9"/>
    <p:sldId id="295" r:id="rId10"/>
    <p:sldId id="296" r:id="rId11"/>
    <p:sldId id="297" r:id="rId12"/>
    <p:sldId id="298" r:id="rId13"/>
    <p:sldId id="299" r:id="rId14"/>
    <p:sldId id="300" r:id="rId15"/>
    <p:sldId id="301" r:id="rId16"/>
    <p:sldId id="302" r:id="rId17"/>
    <p:sldId id="303" r:id="rId18"/>
    <p:sldId id="304" r:id="rId19"/>
    <p:sldId id="305" r:id="rId20"/>
    <p:sldId id="306" r:id="rId21"/>
    <p:sldId id="307" r:id="rId22"/>
    <p:sldId id="308" r:id="rId23"/>
    <p:sldId id="309" r:id="rId24"/>
    <p:sldId id="310" r:id="rId25"/>
    <p:sldId id="311" r:id="rId26"/>
    <p:sldId id="312" r:id="rId27"/>
    <p:sldId id="313" r:id="rId28"/>
    <p:sldId id="314" r:id="rId29"/>
    <p:sldId id="315" r:id="rId30"/>
    <p:sldId id="316" r:id="rId31"/>
    <p:sldId id="317" r:id="rId32"/>
    <p:sldId id="318" r:id="rId33"/>
    <p:sldId id="319" r:id="rId34"/>
    <p:sldId id="320" r:id="rId35"/>
    <p:sldId id="321" r:id="rId36"/>
    <p:sldId id="322" r:id="rId37"/>
    <p:sldId id="323" r:id="rId38"/>
    <p:sldId id="324" r:id="rId39"/>
    <p:sldId id="325" r:id="rId40"/>
    <p:sldId id="326" r:id="rId41"/>
    <p:sldId id="327" r:id="rId42"/>
    <p:sldId id="328" r:id="rId43"/>
    <p:sldId id="329" r:id="rId44"/>
    <p:sldId id="330" r:id="rId45"/>
    <p:sldId id="331" r:id="rId46"/>
    <p:sldId id="332" r:id="rId47"/>
    <p:sldId id="278" r:id="rId48"/>
    <p:sldId id="258" r:id="rId49"/>
    <p:sldId id="292" r:id="rId50"/>
    <p:sldId id="269" r:id="rId51"/>
    <p:sldId id="268" r:id="rId52"/>
    <p:sldId id="267" r:id="rId53"/>
    <p:sldId id="266" r:id="rId54"/>
    <p:sldId id="265" r:id="rId55"/>
    <p:sldId id="264" r:id="rId56"/>
    <p:sldId id="263" r:id="rId57"/>
    <p:sldId id="262" r:id="rId58"/>
    <p:sldId id="273" r:id="rId59"/>
    <p:sldId id="261" r:id="rId60"/>
    <p:sldId id="272" r:id="rId61"/>
    <p:sldId id="271" r:id="rId62"/>
    <p:sldId id="270" r:id="rId63"/>
    <p:sldId id="275" r:id="rId64"/>
    <p:sldId id="274" r:id="rId65"/>
    <p:sldId id="276" r:id="rId66"/>
    <p:sldId id="277" r:id="rId67"/>
    <p:sldId id="283" r:id="rId68"/>
    <p:sldId id="290" r:id="rId69"/>
    <p:sldId id="284" r:id="rId70"/>
    <p:sldId id="285" r:id="rId71"/>
    <p:sldId id="286" r:id="rId72"/>
    <p:sldId id="287" r:id="rId73"/>
    <p:sldId id="288" r:id="rId74"/>
    <p:sldId id="289" r:id="rId75"/>
    <p:sldId id="291"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3842"/>
    <a:srgbClr val="00223D"/>
    <a:srgbClr val="620E28"/>
    <a:srgbClr val="F3E4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3" autoAdjust="0"/>
    <p:restoredTop sz="72939" autoAdjust="0"/>
  </p:normalViewPr>
  <p:slideViewPr>
    <p:cSldViewPr snapToGrid="0">
      <p:cViewPr varScale="1">
        <p:scale>
          <a:sx n="72" d="100"/>
          <a:sy n="72" d="100"/>
        </p:scale>
        <p:origin x="46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E792A-D199-4740-A380-51F76153B224}"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DACD6-92EE-45CE-A7B0-1F123E9D0438}" type="slidenum">
              <a:rPr lang="en-US" smtClean="0"/>
              <a:t>‹#›</a:t>
            </a:fld>
            <a:endParaRPr lang="en-US"/>
          </a:p>
        </p:txBody>
      </p:sp>
    </p:spTree>
    <p:extLst>
      <p:ext uri="{BB962C8B-B14F-4D97-AF65-F5344CB8AC3E}">
        <p14:creationId xmlns:p14="http://schemas.microsoft.com/office/powerpoint/2010/main" val="2536031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2</a:t>
            </a:fld>
            <a:endParaRPr lang="en-US"/>
          </a:p>
        </p:txBody>
      </p:sp>
    </p:spTree>
    <p:extLst>
      <p:ext uri="{BB962C8B-B14F-4D97-AF65-F5344CB8AC3E}">
        <p14:creationId xmlns:p14="http://schemas.microsoft.com/office/powerpoint/2010/main" val="3160833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78DACD6-92EE-45CE-A7B0-1F123E9D0438}" type="slidenum">
              <a:rPr lang="en-US" smtClean="0"/>
              <a:t>3</a:t>
            </a:fld>
            <a:endParaRPr lang="en-US"/>
          </a:p>
        </p:txBody>
      </p:sp>
    </p:spTree>
    <p:extLst>
      <p:ext uri="{BB962C8B-B14F-4D97-AF65-F5344CB8AC3E}">
        <p14:creationId xmlns:p14="http://schemas.microsoft.com/office/powerpoint/2010/main" val="2876268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78DACD6-92EE-45CE-A7B0-1F123E9D0438}" type="slidenum">
              <a:rPr lang="en-US" smtClean="0"/>
              <a:t>4</a:t>
            </a:fld>
            <a:endParaRPr lang="en-US"/>
          </a:p>
        </p:txBody>
      </p:sp>
    </p:spTree>
    <p:extLst>
      <p:ext uri="{BB962C8B-B14F-4D97-AF65-F5344CB8AC3E}">
        <p14:creationId xmlns:p14="http://schemas.microsoft.com/office/powerpoint/2010/main" val="1689654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78DACD6-92EE-45CE-A7B0-1F123E9D0438}" type="slidenum">
              <a:rPr lang="en-US" smtClean="0"/>
              <a:t>5</a:t>
            </a:fld>
            <a:endParaRPr lang="en-US"/>
          </a:p>
        </p:txBody>
      </p:sp>
    </p:spTree>
    <p:extLst>
      <p:ext uri="{BB962C8B-B14F-4D97-AF65-F5344CB8AC3E}">
        <p14:creationId xmlns:p14="http://schemas.microsoft.com/office/powerpoint/2010/main" val="495812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58519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87443-D53D-6C3D-E690-474B897BA1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A0173-64C4-14E7-625A-B1C383C98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0F892-3961-A9D4-4A7B-8EA56D18BD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510153-F81E-2660-32AD-60506EEBAB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11667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09442-E935-5E79-10CA-77712E3F0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E66C13-1A18-7B35-BDBC-FF1E3659F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973AD-D3F3-4A89-7ABD-067FB1E0E1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50D68D-BF8A-A58D-DE07-4C3FEBB5AA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36197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B2B9A-773C-28BD-83DC-4F560DCF8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BC212-93BE-238F-4344-A94E76C96B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BBF6C3-78B8-66D3-F713-0FCCB91612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1F1DEC-D93E-ED31-760B-328F5E0CF1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84892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78F35-6C6F-54AA-542F-DFC89C527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88BB2-74E0-876C-55C4-2D99A7182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13A25D-C73F-CF52-8270-C21B6DDDDD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CE4101-C327-2108-DEC5-80E5C544526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23279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CFF04-9058-339F-8611-EDA49CCEC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2FD753-1663-0F82-1E26-E8CF4945B4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30CB1-E696-FA24-FE10-14BFC4BC44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B1B185-2CFA-BA68-F84A-317F595D97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6805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0AD8-8057-DD73-A66C-0F4002B25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AFDF82-0886-12B0-FFF5-966F8746F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3F59DA-FE15-F1F6-9989-62EDB05455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9643A8-3E69-12C0-927E-8C6A693DDB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07995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1E98C-C35B-FE7E-B77C-E00B8F3B8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91FA03-7132-C412-BD2D-8C7D30C392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72D85D-515D-827E-959C-6A9212C767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A4ECB0-DBA7-3553-E1D7-FB0B2394D3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42175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E1BE2-ABEE-C80E-1C9F-9610158F6A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8612B-81CC-6C87-68AF-06922C7B24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B146CB-D90D-E754-F19F-AEAF62F564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3130DB-338A-5620-23C9-17DF2D212C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55011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AFC14-74B2-2E45-D76A-9C83341CA4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ADCF1E-7035-5851-853C-F59B838A10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169B1A-055C-7F90-4E6F-5E6B55F58E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51F7BE-7841-EA27-3457-B4F47C0794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587262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D0D18-6749-0F9A-FB45-55A45EC93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FC0DF-DCAB-C4C8-98B2-79C433C8A5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96C8D4-4B01-0804-A2DF-93C0646C29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1F34B8-0FC0-74FF-F973-C6F1839328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8694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650A1-E3EE-D6CC-8A32-F2F01DFBF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025881-0219-CDC6-9589-9227EC7F9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B6B99E-816B-515E-AA45-08CEC6AA12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21E1F6-0D2E-DD73-1D82-C1F0E29D44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868078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2A3DD-E99D-6821-F474-7A8F2A32AC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FE64A0-A454-D80D-B2EB-5D0AB6EF1D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B4A442-2B4C-8F03-5CC2-E41418DD80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D34752-0AC1-D2AA-EF7F-C675CF125F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06953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17FE8-58F0-200B-493E-4A57A71E44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3A304-B7CB-DBA6-6924-5C0B096C54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1DF0FB-CBF7-2CBB-F3E5-AB16566428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684621-C588-6941-DB1A-6705936C8C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25228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65657-6CD3-934C-3691-2E2DACD08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0777E-B531-F275-AFD2-19B1CDA26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E2B72-DA53-45CB-9400-C90E50F0D5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E1E082-5EC9-6776-7A6C-6E3B597AC4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29557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1AC0A-2706-A7EB-E91D-4FF6AD6FB8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7F0AFC-99D7-BD16-8C6F-79B46356D4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52BD8-DE00-A9C7-CCD7-EE746187E6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98897E-4FBA-87F0-A8AD-7A4AEF1FC3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861802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A329F-8BD8-00EF-D40D-3B3D301A2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88E00-39E3-6109-2B89-CDF768A08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6F371-EF3A-78BC-1A59-593A507D44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36F795-1915-5109-6667-DADD674D80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00221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E255C-E25B-C3F1-E91E-A7C1A099E9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5FB02-A880-D3E0-C39F-D6E0469F7A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45B87C-DDC4-8CA6-E7D9-A8CD84CDE9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32457A-997A-8614-DD3E-687E492935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623678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53B4E-57A3-D3A0-85C4-48C5F08B9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55DEB-8978-F13D-5CAC-FC112BCBCA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44223A-DA77-5632-850C-2DEBB1830C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148B8B-819C-924E-60C0-4E5576932B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8DACD6-92EE-45CE-A7B0-1F123E9D043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948593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problem.</a:t>
            </a:r>
            <a:br>
              <a:rPr lang="en-US" dirty="0"/>
            </a:br>
            <a:r>
              <a:rPr lang="en-US" dirty="0"/>
              <a:t>Our AMH systems are doing a ton of work behind the scenes, moving thousands of items every day.</a:t>
            </a:r>
            <a:br>
              <a:rPr lang="en-US" dirty="0"/>
            </a:br>
            <a:r>
              <a:rPr lang="en-US" dirty="0"/>
              <a:t>But when something goes wrong, or even when we’re just curious, we don’t actually have great visibility into how those decisions are being made.</a:t>
            </a:r>
            <a:br>
              <a:rPr lang="en-US" dirty="0"/>
            </a:br>
            <a:r>
              <a:rPr lang="en-US" dirty="0"/>
              <a:t>Especially when items fall into exceptions, it becomes really difficult to explain why.</a:t>
            </a:r>
          </a:p>
        </p:txBody>
      </p:sp>
      <p:sp>
        <p:nvSpPr>
          <p:cNvPr id="4" name="Slide Number Placeholder 3"/>
          <p:cNvSpPr>
            <a:spLocks noGrp="1"/>
          </p:cNvSpPr>
          <p:nvPr>
            <p:ph type="sldNum" sz="quarter" idx="5"/>
          </p:nvPr>
        </p:nvSpPr>
        <p:spPr/>
        <p:txBody>
          <a:bodyPr/>
          <a:lstStyle/>
          <a:p>
            <a:fld id="{678DACD6-92EE-45CE-A7B0-1F123E9D0438}" type="slidenum">
              <a:rPr lang="en-US" smtClean="0"/>
              <a:t>27</a:t>
            </a:fld>
            <a:endParaRPr lang="en-US"/>
          </a:p>
        </p:txBody>
      </p:sp>
    </p:spTree>
    <p:extLst>
      <p:ext uri="{BB962C8B-B14F-4D97-AF65-F5344CB8AC3E}">
        <p14:creationId xmlns:p14="http://schemas.microsoft.com/office/powerpoint/2010/main" val="37261176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that environment looks like.</a:t>
            </a:r>
            <a:br>
              <a:rPr lang="en-US" dirty="0"/>
            </a:br>
            <a:r>
              <a:rPr lang="en-US" dirty="0"/>
              <a:t>We have multiple bins, each serving a different purpose, holds, transits, exceptions, and so on.</a:t>
            </a:r>
            <a:br>
              <a:rPr lang="en-US" dirty="0"/>
            </a:br>
            <a:r>
              <a:rPr lang="en-US" dirty="0"/>
              <a:t>Behind the scenes, there are rules driving how items move through this system.</a:t>
            </a:r>
            <a:br>
              <a:rPr lang="en-US" dirty="0"/>
            </a:br>
            <a:r>
              <a:rPr lang="en-US" dirty="0"/>
              <a:t>So what looks simple physically is actually fairly complex logically.</a:t>
            </a:r>
          </a:p>
        </p:txBody>
      </p:sp>
      <p:sp>
        <p:nvSpPr>
          <p:cNvPr id="4" name="Slide Number Placeholder 3"/>
          <p:cNvSpPr>
            <a:spLocks noGrp="1"/>
          </p:cNvSpPr>
          <p:nvPr>
            <p:ph type="sldNum" sz="quarter" idx="5"/>
          </p:nvPr>
        </p:nvSpPr>
        <p:spPr/>
        <p:txBody>
          <a:bodyPr/>
          <a:lstStyle/>
          <a:p>
            <a:fld id="{678DACD6-92EE-45CE-A7B0-1F123E9D0438}" type="slidenum">
              <a:rPr lang="en-US" smtClean="0"/>
              <a:t>28</a:t>
            </a:fld>
            <a:endParaRPr lang="en-US"/>
          </a:p>
        </p:txBody>
      </p:sp>
    </p:spTree>
    <p:extLst>
      <p:ext uri="{BB962C8B-B14F-4D97-AF65-F5344CB8AC3E}">
        <p14:creationId xmlns:p14="http://schemas.microsoft.com/office/powerpoint/2010/main" val="27524207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 AMH → Bin (unknown)</a:t>
            </a:r>
          </a:p>
          <a:p>
            <a:r>
              <a:rPr lang="en-US" dirty="0"/>
              <a:t>Item → Data → Logic → Bin (visible)</a:t>
            </a:r>
          </a:p>
          <a:p>
            <a:endParaRPr lang="en-US" dirty="0"/>
          </a:p>
          <a:p>
            <a:r>
              <a:rPr lang="en-US" dirty="0"/>
              <a:t>From our perspective, the AMH can feel like a bit of a black box.</a:t>
            </a:r>
            <a:br>
              <a:rPr lang="en-US" dirty="0"/>
            </a:br>
            <a:r>
              <a:rPr lang="en-US" dirty="0"/>
              <a:t>Items go in, decisions are made, and they end up in a bin.</a:t>
            </a:r>
            <a:br>
              <a:rPr lang="en-US" dirty="0"/>
            </a:br>
            <a:r>
              <a:rPr lang="en-US" dirty="0"/>
              <a:t>But we don’t always have a clear way to validate or explain those decisions.</a:t>
            </a:r>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29</a:t>
            </a:fld>
            <a:endParaRPr lang="en-US"/>
          </a:p>
        </p:txBody>
      </p:sp>
    </p:spTree>
    <p:extLst>
      <p:ext uri="{BB962C8B-B14F-4D97-AF65-F5344CB8AC3E}">
        <p14:creationId xmlns:p14="http://schemas.microsoft.com/office/powerpoint/2010/main" val="23844084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AMH System → SIP2 Logs → Transactions</a:t>
            </a:r>
          </a:p>
          <a:p>
            <a:r>
              <a:rPr lang="en-US" dirty="0"/>
              <a:t>Every check-in is logged</a:t>
            </a:r>
          </a:p>
          <a:p>
            <a:r>
              <a:rPr lang="en-US" dirty="0"/>
              <a:t>Rich but unstructured</a:t>
            </a:r>
          </a:p>
          <a:p>
            <a:endParaRPr lang="en-US" dirty="0"/>
          </a:p>
          <a:p>
            <a:r>
              <a:rPr lang="en-US" dirty="0"/>
              <a:t>But here’s the interesting part, the system is actually logging everything.</a:t>
            </a:r>
            <a:br>
              <a:rPr lang="en-US" dirty="0"/>
            </a:br>
            <a:r>
              <a:rPr lang="en-US" dirty="0"/>
              <a:t>Every check-in transaction is recorded in SIP2 logs.</a:t>
            </a:r>
            <a:br>
              <a:rPr lang="en-US" dirty="0"/>
            </a:br>
            <a:r>
              <a:rPr lang="en-US" dirty="0"/>
              <a:t>These logs contain a lot of useful fields, including information that relates to how items are being routed.</a:t>
            </a:r>
          </a:p>
          <a:p>
            <a:endParaRPr lang="en-US" dirty="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30</a:t>
            </a:fld>
            <a:endParaRPr lang="en-US"/>
          </a:p>
        </p:txBody>
      </p:sp>
    </p:spTree>
    <p:extLst>
      <p:ext uri="{BB962C8B-B14F-4D97-AF65-F5344CB8AC3E}">
        <p14:creationId xmlns:p14="http://schemas.microsoft.com/office/powerpoint/2010/main" val="11578974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of what one of those logs looks like.</a:t>
            </a:r>
            <a:br>
              <a:rPr lang="en-US" dirty="0"/>
            </a:br>
            <a:r>
              <a:rPr lang="en-US" dirty="0"/>
              <a:t>At first glance, it’s not very friendly.</a:t>
            </a:r>
            <a:br>
              <a:rPr lang="en-US" dirty="0"/>
            </a:br>
            <a:r>
              <a:rPr lang="en-US" dirty="0"/>
              <a:t>But once you start breaking it down, you can identify key pieces of information, like the barcode, title, and location data.</a:t>
            </a:r>
          </a:p>
        </p:txBody>
      </p:sp>
      <p:sp>
        <p:nvSpPr>
          <p:cNvPr id="4" name="Slide Number Placeholder 3"/>
          <p:cNvSpPr>
            <a:spLocks noGrp="1"/>
          </p:cNvSpPr>
          <p:nvPr>
            <p:ph type="sldNum" sz="quarter" idx="5"/>
          </p:nvPr>
        </p:nvSpPr>
        <p:spPr/>
        <p:txBody>
          <a:bodyPr/>
          <a:lstStyle/>
          <a:p>
            <a:fld id="{678DACD6-92EE-45CE-A7B0-1F123E9D0438}" type="slidenum">
              <a:rPr lang="en-US" smtClean="0"/>
              <a:t>31</a:t>
            </a:fld>
            <a:endParaRPr lang="en-US"/>
          </a:p>
        </p:txBody>
      </p:sp>
    </p:spTree>
    <p:extLst>
      <p:ext uri="{BB962C8B-B14F-4D97-AF65-F5344CB8AC3E}">
        <p14:creationId xmlns:p14="http://schemas.microsoft.com/office/powerpoint/2010/main" val="33644556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Logs ≠ Bin</a:t>
            </a:r>
          </a:p>
          <a:p>
            <a:r>
              <a:rPr lang="en-US" dirty="0"/>
              <a:t>Logs → Location → Bin (via sorting matrix)</a:t>
            </a:r>
          </a:p>
          <a:p>
            <a:endParaRPr lang="en-US" dirty="0"/>
          </a:p>
          <a:p>
            <a:r>
              <a:rPr lang="en-US" dirty="0"/>
              <a:t>Here’s the key insight.</a:t>
            </a:r>
            <a:br>
              <a:rPr lang="en-US" dirty="0"/>
            </a:br>
            <a:r>
              <a:rPr lang="en-US" dirty="0"/>
              <a:t>The logs don’t actually tell us the bin.</a:t>
            </a:r>
            <a:br>
              <a:rPr lang="en-US" dirty="0"/>
            </a:br>
            <a:r>
              <a:rPr lang="en-US" dirty="0"/>
              <a:t>Instead, they give us location data.</a:t>
            </a:r>
            <a:br>
              <a:rPr lang="en-US" dirty="0"/>
            </a:br>
            <a:r>
              <a:rPr lang="en-US" dirty="0"/>
              <a:t>So, if we want to understand routing, we need to reconstruct it.</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32</a:t>
            </a:fld>
            <a:endParaRPr lang="en-US"/>
          </a:p>
        </p:txBody>
      </p:sp>
    </p:spTree>
    <p:extLst>
      <p:ext uri="{BB962C8B-B14F-4D97-AF65-F5344CB8AC3E}">
        <p14:creationId xmlns:p14="http://schemas.microsoft.com/office/powerpoint/2010/main" val="39306732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your matrix concept (rstCCT.csv)</a:t>
            </a:r>
          </a:p>
          <a:p>
            <a:endParaRPr lang="en-US" dirty="0"/>
          </a:p>
          <a:p>
            <a:r>
              <a:rPr lang="en-US" dirty="0"/>
              <a:t>Maps location → bin</a:t>
            </a:r>
          </a:p>
          <a:p>
            <a:r>
              <a:rPr lang="en-US" dirty="0"/>
              <a:t>Supports exact + wildcard rules</a:t>
            </a:r>
          </a:p>
          <a:p>
            <a:r>
              <a:rPr lang="en-US" dirty="0"/>
              <a:t>* → Bin 0 (Exceptions)</a:t>
            </a:r>
          </a:p>
          <a:p>
            <a:endParaRPr lang="en-US" dirty="0"/>
          </a:p>
          <a:p>
            <a:r>
              <a:rPr lang="en-US" dirty="0"/>
              <a:t>This is where the sorting matrix comes in.</a:t>
            </a:r>
            <a:br>
              <a:rPr lang="en-US" dirty="0"/>
            </a:br>
            <a:r>
              <a:rPr lang="en-US" dirty="0"/>
              <a:t>It acts as the brain of the operation.</a:t>
            </a:r>
            <a:br>
              <a:rPr lang="en-US" dirty="0"/>
            </a:br>
            <a:r>
              <a:rPr lang="en-US" dirty="0"/>
              <a:t>It maps location codes to bins and defines how items should be routed.</a:t>
            </a:r>
            <a:br>
              <a:rPr lang="en-US" dirty="0"/>
            </a:br>
            <a:r>
              <a:rPr lang="en-US" dirty="0"/>
              <a:t>Once we combine this with the logs, we can start reconstructing what actually happened.</a:t>
            </a:r>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33</a:t>
            </a:fld>
            <a:endParaRPr lang="en-US"/>
          </a:p>
        </p:txBody>
      </p:sp>
    </p:spTree>
    <p:extLst>
      <p:ext uri="{BB962C8B-B14F-4D97-AF65-F5344CB8AC3E}">
        <p14:creationId xmlns:p14="http://schemas.microsoft.com/office/powerpoint/2010/main" val="14622483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Logs → Parse → Extract → Matrix → Expected Bin → Analyze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So now we can put it all together.</a:t>
            </a:r>
            <a:br>
              <a:rPr lang="en-US" dirty="0"/>
            </a:br>
            <a:r>
              <a:rPr lang="en-US" dirty="0"/>
              <a:t>We parse the logs, extract the location data, apply the sorting matrix, and assign an expected bin.</a:t>
            </a:r>
            <a:br>
              <a:rPr lang="en-US" dirty="0"/>
            </a:br>
            <a:r>
              <a:rPr lang="en-US" dirty="0"/>
              <a:t>From there, we can compare what we expect versus what actually happened.</a:t>
            </a:r>
          </a:p>
          <a:p>
            <a:endParaRPr lang="en-US" dirty="0"/>
          </a:p>
          <a:p>
            <a:r>
              <a:rPr lang="en-US" dirty="0"/>
              <a:t>Understanding Exceptions</a:t>
            </a:r>
          </a:p>
          <a:p>
            <a:r>
              <a:rPr lang="en-US" dirty="0"/>
              <a:t>Match → Bin X</a:t>
            </a:r>
          </a:p>
          <a:p>
            <a:r>
              <a:rPr lang="en-US" dirty="0"/>
              <a:t>No match → Bin 0 (Exceptions)</a:t>
            </a:r>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34</a:t>
            </a:fld>
            <a:endParaRPr lang="en-US"/>
          </a:p>
        </p:txBody>
      </p:sp>
    </p:spTree>
    <p:extLst>
      <p:ext uri="{BB962C8B-B14F-4D97-AF65-F5344CB8AC3E}">
        <p14:creationId xmlns:p14="http://schemas.microsoft.com/office/powerpoint/2010/main" val="32826204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have that, a lot of things open up.</a:t>
            </a:r>
            <a:br>
              <a:rPr lang="en-US" dirty="0"/>
            </a:br>
            <a:r>
              <a:rPr lang="en-US" dirty="0"/>
              <a:t>We can analyze bin usage, track exceptions, troubleshoot issues, and start making more informed decisions about how the system is performing.</a:t>
            </a:r>
          </a:p>
        </p:txBody>
      </p:sp>
      <p:sp>
        <p:nvSpPr>
          <p:cNvPr id="4" name="Slide Number Placeholder 3"/>
          <p:cNvSpPr>
            <a:spLocks noGrp="1"/>
          </p:cNvSpPr>
          <p:nvPr>
            <p:ph type="sldNum" sz="quarter" idx="5"/>
          </p:nvPr>
        </p:nvSpPr>
        <p:spPr/>
        <p:txBody>
          <a:bodyPr/>
          <a:lstStyle/>
          <a:p>
            <a:fld id="{678DACD6-92EE-45CE-A7B0-1F123E9D0438}" type="slidenum">
              <a:rPr lang="en-US" smtClean="0"/>
              <a:t>35</a:t>
            </a:fld>
            <a:endParaRPr lang="en-US"/>
          </a:p>
        </p:txBody>
      </p:sp>
    </p:spTree>
    <p:extLst>
      <p:ext uri="{BB962C8B-B14F-4D97-AF65-F5344CB8AC3E}">
        <p14:creationId xmlns:p14="http://schemas.microsoft.com/office/powerpoint/2010/main" val="7485336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already have reporting tools like Sierra DNA and Decision Center.</a:t>
            </a:r>
            <a:br>
              <a:rPr lang="en-US" dirty="0"/>
            </a:br>
            <a:r>
              <a:rPr lang="en-US" dirty="0"/>
              <a:t>These are great for circulation activity, but they don’t give us insight into how the AMH system is actually routing items.</a:t>
            </a:r>
          </a:p>
          <a:p>
            <a:endParaRPr lang="en-US" dirty="0"/>
          </a:p>
          <a:p>
            <a:r>
              <a:rPr lang="en-US" dirty="0"/>
              <a:t>Sierra DNA</a:t>
            </a:r>
          </a:p>
          <a:p>
            <a:r>
              <a:rPr lang="en-US" dirty="0"/>
              <a:t>- </a:t>
            </a:r>
            <a:r>
              <a:rPr lang="en-US" dirty="0" err="1"/>
              <a:t>Circ_trans</a:t>
            </a:r>
            <a:r>
              <a:rPr lang="en-US" dirty="0"/>
              <a:t> table view</a:t>
            </a:r>
          </a:p>
          <a:p>
            <a:pPr marL="0" indent="0">
              <a:buFont typeface="Wingdings" panose="05000000000000000000" pitchFamily="2" charset="2"/>
              <a:buNone/>
            </a:pPr>
            <a:r>
              <a:rPr lang="en-US" dirty="0"/>
              <a:t>-- </a:t>
            </a:r>
            <a:r>
              <a:rPr lang="en-US" dirty="0" err="1"/>
              <a:t>Op_code</a:t>
            </a:r>
            <a:endParaRPr lang="en-US" dirty="0"/>
          </a:p>
          <a:p>
            <a:pPr marL="0" indent="0">
              <a:buFont typeface="Wingdings" panose="05000000000000000000" pitchFamily="2" charset="2"/>
              <a:buNone/>
            </a:pPr>
            <a:r>
              <a:rPr lang="en-US" dirty="0"/>
              <a:t>-- </a:t>
            </a:r>
            <a:r>
              <a:rPr lang="en-US" dirty="0" err="1"/>
              <a:t>Application_name</a:t>
            </a:r>
            <a:endParaRPr lang="en-US" dirty="0"/>
          </a:p>
          <a:p>
            <a:pPr marL="0" indent="0">
              <a:buFont typeface="Wingdings" panose="05000000000000000000" pitchFamily="2" charset="2"/>
              <a:buNone/>
            </a:pPr>
            <a:r>
              <a:rPr lang="en-US" dirty="0"/>
              <a:t>-- </a:t>
            </a:r>
            <a:r>
              <a:rPr lang="en-US" dirty="0" err="1"/>
              <a:t>Source_code</a:t>
            </a:r>
            <a:endParaRPr lang="en-US" dirty="0"/>
          </a:p>
          <a:p>
            <a:endParaRPr lang="en-US" dirty="0"/>
          </a:p>
          <a:p>
            <a:r>
              <a:rPr lang="en-US" dirty="0"/>
              <a:t>Decision Center</a:t>
            </a:r>
          </a:p>
          <a:p>
            <a:pPr marL="0" indent="0">
              <a:buFont typeface="Wingdings" panose="05000000000000000000" pitchFamily="2" charset="2"/>
              <a:buNone/>
            </a:pPr>
            <a:r>
              <a:rPr lang="en-US" dirty="0"/>
              <a:t>-- Collection Tools &gt; Evaluation &gt; Statistics Group by Transaction Type</a:t>
            </a:r>
          </a:p>
          <a:p>
            <a:pPr marL="0" indent="0">
              <a:buFont typeface="Wingdings" panose="05000000000000000000" pitchFamily="2" charset="2"/>
              <a:buNone/>
            </a:pPr>
            <a:r>
              <a:rPr lang="en-US" dirty="0"/>
              <a:t>-- Collection Tools &gt; Evaluation &gt; Hourly Circulation by Transaction Type</a:t>
            </a:r>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36</a:t>
            </a:fld>
            <a:endParaRPr lang="en-US"/>
          </a:p>
        </p:txBody>
      </p:sp>
    </p:spTree>
    <p:extLst>
      <p:ext uri="{BB962C8B-B14F-4D97-AF65-F5344CB8AC3E}">
        <p14:creationId xmlns:p14="http://schemas.microsoft.com/office/powerpoint/2010/main" val="23339167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there’s a gap.</a:t>
            </a:r>
            <a:br>
              <a:rPr lang="en-US" dirty="0"/>
            </a:br>
            <a:r>
              <a:rPr lang="en-US" dirty="0"/>
              <a:t>We can see what’s circulating, but not how items are moving through the AMH system itself.</a:t>
            </a:r>
          </a:p>
        </p:txBody>
      </p:sp>
      <p:sp>
        <p:nvSpPr>
          <p:cNvPr id="4" name="Slide Number Placeholder 3"/>
          <p:cNvSpPr>
            <a:spLocks noGrp="1"/>
          </p:cNvSpPr>
          <p:nvPr>
            <p:ph type="sldNum" sz="quarter" idx="5"/>
          </p:nvPr>
        </p:nvSpPr>
        <p:spPr/>
        <p:txBody>
          <a:bodyPr/>
          <a:lstStyle/>
          <a:p>
            <a:fld id="{678DACD6-92EE-45CE-A7B0-1F123E9D0438}" type="slidenum">
              <a:rPr lang="en-US" smtClean="0"/>
              <a:t>37</a:t>
            </a:fld>
            <a:endParaRPr lang="en-US"/>
          </a:p>
        </p:txBody>
      </p:sp>
    </p:spTree>
    <p:extLst>
      <p:ext uri="{BB962C8B-B14F-4D97-AF65-F5344CB8AC3E}">
        <p14:creationId xmlns:p14="http://schemas.microsoft.com/office/powerpoint/2010/main" val="24327678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end of the day, this is about visibility.</a:t>
            </a:r>
            <a:br>
              <a:rPr lang="en-US" dirty="0"/>
            </a:br>
            <a:r>
              <a:rPr lang="en-US" dirty="0"/>
              <a:t>Understanding how items move through the system helps us troubleshoot issues, improve workflows, and give staff better answers when questions come up.</a:t>
            </a:r>
          </a:p>
          <a:p>
            <a:endParaRPr lang="en-US" dirty="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38</a:t>
            </a:fld>
            <a:endParaRPr lang="en-US"/>
          </a:p>
        </p:txBody>
      </p:sp>
    </p:spTree>
    <p:extLst>
      <p:ext uri="{BB962C8B-B14F-4D97-AF65-F5344CB8AC3E}">
        <p14:creationId xmlns:p14="http://schemas.microsoft.com/office/powerpoint/2010/main" val="33309859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39</a:t>
            </a:fld>
            <a:endParaRPr lang="en-US"/>
          </a:p>
        </p:txBody>
      </p:sp>
    </p:spTree>
    <p:extLst>
      <p:ext uri="{BB962C8B-B14F-4D97-AF65-F5344CB8AC3E}">
        <p14:creationId xmlns:p14="http://schemas.microsoft.com/office/powerpoint/2010/main" val="35474444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40</a:t>
            </a:fld>
            <a:endParaRPr lang="en-US"/>
          </a:p>
        </p:txBody>
      </p:sp>
    </p:spTree>
    <p:extLst>
      <p:ext uri="{BB962C8B-B14F-4D97-AF65-F5344CB8AC3E}">
        <p14:creationId xmlns:p14="http://schemas.microsoft.com/office/powerpoint/2010/main" val="30516255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41</a:t>
            </a:fld>
            <a:endParaRPr lang="en-US"/>
          </a:p>
        </p:txBody>
      </p:sp>
    </p:spTree>
    <p:extLst>
      <p:ext uri="{BB962C8B-B14F-4D97-AF65-F5344CB8AC3E}">
        <p14:creationId xmlns:p14="http://schemas.microsoft.com/office/powerpoint/2010/main" val="19366057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42</a:t>
            </a:fld>
            <a:endParaRPr lang="en-US"/>
          </a:p>
        </p:txBody>
      </p:sp>
    </p:spTree>
    <p:extLst>
      <p:ext uri="{BB962C8B-B14F-4D97-AF65-F5344CB8AC3E}">
        <p14:creationId xmlns:p14="http://schemas.microsoft.com/office/powerpoint/2010/main" val="19925989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43</a:t>
            </a:fld>
            <a:endParaRPr lang="en-US"/>
          </a:p>
        </p:txBody>
      </p:sp>
    </p:spTree>
    <p:extLst>
      <p:ext uri="{BB962C8B-B14F-4D97-AF65-F5344CB8AC3E}">
        <p14:creationId xmlns:p14="http://schemas.microsoft.com/office/powerpoint/2010/main" val="19035681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Click on QR code to bring up presentation</a:t>
            </a:r>
            <a:endParaRPr lang="en-US" dirty="0"/>
          </a:p>
        </p:txBody>
      </p:sp>
      <p:sp>
        <p:nvSpPr>
          <p:cNvPr id="4" name="Slide Number Placeholder 3"/>
          <p:cNvSpPr>
            <a:spLocks noGrp="1"/>
          </p:cNvSpPr>
          <p:nvPr>
            <p:ph type="sldNum" sz="quarter" idx="10"/>
          </p:nvPr>
        </p:nvSpPr>
        <p:spPr/>
        <p:txBody>
          <a:bodyPr/>
          <a:lstStyle/>
          <a:p>
            <a:fld id="{678DACD6-92EE-45CE-A7B0-1F123E9D0438}" type="slidenum">
              <a:rPr lang="en-US" smtClean="0"/>
              <a:t>45</a:t>
            </a:fld>
            <a:endParaRPr lang="en-US"/>
          </a:p>
        </p:txBody>
      </p:sp>
    </p:spTree>
    <p:extLst>
      <p:ext uri="{BB962C8B-B14F-4D97-AF65-F5344CB8AC3E}">
        <p14:creationId xmlns:p14="http://schemas.microsoft.com/office/powerpoint/2010/main" val="23087283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a:t>
            </a:r>
            <a:r>
              <a:rPr lang="en-US" baseline="0" dirty="0" smtClean="0"/>
              <a:t> afternoon we’ve been sharing information on all the cool things that can be done with the data in our systems.  Now I’m to be the bummer and talk a bit about why you may want to think twice about some of those efforts and provide some examples of ways to accomplish your organizational data needs while foregrounding the privacy of your patrons data.</a:t>
            </a:r>
            <a:endParaRPr lang="en-US" dirty="0"/>
          </a:p>
        </p:txBody>
      </p:sp>
      <p:sp>
        <p:nvSpPr>
          <p:cNvPr id="4" name="Slide Number Placeholder 3"/>
          <p:cNvSpPr>
            <a:spLocks noGrp="1"/>
          </p:cNvSpPr>
          <p:nvPr>
            <p:ph type="sldNum" sz="quarter" idx="10"/>
          </p:nvPr>
        </p:nvSpPr>
        <p:spPr/>
        <p:txBody>
          <a:bodyPr/>
          <a:lstStyle/>
          <a:p>
            <a:fld id="{678DACD6-92EE-45CE-A7B0-1F123E9D0438}" type="slidenum">
              <a:rPr lang="en-US" smtClean="0"/>
              <a:t>46</a:t>
            </a:fld>
            <a:endParaRPr lang="en-US"/>
          </a:p>
        </p:txBody>
      </p:sp>
    </p:spTree>
    <p:extLst>
      <p:ext uri="{BB962C8B-B14F-4D97-AF65-F5344CB8AC3E}">
        <p14:creationId xmlns:p14="http://schemas.microsoft.com/office/powerpoint/2010/main" val="33843334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Full</a:t>
            </a:r>
            <a:r>
              <a:rPr lang="en-US" baseline="0" dirty="0" smtClean="0"/>
              <a:t> disclosure up front, my perspective on these issues is coming from living in Massachusetts where I don’t know if you’ve heard but we’re pretty leftist.  I’m personally represented in Congress by Elizabeth Warren and Katherine Clark and one of the cities within our consortia is the People’s Republic of Cambridge.  That brings with it a certain baseline attitude to our practices that may not match with a lot of libraries elsewhere.  </a:t>
            </a:r>
          </a:p>
          <a:p>
            <a:endParaRPr lang="en-US" baseline="0" dirty="0" smtClean="0"/>
          </a:p>
          <a:p>
            <a:r>
              <a:rPr lang="en-US" baseline="0" dirty="0" smtClean="0"/>
              <a:t>To start out, here we have the Mass. Law governing library data, which currently forms the basis for most library policies.</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47</a:t>
            </a:fld>
            <a:endParaRPr lang="en-US"/>
          </a:p>
        </p:txBody>
      </p:sp>
    </p:spTree>
    <p:extLst>
      <p:ext uri="{BB962C8B-B14F-4D97-AF65-F5344CB8AC3E}">
        <p14:creationId xmlns:p14="http://schemas.microsoft.com/office/powerpoint/2010/main" val="15962174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And here we have a portion of the privacy</a:t>
            </a:r>
            <a:r>
              <a:rPr lang="en-US" baseline="0" dirty="0" smtClean="0"/>
              <a:t> policy in place at the Somerville public library in our network.  The key example here I’ve highlighted is the interpretation that the patron records of minors, dependents, absolutely anyone cannot be shared with their guardians in most cases…that interpretation of the law is held pretty broadly and prevents us from using fairly standard features of the ILS like linked patrons…no matter how much our patrons may actually want that.  There are some allowances, generally if a parent is holding their child’s card it’s assumed the child has granted permission and staff don’t push back too much…but that level of record protection is the goal.</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48</a:t>
            </a:fld>
            <a:endParaRPr lang="en-US"/>
          </a:p>
        </p:txBody>
      </p:sp>
    </p:spTree>
    <p:extLst>
      <p:ext uri="{BB962C8B-B14F-4D97-AF65-F5344CB8AC3E}">
        <p14:creationId xmlns:p14="http://schemas.microsoft.com/office/powerpoint/2010/main" val="11371493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That’s where we are now but currently we’re looking</a:t>
            </a:r>
            <a:r>
              <a:rPr lang="en-US" baseline="0" dirty="0" smtClean="0"/>
              <a:t> at a new privacy law that is likely to be passed, though we don’t know when it’ll happen or what the final form may ultimately be.  These parallel bills have p</a:t>
            </a:r>
            <a:r>
              <a:rPr lang="en-US" dirty="0" smtClean="0"/>
              <a:t>assed</a:t>
            </a:r>
            <a:r>
              <a:rPr lang="en-US" baseline="0" dirty="0" smtClean="0"/>
              <a:t> both chambers and currently waiting to be reconciled in the House Ways and Means Committee to start the reconciliation process.  The House version is actually a bit more restrictive while I’ve focused more on the Senate draft.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These bills take a true data minimization forward approach to data privacy and greatly expand on the legal definition of sensitive data that may be legally covered, fully addressing items such as information that may reveal the intellectual pursuits of an individual…so you know reading history data.  The law is written to explicitly exclude government entities, which likely does cover our public libraries…but not our academic members, the vendors we work with, or probably the consortia ourselves.</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49</a:t>
            </a:fld>
            <a:endParaRPr lang="en-US"/>
          </a:p>
        </p:txBody>
      </p:sp>
    </p:spTree>
    <p:extLst>
      <p:ext uri="{BB962C8B-B14F-4D97-AF65-F5344CB8AC3E}">
        <p14:creationId xmlns:p14="http://schemas.microsoft.com/office/powerpoint/2010/main" val="37031475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In</a:t>
            </a:r>
            <a:r>
              <a:rPr lang="en-US" baseline="0" dirty="0" smtClean="0"/>
              <a:t> Minuteman we’ve always tended to veer towards restricting data, especially from the institution of the Patriot Act onwards, and then more recent events have only led to emphasizing these sorts of practices further.  We only keep about a months worth of </a:t>
            </a:r>
            <a:r>
              <a:rPr lang="en-US" baseline="0" dirty="0" err="1" smtClean="0"/>
              <a:t>circ</a:t>
            </a:r>
            <a:r>
              <a:rPr lang="en-US" baseline="0" dirty="0" smtClean="0"/>
              <a:t> transaction data around, clear out old fines data regularly, when we purge inactive patrons after 5 years we also clear out any outstanding bills at that point, we removed gender information from patron records entirely, birth date is purely optional and is essentially useless date given how unreliable that data is across records now.  Recently a few directors considered removing addresses entirely…but thankfully that proposal was rejected…you get the idea.</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50</a:t>
            </a:fld>
            <a:endParaRPr lang="en-US"/>
          </a:p>
        </p:txBody>
      </p:sp>
    </p:spTree>
    <p:extLst>
      <p:ext uri="{BB962C8B-B14F-4D97-AF65-F5344CB8AC3E}">
        <p14:creationId xmlns:p14="http://schemas.microsoft.com/office/powerpoint/2010/main" val="40647935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And yet we still have data….lots of data…and</a:t>
            </a:r>
            <a:r>
              <a:rPr lang="en-US" baseline="0" dirty="0" smtClean="0"/>
              <a:t> lots of reporting options to go with that information…so let’s get into how we try to strike the balance between our two conflicting needs.</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51</a:t>
            </a:fld>
            <a:endParaRPr lang="en-US"/>
          </a:p>
        </p:txBody>
      </p:sp>
    </p:spTree>
    <p:extLst>
      <p:ext uri="{BB962C8B-B14F-4D97-AF65-F5344CB8AC3E}">
        <p14:creationId xmlns:p14="http://schemas.microsoft.com/office/powerpoint/2010/main" val="355720674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a:t>
            </a:r>
            <a:r>
              <a:rPr lang="en-US" baseline="0" dirty="0" smtClean="0"/>
              <a:t> mainly try to follow some security basics.  Minimize the data we store to what’s essential and limit who has access to that data where we can.  When we store data outside the system we do so in aggregate form, just counts of transactions by various combinations of fields.  And really try to eliminate as much patron information as we possibly can, though it’s not always possible especially when it comes to working with some third parties.</a:t>
            </a:r>
          </a:p>
          <a:p>
            <a:endParaRPr lang="en-US" baseline="0" dirty="0" smtClean="0"/>
          </a:p>
          <a:p>
            <a:r>
              <a:rPr lang="en-US" baseline="0" dirty="0" smtClean="0"/>
              <a:t>On the access front the reporting tools we create provide end users data views through canned </a:t>
            </a:r>
            <a:r>
              <a:rPr lang="en-US" baseline="0" dirty="0" err="1" smtClean="0"/>
              <a:t>sql</a:t>
            </a:r>
            <a:r>
              <a:rPr lang="en-US" baseline="0" dirty="0" smtClean="0"/>
              <a:t> reports and dashboards that generally keep them at a remove from the raw data.  No one outside the admins at our consortia office have </a:t>
            </a:r>
            <a:r>
              <a:rPr lang="en-US" baseline="0" dirty="0" err="1" smtClean="0"/>
              <a:t>sql</a:t>
            </a:r>
            <a:r>
              <a:rPr lang="en-US" baseline="0" dirty="0" smtClean="0"/>
              <a:t> access and we are very cautious with API keys we may give out.  For third parties such as </a:t>
            </a:r>
            <a:r>
              <a:rPr lang="en-US" baseline="0" dirty="0" err="1" smtClean="0"/>
              <a:t>libraryIQ</a:t>
            </a:r>
            <a:r>
              <a:rPr lang="en-US" baseline="0" dirty="0" smtClean="0"/>
              <a:t> that we work heavily with, and I quite literally work for as a contractor in the interest of full disclosure, we send them daily extracts of the data they need as opposed to providing them their own access to our instance of Sierra.</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52</a:t>
            </a:fld>
            <a:endParaRPr lang="en-US"/>
          </a:p>
        </p:txBody>
      </p:sp>
    </p:spTree>
    <p:extLst>
      <p:ext uri="{BB962C8B-B14F-4D97-AF65-F5344CB8AC3E}">
        <p14:creationId xmlns:p14="http://schemas.microsoft.com/office/powerpoint/2010/main" val="16265222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Because of our limited data, there are data</a:t>
            </a:r>
            <a:r>
              <a:rPr lang="en-US" baseline="0" dirty="0" smtClean="0"/>
              <a:t> requests that come through regularly that we can’t actually answer or can’t answer exactly.  For the remainder of my time here I’m going to review of few of these to show some how we may address some of these scenarios</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53</a:t>
            </a:fld>
            <a:endParaRPr lang="en-US"/>
          </a:p>
        </p:txBody>
      </p:sp>
    </p:spTree>
    <p:extLst>
      <p:ext uri="{BB962C8B-B14F-4D97-AF65-F5344CB8AC3E}">
        <p14:creationId xmlns:p14="http://schemas.microsoft.com/office/powerpoint/2010/main" val="1762976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To</a:t>
            </a:r>
            <a:r>
              <a:rPr lang="en-US" baseline="0" dirty="0" smtClean="0"/>
              <a:t> start off with, how many times did a patron come to the library in the last year?  Because our transaction history only goes back 5 weeks and because patron records don’t have a field for counting this sort of information there simply isn’t data to work with…but even if there were that still wouldn’t tell the whole story about a given patron’s usage of the library.  Things like program attendance never get recorded so there are many cases when a patron may visit the library that the system would never know about. </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54</a:t>
            </a:fld>
            <a:endParaRPr lang="en-US"/>
          </a:p>
        </p:txBody>
      </p:sp>
    </p:spTree>
    <p:extLst>
      <p:ext uri="{BB962C8B-B14F-4D97-AF65-F5344CB8AC3E}">
        <p14:creationId xmlns:p14="http://schemas.microsoft.com/office/powerpoint/2010/main" val="21570031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So</a:t>
            </a:r>
            <a:r>
              <a:rPr lang="en-US" baseline="0" dirty="0" smtClean="0"/>
              <a:t> we can’t gather data on individuals…but that micro level of information isn’t actually that useful anyway…unless you’re doing something like targeted marketing I suppose and we don’t have time to get into that.  So instead let’s look at what can be accomplished with the macro view of patron activity.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Here’s the patron map</a:t>
            </a:r>
            <a:r>
              <a:rPr lang="en-US" baseline="0" dirty="0" smtClean="0"/>
              <a:t> some of you may have seen earlier if you came to my speed </a:t>
            </a:r>
            <a:r>
              <a:rPr lang="en-US" baseline="0" dirty="0" err="1" smtClean="0"/>
              <a:t>geeking</a:t>
            </a:r>
            <a:r>
              <a:rPr lang="en-US" baseline="0" dirty="0" smtClean="0"/>
              <a:t> session.  This provides tons of valuable data on which neighborhoods are using the library and which aren’t.  Staff have a useful and intuitive interface for exploring the data, that’s locked down easily to people with a valid email in our domain…just using Google accounts essentially the same as sharing a doc, while not having direct access to the underlying database…not that there’s anything particularly harmful for them to access in this table.  We’re not exposing names, addresses, record numbers, anything that could be remotely considered sensitive information.  The aggregate data here is far more meaningful than the granular data about individuals</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55</a:t>
            </a:fld>
            <a:endParaRPr lang="en-US"/>
          </a:p>
        </p:txBody>
      </p:sp>
    </p:spTree>
    <p:extLst>
      <p:ext uri="{BB962C8B-B14F-4D97-AF65-F5344CB8AC3E}">
        <p14:creationId xmlns:p14="http://schemas.microsoft.com/office/powerpoint/2010/main" val="399314374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For something that could be more sensitive in nature if you’re not aggregating, here’s a dashboard providing the daily</a:t>
            </a:r>
            <a:r>
              <a:rPr lang="en-US" baseline="0" dirty="0" smtClean="0"/>
              <a:t> count of unique patrons who used every one of our locations going back to the early pandemic.  To gather up unique users counts, you need to actually look at record identifiers, barcodes or record numbers, PII where we really don’t want to retain a record of an individual’s usage patterns.  So instead we’re just taking the daily aggregate total for each location and storing that.  There are tradeoffs with this of course, I can’t use this data for different timeframes to say how many unique individuals used the library in a week, how many used the library multiple times in a month, any of that.  Nice things to do but also those answer questions that we generally aren’t being asked.  So we’ve got minimum viable data here that works for the primary use case staff have, how busy does the desk get.</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56</a:t>
            </a:fld>
            <a:endParaRPr lang="en-US"/>
          </a:p>
        </p:txBody>
      </p:sp>
    </p:spTree>
    <p:extLst>
      <p:ext uri="{BB962C8B-B14F-4D97-AF65-F5344CB8AC3E}">
        <p14:creationId xmlns:p14="http://schemas.microsoft.com/office/powerpoint/2010/main" val="15071888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question</a:t>
            </a:r>
            <a:r>
              <a:rPr lang="en-US" baseline="0" dirty="0" smtClean="0"/>
              <a:t> came to me recently from the Cambridge library where they have a number of branches and were interested in finding a way to calculate how they should distribute their hotspots among them to best pair their inventory with the interested population given that the hotspots are not sent out through delivery.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Aggregate data to the rescue.</a:t>
            </a:r>
            <a:r>
              <a:rPr lang="en-US" baseline="0" dirty="0" smtClean="0"/>
              <a:t>  We’ve already seen a map of cardholders, that’s possible because we’ve been geocoding our patrons records, which allow us to aggregate patrons at a number of geographic levels from the not terribly informative (county, nearly all our patrons live in one of two) to the extremely granular (census block groups).  This allows us to anonymize activity while still being able to pinpoint fairly narrow portions of our community.  </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57</a:t>
            </a:fld>
            <a:endParaRPr lang="en-US"/>
          </a:p>
        </p:txBody>
      </p:sp>
    </p:spTree>
    <p:extLst>
      <p:ext uri="{BB962C8B-B14F-4D97-AF65-F5344CB8AC3E}">
        <p14:creationId xmlns:p14="http://schemas.microsoft.com/office/powerpoint/2010/main" val="40184992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With that data you can</a:t>
            </a:r>
            <a:r>
              <a:rPr lang="en-US" baseline="0" dirty="0" smtClean="0"/>
              <a:t> match your data to a </a:t>
            </a:r>
            <a:r>
              <a:rPr lang="en-US" baseline="0" dirty="0" err="1" smtClean="0"/>
              <a:t>Tigerline</a:t>
            </a:r>
            <a:r>
              <a:rPr lang="en-US" baseline="0" dirty="0" smtClean="0"/>
              <a:t> </a:t>
            </a:r>
            <a:r>
              <a:rPr lang="en-US" baseline="0" dirty="0" err="1" smtClean="0"/>
              <a:t>shapefile</a:t>
            </a:r>
            <a:r>
              <a:rPr lang="en-US" baseline="0" dirty="0" smtClean="0"/>
              <a:t> matching your area, available freely from the Census Bureau, or just click on one of the produced links to view the information for a particular region the Census Reporter site, which I love.  The top area here happens to cover Central Square, which falls directly between the MIT and Harvard campuses and incidentally there’s a branch right in the center of that area, that’s also within a block of a major transit hub.  Now the caveat with this is we only have access to a month of data because of our retention policies, but this is data that could be extracted and stored in order to accumulate data over time without compromising patron privacy.</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58</a:t>
            </a:fld>
            <a:endParaRPr lang="en-US"/>
          </a:p>
        </p:txBody>
      </p:sp>
    </p:spTree>
    <p:extLst>
      <p:ext uri="{BB962C8B-B14F-4D97-AF65-F5344CB8AC3E}">
        <p14:creationId xmlns:p14="http://schemas.microsoft.com/office/powerpoint/2010/main" val="21815905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you’re interested</a:t>
            </a:r>
            <a:r>
              <a:rPr lang="en-US" baseline="0" dirty="0" smtClean="0"/>
              <a:t> in digging into how we build these geography based reports the script used for geocoding our patrons records is available in our repo, as is the </a:t>
            </a:r>
            <a:r>
              <a:rPr lang="en-US" baseline="0" dirty="0" err="1" smtClean="0"/>
              <a:t>sql</a:t>
            </a:r>
            <a:r>
              <a:rPr lang="en-US" baseline="0" dirty="0" smtClean="0"/>
              <a:t> query used to build the report we were just viewing, though that one is a little Minuteman specific.</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59</a:t>
            </a:fld>
            <a:endParaRPr lang="en-US"/>
          </a:p>
        </p:txBody>
      </p:sp>
    </p:spTree>
    <p:extLst>
      <p:ext uri="{BB962C8B-B14F-4D97-AF65-F5344CB8AC3E}">
        <p14:creationId xmlns:p14="http://schemas.microsoft.com/office/powerpoint/2010/main" val="29649946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question is one that comes down to addressing an occasion edge case at the </a:t>
            </a:r>
            <a:r>
              <a:rPr lang="en-US" dirty="0" err="1" smtClean="0"/>
              <a:t>circ</a:t>
            </a:r>
            <a:r>
              <a:rPr lang="en-US" dirty="0" smtClean="0"/>
              <a:t> desk</a:t>
            </a:r>
            <a:r>
              <a:rPr lang="en-US" baseline="0" dirty="0" smtClean="0"/>
              <a:t> where a staff member checks in an item, which overwrites the last patron field and later the item is reported as having been damaged, or missing a disk, or something like that.</a:t>
            </a: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Is it helpful to</a:t>
            </a:r>
            <a:r>
              <a:rPr lang="en-US" baseline="0" dirty="0" smtClean="0"/>
              <a:t> track down that former patron to address the damage.  If it’s to track down a disc that might still be in the other patron’s </a:t>
            </a:r>
            <a:r>
              <a:rPr lang="en-US" baseline="0" dirty="0" err="1" smtClean="0"/>
              <a:t>dvd</a:t>
            </a:r>
            <a:r>
              <a:rPr lang="en-US" baseline="0" dirty="0" smtClean="0"/>
              <a:t> player…maybe.  But is the rare time that comes up worth maintaining that data for every transaction for every patron long term…especially when staff with the ability/permissions to query it are limited…not particularly.  At least for us as a somewhat privileged group of libraries that are fully fines free and more often than not struggle to spend down their materials budgets by the end of the fiscal year anyway.  Give that patron a pass and just buy the replacement copy if demand warrants it.</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60</a:t>
            </a:fld>
            <a:endParaRPr lang="en-US"/>
          </a:p>
        </p:txBody>
      </p:sp>
    </p:spTree>
    <p:extLst>
      <p:ext uri="{BB962C8B-B14F-4D97-AF65-F5344CB8AC3E}">
        <p14:creationId xmlns:p14="http://schemas.microsoft.com/office/powerpoint/2010/main" val="30620278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Finally</a:t>
            </a:r>
            <a:r>
              <a:rPr lang="en-US" baseline="0" dirty="0" smtClean="0"/>
              <a:t> let’s look at the top question that we can’t fully answer and it’s something pretty ordinary on the surface, what are the top circulating titles from last year.  Sierra has fields for tracking year to date and last year to date checkouts for each item…though if you withdraw a copy that data is of course lost.  But we can’t use those fields for this purpose because our system configured to base those around the fiscal and not the calendar year as we need that data for annual fiscal year reporting.</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61</a:t>
            </a:fld>
            <a:endParaRPr lang="en-US"/>
          </a:p>
        </p:txBody>
      </p:sp>
    </p:spTree>
    <p:extLst>
      <p:ext uri="{BB962C8B-B14F-4D97-AF65-F5344CB8AC3E}">
        <p14:creationId xmlns:p14="http://schemas.microsoft.com/office/powerpoint/2010/main" val="262179205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There are a number of imperfect options that exist, which may be good enough, starting with Decision Center and the 3 years of</a:t>
            </a:r>
            <a:r>
              <a:rPr lang="en-US" baseline="0" dirty="0" smtClean="0"/>
              <a:t> transaction data it keeps without providing patron details beyond using a few fixed field options as filters.  However, this report has problems, it’s ungodly slow, it regularly </a:t>
            </a:r>
            <a:r>
              <a:rPr lang="en-US" baseline="0" dirty="0" err="1" smtClean="0"/>
              <a:t>timesout</a:t>
            </a:r>
            <a:r>
              <a:rPr lang="en-US" baseline="0" dirty="0" smtClean="0"/>
              <a:t> without completing, and when it does work you only get the top 100 titles matching your filters, and if you </a:t>
            </a:r>
            <a:r>
              <a:rPr lang="en-US" dirty="0" smtClean="0"/>
              <a:t>weren’t careful with your filters most of those top 100 will be occupied by things</a:t>
            </a:r>
            <a:r>
              <a:rPr lang="en-US" baseline="0" dirty="0" smtClean="0"/>
              <a:t> like circulating tote bags and the </a:t>
            </a:r>
            <a:r>
              <a:rPr lang="en-US" baseline="0" dirty="0" err="1" smtClean="0"/>
              <a:t>Pokemon</a:t>
            </a:r>
            <a:r>
              <a:rPr lang="en-US" baseline="0" dirty="0" smtClean="0"/>
              <a:t> manga that is all on one serial record…accurate but not what you want…which goes to show that what checked out the most isn’t necessarily what you actually want anyway</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62</a:t>
            </a:fld>
            <a:endParaRPr lang="en-US"/>
          </a:p>
        </p:txBody>
      </p:sp>
    </p:spTree>
    <p:extLst>
      <p:ext uri="{BB962C8B-B14F-4D97-AF65-F5344CB8AC3E}">
        <p14:creationId xmlns:p14="http://schemas.microsoft.com/office/powerpoint/2010/main" val="234923785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There are other close but not quite options that are somewhat readily available.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err="1" smtClean="0"/>
              <a:t>libraryIQ</a:t>
            </a:r>
            <a:r>
              <a:rPr lang="en-US" baseline="0" dirty="0" smtClean="0"/>
              <a:t> does store transaction history for a couple years, but as the tool is primarily focused on assessing your collection staff mostly can’t look at the trends involving other library’s materials that passed through their location.  There’s one exception to that in there currently but it happens to work with item level details as opposed to title level rollups.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Our purchase alert is our take on the high demand holds report native to Sierra, but accounting for orders, consortia data, and just generally fancier.  So it’s looking at unfilled holds to measure present demand which isn’t an exact match for best of the year but may still get you to that ballpark.  In this case the top items on the list wound up being quite different, and yet both are valid alternate ways to explore what’s popular or trending, among many others.  If you’re paying close attention, please note that all 3 of these produced different results for the top of the list.  None are wrong, there just is not single correct path</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63</a:t>
            </a:fld>
            <a:endParaRPr lang="en-US"/>
          </a:p>
        </p:txBody>
      </p:sp>
    </p:spTree>
    <p:extLst>
      <p:ext uri="{BB962C8B-B14F-4D97-AF65-F5344CB8AC3E}">
        <p14:creationId xmlns:p14="http://schemas.microsoft.com/office/powerpoint/2010/main" val="251776059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is from our canned reports</a:t>
            </a:r>
            <a:r>
              <a:rPr lang="en-US" baseline="0" dirty="0" smtClean="0"/>
              <a:t> site where we have a popular titles tool that will run a SQL query for staff based on the selected parameters.  We have 8 different options available for how one might wish to define popularity, ranging from the straight forward (total </a:t>
            </a:r>
            <a:r>
              <a:rPr lang="en-US" baseline="0" dirty="0" err="1" smtClean="0"/>
              <a:t>circ</a:t>
            </a:r>
            <a:r>
              <a:rPr lang="en-US" baseline="0" dirty="0" smtClean="0"/>
              <a:t>, total holds, year to date checkouts) to the experimental (percent of time checked out based on an item’s age, the lifetime </a:t>
            </a:r>
            <a:r>
              <a:rPr lang="en-US" baseline="0" dirty="0" err="1" smtClean="0"/>
              <a:t>circ</a:t>
            </a:r>
            <a:r>
              <a:rPr lang="en-US" baseline="0" dirty="0" smtClean="0"/>
              <a:t> total and the </a:t>
            </a:r>
            <a:r>
              <a:rPr lang="en-US" baseline="0" dirty="0" err="1" smtClean="0"/>
              <a:t>avg</a:t>
            </a:r>
            <a:r>
              <a:rPr lang="en-US" baseline="0" dirty="0" smtClean="0"/>
              <a:t> loan period length for items sharing an </a:t>
            </a:r>
            <a:r>
              <a:rPr lang="en-US" baseline="0" dirty="0" err="1" smtClean="0"/>
              <a:t>itype</a:t>
            </a:r>
            <a:r>
              <a:rPr lang="en-US" baseline="0" dirty="0" smtClean="0"/>
              <a:t> based on current checkouts).  We also have alt reports entirely to come at these sorts of questions from different approaches.  What titles have high wait times, what’s popular at other libraries in the network, what titles have the most copies that are currently overdue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This shows how even without the precise data you may long for, with some creativity and advanced preparation you can still find ways to produce workable results that may provide meaningful information to fulfill your library’s needs.</a:t>
            </a:r>
            <a:endParaRPr lang="en-US" dirty="0" smtClean="0"/>
          </a:p>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64</a:t>
            </a:fld>
            <a:endParaRPr lang="en-US"/>
          </a:p>
        </p:txBody>
      </p:sp>
    </p:spTree>
    <p:extLst>
      <p:ext uri="{BB962C8B-B14F-4D97-AF65-F5344CB8AC3E}">
        <p14:creationId xmlns:p14="http://schemas.microsoft.com/office/powerpoint/2010/main" val="45015785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Use for panel</a:t>
            </a:r>
            <a:endParaRPr lang="en-US" dirty="0"/>
          </a:p>
        </p:txBody>
      </p:sp>
      <p:sp>
        <p:nvSpPr>
          <p:cNvPr id="4" name="Slide Number Placeholder 3"/>
          <p:cNvSpPr>
            <a:spLocks noGrp="1"/>
          </p:cNvSpPr>
          <p:nvPr>
            <p:ph type="sldNum" sz="quarter" idx="10"/>
          </p:nvPr>
        </p:nvSpPr>
        <p:spPr/>
        <p:txBody>
          <a:bodyPr/>
          <a:lstStyle/>
          <a:p>
            <a:fld id="{678DACD6-92EE-45CE-A7B0-1F123E9D0438}" type="slidenum">
              <a:rPr lang="en-US" smtClean="0"/>
              <a:t>66</a:t>
            </a:fld>
            <a:endParaRPr lang="en-US"/>
          </a:p>
        </p:txBody>
      </p:sp>
    </p:spTree>
    <p:extLst>
      <p:ext uri="{BB962C8B-B14F-4D97-AF65-F5344CB8AC3E}">
        <p14:creationId xmlns:p14="http://schemas.microsoft.com/office/powerpoint/2010/main" val="416961322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67</a:t>
            </a:fld>
            <a:endParaRPr lang="en-US"/>
          </a:p>
        </p:txBody>
      </p:sp>
    </p:spTree>
    <p:extLst>
      <p:ext uri="{BB962C8B-B14F-4D97-AF65-F5344CB8AC3E}">
        <p14:creationId xmlns:p14="http://schemas.microsoft.com/office/powerpoint/2010/main" val="67875604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68</a:t>
            </a:fld>
            <a:endParaRPr lang="en-US"/>
          </a:p>
        </p:txBody>
      </p:sp>
    </p:spTree>
    <p:extLst>
      <p:ext uri="{BB962C8B-B14F-4D97-AF65-F5344CB8AC3E}">
        <p14:creationId xmlns:p14="http://schemas.microsoft.com/office/powerpoint/2010/main" val="408174798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69</a:t>
            </a:fld>
            <a:endParaRPr lang="en-US"/>
          </a:p>
        </p:txBody>
      </p:sp>
    </p:spTree>
    <p:extLst>
      <p:ext uri="{BB962C8B-B14F-4D97-AF65-F5344CB8AC3E}">
        <p14:creationId xmlns:p14="http://schemas.microsoft.com/office/powerpoint/2010/main" val="62502304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70</a:t>
            </a:fld>
            <a:endParaRPr lang="en-US"/>
          </a:p>
        </p:txBody>
      </p:sp>
    </p:spTree>
    <p:extLst>
      <p:ext uri="{BB962C8B-B14F-4D97-AF65-F5344CB8AC3E}">
        <p14:creationId xmlns:p14="http://schemas.microsoft.com/office/powerpoint/2010/main" val="142266758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71</a:t>
            </a:fld>
            <a:endParaRPr lang="en-US"/>
          </a:p>
        </p:txBody>
      </p:sp>
    </p:spTree>
    <p:extLst>
      <p:ext uri="{BB962C8B-B14F-4D97-AF65-F5344CB8AC3E}">
        <p14:creationId xmlns:p14="http://schemas.microsoft.com/office/powerpoint/2010/main" val="314565122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72</a:t>
            </a:fld>
            <a:endParaRPr lang="en-US"/>
          </a:p>
        </p:txBody>
      </p:sp>
    </p:spTree>
    <p:extLst>
      <p:ext uri="{BB962C8B-B14F-4D97-AF65-F5344CB8AC3E}">
        <p14:creationId xmlns:p14="http://schemas.microsoft.com/office/powerpoint/2010/main" val="316273138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Lightning Rounds</a:t>
            </a:r>
            <a:r>
              <a:rPr lang="en-US" baseline="0" dirty="0" smtClean="0"/>
              <a:t> Continued</a:t>
            </a:r>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73</a:t>
            </a:fld>
            <a:endParaRPr lang="en-US"/>
          </a:p>
        </p:txBody>
      </p:sp>
    </p:spTree>
    <p:extLst>
      <p:ext uri="{BB962C8B-B14F-4D97-AF65-F5344CB8AC3E}">
        <p14:creationId xmlns:p14="http://schemas.microsoft.com/office/powerpoint/2010/main" val="406323313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8DACD6-92EE-45CE-A7B0-1F123E9D0438}" type="slidenum">
              <a:rPr lang="en-US" smtClean="0"/>
              <a:t>74</a:t>
            </a:fld>
            <a:endParaRPr lang="en-US"/>
          </a:p>
        </p:txBody>
      </p:sp>
    </p:spTree>
    <p:extLst>
      <p:ext uri="{BB962C8B-B14F-4D97-AF65-F5344CB8AC3E}">
        <p14:creationId xmlns:p14="http://schemas.microsoft.com/office/powerpoint/2010/main" val="1240483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E5546-A0B0-873F-4B93-FA53C20388BF}"/>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a:extLst>
              <a:ext uri="{FF2B5EF4-FFF2-40B4-BE49-F238E27FC236}">
                <a16:creationId xmlns:a16="http://schemas.microsoft.com/office/drawing/2014/main" id="{A00C24A3-68F5-2154-88A1-C0A55B9772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a:extLst>
              <a:ext uri="{FF2B5EF4-FFF2-40B4-BE49-F238E27FC236}">
                <a16:creationId xmlns:a16="http://schemas.microsoft.com/office/drawing/2014/main" id="{A27784B3-3349-A367-1B72-022DA7F3A17A}"/>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5" name="Footer Placeholder 4">
            <a:extLst>
              <a:ext uri="{FF2B5EF4-FFF2-40B4-BE49-F238E27FC236}">
                <a16:creationId xmlns:a16="http://schemas.microsoft.com/office/drawing/2014/main" id="{E8CBA541-64FA-2A41-BF6F-DC1C11C4C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60787D-DE34-D87C-3D20-6C0A367B44C1}"/>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915847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C0722-635C-6F57-F475-4C9D6989E39F}"/>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CDD07767-09FC-688D-E4DB-3B3667ADFC58}"/>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D6552C65-A02E-C096-F624-81B71B05F27F}"/>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5" name="Footer Placeholder 4">
            <a:extLst>
              <a:ext uri="{FF2B5EF4-FFF2-40B4-BE49-F238E27FC236}">
                <a16:creationId xmlns:a16="http://schemas.microsoft.com/office/drawing/2014/main" id="{9A93D793-508C-7A97-962C-56B0EC1DBE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E5C939-BAFA-F0C8-9164-B4502ECA5AC4}"/>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1657224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14210-2259-F5E8-FF94-506854DC90CD}"/>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F4AEA7DB-9680-B5D9-59D6-1508B26A55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smtClean="0"/>
              <a:t>Edit Master text styles</a:t>
            </a:r>
          </a:p>
        </p:txBody>
      </p:sp>
      <p:sp>
        <p:nvSpPr>
          <p:cNvPr id="4" name="Date Placeholder 3">
            <a:extLst>
              <a:ext uri="{FF2B5EF4-FFF2-40B4-BE49-F238E27FC236}">
                <a16:creationId xmlns:a16="http://schemas.microsoft.com/office/drawing/2014/main" id="{16DCE019-F28D-8B89-315B-C7377D987A1F}"/>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5" name="Footer Placeholder 4">
            <a:extLst>
              <a:ext uri="{FF2B5EF4-FFF2-40B4-BE49-F238E27FC236}">
                <a16:creationId xmlns:a16="http://schemas.microsoft.com/office/drawing/2014/main" id="{3A8A3B03-057F-F58E-D5EB-D9A59DF00E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0021C-08DA-442C-76E4-736D9ECF4A95}"/>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2593325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F825-B759-C3AA-9982-866C94315B0A}"/>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87D56AB7-2038-A70C-A5B2-AF71135241CD}"/>
              </a:ext>
            </a:extLst>
          </p:cNvPr>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id="{C50B5ABD-09CF-5CBD-4F63-C2AB60A051DD}"/>
              </a:ext>
            </a:extLst>
          </p:cNvPr>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id="{9B4F7A95-5A12-2A75-4E9B-E7E0A73C117C}"/>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6" name="Footer Placeholder 5">
            <a:extLst>
              <a:ext uri="{FF2B5EF4-FFF2-40B4-BE49-F238E27FC236}">
                <a16:creationId xmlns:a16="http://schemas.microsoft.com/office/drawing/2014/main" id="{665321FD-0397-42BE-8235-94E51D7FCD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074E65-FC6A-29FB-70B5-F405D7993A3B}"/>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2637457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8916-B5BB-A7D9-7A17-B27796770428}"/>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18583B3B-0B44-66A1-4A84-CBDB09F5BF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a:extLst>
              <a:ext uri="{FF2B5EF4-FFF2-40B4-BE49-F238E27FC236}">
                <a16:creationId xmlns:a16="http://schemas.microsoft.com/office/drawing/2014/main" id="{CC76D406-9984-09E5-9B83-0B39C475B871}"/>
              </a:ext>
            </a:extLst>
          </p:cNvPr>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id="{EBE915E0-9D33-9ECA-89E3-9CC077F70B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a:extLst>
              <a:ext uri="{FF2B5EF4-FFF2-40B4-BE49-F238E27FC236}">
                <a16:creationId xmlns:a16="http://schemas.microsoft.com/office/drawing/2014/main" id="{C7379F8C-0231-44AC-6B23-94A5AE30FE58}"/>
              </a:ext>
            </a:extLst>
          </p:cNvPr>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id="{F5E38855-F9DF-D576-8457-22162804560A}"/>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8" name="Footer Placeholder 7">
            <a:extLst>
              <a:ext uri="{FF2B5EF4-FFF2-40B4-BE49-F238E27FC236}">
                <a16:creationId xmlns:a16="http://schemas.microsoft.com/office/drawing/2014/main" id="{9F170EEE-B57C-D2BF-D8F8-D9B8415CD5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2B8F2B-F16A-0573-6A83-11CC0F2B632D}"/>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805569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A6569-E350-D295-6848-F8A135D842C4}"/>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id="{4F336050-7FF0-C6F6-112C-772F06197071}"/>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4" name="Footer Placeholder 3">
            <a:extLst>
              <a:ext uri="{FF2B5EF4-FFF2-40B4-BE49-F238E27FC236}">
                <a16:creationId xmlns:a16="http://schemas.microsoft.com/office/drawing/2014/main" id="{0C60740C-6938-B0BD-E258-6D6756162C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DE41E3-FF6C-058B-3BD4-2271A4CA2ACC}"/>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789927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969C63-B11B-2B8C-367D-81E74AE9282B}"/>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3" name="Footer Placeholder 2">
            <a:extLst>
              <a:ext uri="{FF2B5EF4-FFF2-40B4-BE49-F238E27FC236}">
                <a16:creationId xmlns:a16="http://schemas.microsoft.com/office/drawing/2014/main" id="{3BADF0EE-CA44-6835-ABFE-CA7E6586A6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4EBE21-29E0-0354-D5EC-087E3C46284E}"/>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784037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F4407-4B25-FCBE-57E4-A7829219934A}"/>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738E5552-7962-CC6F-6E3E-8B1C148356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id="{1BE16A62-5B97-7A97-74CF-E161EAE8B1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BB250EC4-4976-6539-FC2F-6FACBD6D65DB}"/>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6" name="Footer Placeholder 5">
            <a:extLst>
              <a:ext uri="{FF2B5EF4-FFF2-40B4-BE49-F238E27FC236}">
                <a16:creationId xmlns:a16="http://schemas.microsoft.com/office/drawing/2014/main" id="{5C5B1BB4-1AC6-8C66-ABC6-EEB41CA3E3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4F9FFF-E253-F74C-60B9-C27FB55F2221}"/>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3268481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9D88D-91FB-9C15-8A6A-169FC239A355}"/>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id="{C298C644-9EAB-286C-9D20-C383922C49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a:extLst>
              <a:ext uri="{FF2B5EF4-FFF2-40B4-BE49-F238E27FC236}">
                <a16:creationId xmlns:a16="http://schemas.microsoft.com/office/drawing/2014/main" id="{92BC56BC-D659-830F-3A76-5BB988EAAA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B45AD851-A8CC-14F7-9E06-C50619BCA366}"/>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6" name="Footer Placeholder 5">
            <a:extLst>
              <a:ext uri="{FF2B5EF4-FFF2-40B4-BE49-F238E27FC236}">
                <a16:creationId xmlns:a16="http://schemas.microsoft.com/office/drawing/2014/main" id="{478CC1A1-6D99-CF83-3D14-7B7984A769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CC82D1-29F8-6B10-A341-2799BA66AB3F}"/>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2171654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C3D1-8316-934C-6FCE-EC7E53C743D5}"/>
              </a:ext>
            </a:extLst>
          </p:cNvPr>
          <p:cNvSpPr>
            <a:spLocks noGrp="1"/>
          </p:cNvSpPr>
          <p:nvPr>
            <p:ph type="title"/>
          </p:nvPr>
        </p:nvSpPr>
        <p:spPr/>
        <p:txBody>
          <a:bodyPr/>
          <a:lstStyle/>
          <a:p>
            <a:r>
              <a:rPr lang="en-US" smtClean="0"/>
              <a:t>Click to edit Master title style</a:t>
            </a:r>
            <a:endParaRPr lang="en-US"/>
          </a:p>
        </p:txBody>
      </p:sp>
      <p:sp>
        <p:nvSpPr>
          <p:cNvPr id="3" name="Vertical Text Placeholder 2">
            <a:extLst>
              <a:ext uri="{FF2B5EF4-FFF2-40B4-BE49-F238E27FC236}">
                <a16:creationId xmlns:a16="http://schemas.microsoft.com/office/drawing/2014/main" id="{400DCA6C-1811-6E5B-9D7A-CFB13BAB234F}"/>
              </a:ext>
            </a:extLst>
          </p:cNvPr>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88B7F17C-55F6-C6D8-A3AA-852FACE03ADC}"/>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5" name="Footer Placeholder 4">
            <a:extLst>
              <a:ext uri="{FF2B5EF4-FFF2-40B4-BE49-F238E27FC236}">
                <a16:creationId xmlns:a16="http://schemas.microsoft.com/office/drawing/2014/main" id="{CC64D567-A274-009B-C5C9-D5BC50D859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148F02-32B7-DE2D-6644-DDBD450548A1}"/>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170302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AFADF4-3009-998F-AB58-F303A1B95A66}"/>
              </a:ext>
            </a:extLst>
          </p:cNvPr>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a:extLst>
              <a:ext uri="{FF2B5EF4-FFF2-40B4-BE49-F238E27FC236}">
                <a16:creationId xmlns:a16="http://schemas.microsoft.com/office/drawing/2014/main" id="{BEE358A0-7843-12D9-EE79-1C71348AFDFC}"/>
              </a:ext>
            </a:extLst>
          </p:cNvPr>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137B726E-DAB2-2FB7-3496-800113CEC606}"/>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5" name="Footer Placeholder 4">
            <a:extLst>
              <a:ext uri="{FF2B5EF4-FFF2-40B4-BE49-F238E27FC236}">
                <a16:creationId xmlns:a16="http://schemas.microsoft.com/office/drawing/2014/main" id="{586D6295-25E1-1251-4642-3910385275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4A1BF9-D6C7-DAE1-C614-8CB98DA0C28F}"/>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13605880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E5546-A0B0-873F-4B93-FA53C20388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0C24A3-68F5-2154-88A1-C0A55B9772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7784B3-3349-A367-1B72-022DA7F3A17A}"/>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5" name="Footer Placeholder 4">
            <a:extLst>
              <a:ext uri="{FF2B5EF4-FFF2-40B4-BE49-F238E27FC236}">
                <a16:creationId xmlns:a16="http://schemas.microsoft.com/office/drawing/2014/main" id="{E8CBA541-64FA-2A41-BF6F-DC1C11C4C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60787D-DE34-D87C-3D20-6C0A367B44C1}"/>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10667866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C0722-635C-6F57-F475-4C9D6989E3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D07767-09FC-688D-E4DB-3B3667ADFC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52C65-A02E-C096-F624-81B71B05F27F}"/>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5" name="Footer Placeholder 4">
            <a:extLst>
              <a:ext uri="{FF2B5EF4-FFF2-40B4-BE49-F238E27FC236}">
                <a16:creationId xmlns:a16="http://schemas.microsoft.com/office/drawing/2014/main" id="{9A93D793-508C-7A97-962C-56B0EC1DBE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E5C939-BAFA-F0C8-9164-B4502ECA5AC4}"/>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27193976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14210-2259-F5E8-FF94-506854DC9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4AEA7DB-9680-B5D9-59D6-1508B26A55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DCE019-F28D-8B89-315B-C7377D987A1F}"/>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5" name="Footer Placeholder 4">
            <a:extLst>
              <a:ext uri="{FF2B5EF4-FFF2-40B4-BE49-F238E27FC236}">
                <a16:creationId xmlns:a16="http://schemas.microsoft.com/office/drawing/2014/main" id="{3A8A3B03-057F-F58E-D5EB-D9A59DF00E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0021C-08DA-442C-76E4-736D9ECF4A95}"/>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28039223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F825-B759-C3AA-9982-866C94315B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D56AB7-2038-A70C-A5B2-AF71135241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0B5ABD-09CF-5CBD-4F63-C2AB60A051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4F7A95-5A12-2A75-4E9B-E7E0A73C117C}"/>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6" name="Footer Placeholder 5">
            <a:extLst>
              <a:ext uri="{FF2B5EF4-FFF2-40B4-BE49-F238E27FC236}">
                <a16:creationId xmlns:a16="http://schemas.microsoft.com/office/drawing/2014/main" id="{665321FD-0397-42BE-8235-94E51D7FCD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074E65-FC6A-29FB-70B5-F405D7993A3B}"/>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7200928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8916-B5BB-A7D9-7A17-B277967704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583B3B-0B44-66A1-4A84-CBDB09F5BF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76D406-9984-09E5-9B83-0B39C475B8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E915E0-9D33-9ECA-89E3-9CC077F70B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379F8C-0231-44AC-6B23-94A5AE30FE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E38855-F9DF-D576-8457-22162804560A}"/>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8" name="Footer Placeholder 7">
            <a:extLst>
              <a:ext uri="{FF2B5EF4-FFF2-40B4-BE49-F238E27FC236}">
                <a16:creationId xmlns:a16="http://schemas.microsoft.com/office/drawing/2014/main" id="{9F170EEE-B57C-D2BF-D8F8-D9B8415CD5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2B8F2B-F16A-0573-6A83-11CC0F2B632D}"/>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18401193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A6569-E350-D295-6848-F8A135D842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336050-7FF0-C6F6-112C-772F06197071}"/>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4" name="Footer Placeholder 3">
            <a:extLst>
              <a:ext uri="{FF2B5EF4-FFF2-40B4-BE49-F238E27FC236}">
                <a16:creationId xmlns:a16="http://schemas.microsoft.com/office/drawing/2014/main" id="{0C60740C-6938-B0BD-E258-6D6756162C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DE41E3-FF6C-058B-3BD4-2271A4CA2ACC}"/>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15588939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969C63-B11B-2B8C-367D-81E74AE9282B}"/>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3" name="Footer Placeholder 2">
            <a:extLst>
              <a:ext uri="{FF2B5EF4-FFF2-40B4-BE49-F238E27FC236}">
                <a16:creationId xmlns:a16="http://schemas.microsoft.com/office/drawing/2014/main" id="{3BADF0EE-CA44-6835-ABFE-CA7E6586A6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4EBE21-29E0-0354-D5EC-087E3C46284E}"/>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23142798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F4407-4B25-FCBE-57E4-A782921993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8E5552-7962-CC6F-6E3E-8B1C148356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E16A62-5B97-7A97-74CF-E161EAE8B1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250EC4-4976-6539-FC2F-6FACBD6D65DB}"/>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6" name="Footer Placeholder 5">
            <a:extLst>
              <a:ext uri="{FF2B5EF4-FFF2-40B4-BE49-F238E27FC236}">
                <a16:creationId xmlns:a16="http://schemas.microsoft.com/office/drawing/2014/main" id="{5C5B1BB4-1AC6-8C66-ABC6-EEB41CA3E3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4F9FFF-E253-F74C-60B9-C27FB55F2221}"/>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27919058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9D88D-91FB-9C15-8A6A-169FC239A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298C644-9EAB-286C-9D20-C383922C49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BC56BC-D659-830F-3A76-5BB988EAAA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5AD851-A8CC-14F7-9E06-C50619BCA366}"/>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6" name="Footer Placeholder 5">
            <a:extLst>
              <a:ext uri="{FF2B5EF4-FFF2-40B4-BE49-F238E27FC236}">
                <a16:creationId xmlns:a16="http://schemas.microsoft.com/office/drawing/2014/main" id="{478CC1A1-6D99-CF83-3D14-7B7984A769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CC82D1-29F8-6B10-A341-2799BA66AB3F}"/>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18504927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C3D1-8316-934C-6FCE-EC7E53C743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0DCA6C-1811-6E5B-9D7A-CFB13BAB23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B7F17C-55F6-C6D8-A3AA-852FACE03ADC}"/>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5" name="Footer Placeholder 4">
            <a:extLst>
              <a:ext uri="{FF2B5EF4-FFF2-40B4-BE49-F238E27FC236}">
                <a16:creationId xmlns:a16="http://schemas.microsoft.com/office/drawing/2014/main" id="{CC64D567-A274-009B-C5C9-D5BC50D859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148F02-32B7-DE2D-6644-DDBD450548A1}"/>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5281285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AFADF4-3009-998F-AB58-F303A1B95A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E358A0-7843-12D9-EE79-1C71348AFD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7B726E-DAB2-2FB7-3496-800113CEC606}"/>
              </a:ext>
            </a:extLst>
          </p:cNvPr>
          <p:cNvSpPr>
            <a:spLocks noGrp="1"/>
          </p:cNvSpPr>
          <p:nvPr>
            <p:ph type="dt" sz="half" idx="10"/>
          </p:nvPr>
        </p:nvSpPr>
        <p:spPr/>
        <p:txBody>
          <a:bodyPr/>
          <a:lstStyle/>
          <a:p>
            <a:fld id="{30B7B0CA-7F1D-7440-BF86-78A318A6FD35}" type="datetimeFigureOut">
              <a:rPr lang="en-US" smtClean="0"/>
              <a:t>4/8/2026</a:t>
            </a:fld>
            <a:endParaRPr lang="en-US"/>
          </a:p>
        </p:txBody>
      </p:sp>
      <p:sp>
        <p:nvSpPr>
          <p:cNvPr id="5" name="Footer Placeholder 4">
            <a:extLst>
              <a:ext uri="{FF2B5EF4-FFF2-40B4-BE49-F238E27FC236}">
                <a16:creationId xmlns:a16="http://schemas.microsoft.com/office/drawing/2014/main" id="{586D6295-25E1-1251-4642-3910385275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4A1BF9-D6C7-DAE1-C614-8CB98DA0C28F}"/>
              </a:ext>
            </a:extLst>
          </p:cNvPr>
          <p:cNvSpPr>
            <a:spLocks noGrp="1"/>
          </p:cNvSpPr>
          <p:nvPr>
            <p:ph type="sldNum" sz="quarter" idx="12"/>
          </p:nvPr>
        </p:nvSpPr>
        <p:spPr/>
        <p:txBody>
          <a:bodyPr/>
          <a:lstStyle/>
          <a:p>
            <a:fld id="{CD1E35B7-D1A3-FA48-9136-E65B2C08304D}" type="slidenum">
              <a:rPr lang="en-US" smtClean="0"/>
              <a:t>‹#›</a:t>
            </a:fld>
            <a:endParaRPr lang="en-US"/>
          </a:p>
        </p:txBody>
      </p:sp>
    </p:spTree>
    <p:extLst>
      <p:ext uri="{BB962C8B-B14F-4D97-AF65-F5344CB8AC3E}">
        <p14:creationId xmlns:p14="http://schemas.microsoft.com/office/powerpoint/2010/main" val="501825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05BE02-6075-4A94-5B95-AD21ADA81D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0A705271-5EBA-2F49-618C-DC81BD18E3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44B8F3C2-10B5-CD33-9F2E-FC974C78C0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B7B0CA-7F1D-7440-BF86-78A318A6FD35}" type="datetimeFigureOut">
              <a:rPr lang="en-US" smtClean="0"/>
              <a:t>4/8/2026</a:t>
            </a:fld>
            <a:endParaRPr lang="en-US"/>
          </a:p>
        </p:txBody>
      </p:sp>
      <p:sp>
        <p:nvSpPr>
          <p:cNvPr id="5" name="Footer Placeholder 4">
            <a:extLst>
              <a:ext uri="{FF2B5EF4-FFF2-40B4-BE49-F238E27FC236}">
                <a16:creationId xmlns:a16="http://schemas.microsoft.com/office/drawing/2014/main" id="{1A4173F1-0847-1BA0-F40A-4ED2D93106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55FD84E-E40C-73B8-7FB2-5206E969AA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1E35B7-D1A3-FA48-9136-E65B2C08304D}" type="slidenum">
              <a:rPr lang="en-US" smtClean="0"/>
              <a:t>‹#›</a:t>
            </a:fld>
            <a:endParaRPr lang="en-US"/>
          </a:p>
        </p:txBody>
      </p:sp>
    </p:spTree>
    <p:extLst>
      <p:ext uri="{BB962C8B-B14F-4D97-AF65-F5344CB8AC3E}">
        <p14:creationId xmlns:p14="http://schemas.microsoft.com/office/powerpoint/2010/main" val="596651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05BE02-6075-4A94-5B95-AD21ADA81D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705271-5EBA-2F49-618C-DC81BD18E3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8F3C2-10B5-CD33-9F2E-FC974C78C0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B7B0CA-7F1D-7440-BF86-78A318A6FD35}" type="datetimeFigureOut">
              <a:rPr lang="en-US" smtClean="0"/>
              <a:t>4/8/2026</a:t>
            </a:fld>
            <a:endParaRPr lang="en-US"/>
          </a:p>
        </p:txBody>
      </p:sp>
      <p:sp>
        <p:nvSpPr>
          <p:cNvPr id="5" name="Footer Placeholder 4">
            <a:extLst>
              <a:ext uri="{FF2B5EF4-FFF2-40B4-BE49-F238E27FC236}">
                <a16:creationId xmlns:a16="http://schemas.microsoft.com/office/drawing/2014/main" id="{1A4173F1-0847-1BA0-F40A-4ED2D93106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55FD84E-E40C-73B8-7FB2-5206E969AA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1E35B7-D1A3-FA48-9136-E65B2C08304D}" type="slidenum">
              <a:rPr lang="en-US" smtClean="0"/>
              <a:t>‹#›</a:t>
            </a:fld>
            <a:endParaRPr lang="en-US"/>
          </a:p>
        </p:txBody>
      </p:sp>
    </p:spTree>
    <p:extLst>
      <p:ext uri="{BB962C8B-B14F-4D97-AF65-F5344CB8AC3E}">
        <p14:creationId xmlns:p14="http://schemas.microsoft.com/office/powerpoint/2010/main" val="34717861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3.jp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hyperlink" Target="https://rayvoelker.github.io/iug2026/talk-datalake-building-a-data-lake.html" TargetMode="Externa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png"/><Relationship Id="rId7"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6.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6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71898F-4D0F-919F-D69B-72879BA74619}"/>
              </a:ext>
            </a:extLst>
          </p:cNvPr>
          <p:cNvSpPr/>
          <p:nvPr/>
        </p:nvSpPr>
        <p:spPr>
          <a:xfrm>
            <a:off x="3507997" y="-2"/>
            <a:ext cx="8834750" cy="6858000"/>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81F9501-4654-8CF0-CEF7-2697A05CB704}"/>
              </a:ext>
            </a:extLst>
          </p:cNvPr>
          <p:cNvPicPr>
            <a:picLocks noChangeAspect="1"/>
          </p:cNvPicPr>
          <p:nvPr/>
        </p:nvPicPr>
        <p:blipFill>
          <a:blip r:embed="rId2"/>
          <a:stretch>
            <a:fillRect/>
          </a:stretch>
        </p:blipFill>
        <p:spPr>
          <a:xfrm>
            <a:off x="237500" y="2004002"/>
            <a:ext cx="2849993" cy="2849993"/>
          </a:xfrm>
          <a:prstGeom prst="rect">
            <a:avLst/>
          </a:prstGeom>
        </p:spPr>
      </p:pic>
      <p:sp>
        <p:nvSpPr>
          <p:cNvPr id="2" name="Title 1">
            <a:extLst>
              <a:ext uri="{FF2B5EF4-FFF2-40B4-BE49-F238E27FC236}">
                <a16:creationId xmlns:a16="http://schemas.microsoft.com/office/drawing/2014/main" id="{01BD3775-4F06-3D6F-F872-CC0186454DBE}"/>
              </a:ext>
            </a:extLst>
          </p:cNvPr>
          <p:cNvSpPr>
            <a:spLocks noGrp="1"/>
          </p:cNvSpPr>
          <p:nvPr>
            <p:ph type="ctrTitle"/>
          </p:nvPr>
        </p:nvSpPr>
        <p:spPr>
          <a:xfrm>
            <a:off x="3357250" y="3238570"/>
            <a:ext cx="8834749" cy="1437719"/>
          </a:xfrm>
        </p:spPr>
        <p:txBody>
          <a:bodyPr>
            <a:normAutofit fontScale="90000"/>
          </a:bodyPr>
          <a:lstStyle/>
          <a:p>
            <a:r>
              <a:rPr lang="en-US" sz="7200" dirty="0" smtClean="0"/>
              <a:t>The Great </a:t>
            </a:r>
            <a:br>
              <a:rPr lang="en-US" sz="7200" dirty="0" smtClean="0"/>
            </a:br>
            <a:r>
              <a:rPr lang="en-US" sz="7200" dirty="0" smtClean="0"/>
              <a:t>ILS-Data</a:t>
            </a:r>
            <a:br>
              <a:rPr lang="en-US" sz="7200" dirty="0" smtClean="0"/>
            </a:br>
            <a:r>
              <a:rPr lang="en-US" sz="7200" dirty="0" smtClean="0"/>
              <a:t>Pre-Conference</a:t>
            </a:r>
            <a:r>
              <a:rPr lang="en-US" sz="7200" dirty="0"/>
              <a:t/>
            </a:r>
            <a:br>
              <a:rPr lang="en-US" sz="7200" dirty="0"/>
            </a:br>
            <a:endParaRPr lang="en-US" sz="7200" dirty="0">
              <a:solidFill>
                <a:srgbClr val="00223D"/>
              </a:solidFill>
            </a:endParaRPr>
          </a:p>
        </p:txBody>
      </p:sp>
      <p:sp>
        <p:nvSpPr>
          <p:cNvPr id="6" name="Subtitle 5">
            <a:extLst>
              <a:ext uri="{FF2B5EF4-FFF2-40B4-BE49-F238E27FC236}">
                <a16:creationId xmlns:a16="http://schemas.microsoft.com/office/drawing/2014/main" id="{D6138A63-B70F-BF2F-B517-91379908FA8D}"/>
              </a:ext>
            </a:extLst>
          </p:cNvPr>
          <p:cNvSpPr>
            <a:spLocks noGrp="1"/>
          </p:cNvSpPr>
          <p:nvPr>
            <p:ph type="subTitle" idx="1"/>
          </p:nvPr>
        </p:nvSpPr>
        <p:spPr>
          <a:xfrm>
            <a:off x="3357250" y="3957429"/>
            <a:ext cx="8834750" cy="1036122"/>
          </a:xfrm>
        </p:spPr>
        <p:txBody>
          <a:bodyPr>
            <a:noAutofit/>
          </a:bodyPr>
          <a:lstStyle/>
          <a:p>
            <a:r>
              <a:rPr lang="en-US" sz="2800" kern="0" dirty="0" smtClean="0">
                <a:latin typeface="+mj-lt"/>
                <a:cs typeface="Times New Roman" pitchFamily="18" charset="0"/>
              </a:rPr>
              <a:t>Quick Lessons With Your Peers</a:t>
            </a:r>
            <a:endParaRPr lang="en-US" sz="2800" dirty="0">
              <a:solidFill>
                <a:srgbClr val="00223D"/>
              </a:solidFill>
              <a:latin typeface="+mj-lt"/>
            </a:endParaRPr>
          </a:p>
        </p:txBody>
      </p:sp>
      <p:sp>
        <p:nvSpPr>
          <p:cNvPr id="4" name="Rectangle 3"/>
          <p:cNvSpPr/>
          <p:nvPr/>
        </p:nvSpPr>
        <p:spPr>
          <a:xfrm>
            <a:off x="4558396" y="6462631"/>
            <a:ext cx="6733952" cy="369332"/>
          </a:xfrm>
          <a:prstGeom prst="rect">
            <a:avLst/>
          </a:prstGeom>
        </p:spPr>
        <p:txBody>
          <a:bodyPr wrap="square">
            <a:spAutoFit/>
          </a:bodyPr>
          <a:lstStyle/>
          <a:p>
            <a:r>
              <a:rPr lang="en-US" dirty="0"/>
              <a:t>https://github.com/iug-ils-data-preconf/iug2026</a:t>
            </a:r>
          </a:p>
        </p:txBody>
      </p:sp>
      <p:pic>
        <p:nvPicPr>
          <p:cNvPr id="7" name="Picture 6"/>
          <p:cNvPicPr>
            <a:picLocks noChangeAspect="1"/>
          </p:cNvPicPr>
          <p:nvPr/>
        </p:nvPicPr>
        <p:blipFill>
          <a:blip r:embed="rId3"/>
          <a:stretch>
            <a:fillRect/>
          </a:stretch>
        </p:blipFill>
        <p:spPr>
          <a:xfrm>
            <a:off x="6848514" y="4334388"/>
            <a:ext cx="2153717" cy="2153717"/>
          </a:xfrm>
          <a:prstGeom prst="rect">
            <a:avLst/>
          </a:prstGeom>
        </p:spPr>
      </p:pic>
    </p:spTree>
    <p:extLst>
      <p:ext uri="{BB962C8B-B14F-4D97-AF65-F5344CB8AC3E}">
        <p14:creationId xmlns:p14="http://schemas.microsoft.com/office/powerpoint/2010/main" val="1682359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B506853-5B7D-556D-60A7-9B2A966C3921}"/>
              </a:ext>
            </a:extLst>
          </p:cNvPr>
          <p:cNvSpPr/>
          <p:nvPr/>
        </p:nvSpPr>
        <p:spPr>
          <a:xfrm>
            <a:off x="0" y="4545668"/>
            <a:ext cx="12192000" cy="786325"/>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B506853-5B7D-556D-60A7-9B2A966C3921}"/>
              </a:ext>
            </a:extLst>
          </p:cNvPr>
          <p:cNvSpPr/>
          <p:nvPr/>
        </p:nvSpPr>
        <p:spPr>
          <a:xfrm>
            <a:off x="0" y="2930010"/>
            <a:ext cx="12192000" cy="786325"/>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B506853-5B7D-556D-60A7-9B2A966C3921}"/>
              </a:ext>
            </a:extLst>
          </p:cNvPr>
          <p:cNvSpPr/>
          <p:nvPr/>
        </p:nvSpPr>
        <p:spPr>
          <a:xfrm>
            <a:off x="0" y="1690688"/>
            <a:ext cx="12192000" cy="409989"/>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t>Today</a:t>
            </a:r>
            <a:r>
              <a:rPr lang="en-US" dirty="0" smtClean="0">
                <a:latin typeface="Bahnschrift Condensed" panose="020B0502040204020203" pitchFamily="34" charset="0"/>
              </a:rPr>
              <a:t>’</a:t>
            </a:r>
            <a:r>
              <a:rPr lang="en-US" dirty="0" smtClean="0"/>
              <a:t>s Agenda</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 name="Content Placeholder 1"/>
          <p:cNvSpPr>
            <a:spLocks noGrp="1"/>
          </p:cNvSpPr>
          <p:nvPr>
            <p:ph idx="1"/>
          </p:nvPr>
        </p:nvSpPr>
        <p:spPr>
          <a:xfrm>
            <a:off x="185057" y="1370183"/>
            <a:ext cx="11821886" cy="4846721"/>
          </a:xfrm>
        </p:spPr>
        <p:txBody>
          <a:bodyPr>
            <a:normAutofit fontScale="92500" lnSpcReduction="20000"/>
          </a:bodyPr>
          <a:lstStyle/>
          <a:p>
            <a:pPr marL="0" indent="0">
              <a:buNone/>
            </a:pPr>
            <a:r>
              <a:rPr lang="en-US" dirty="0" smtClean="0"/>
              <a:t>1:00 - 2:30: </a:t>
            </a:r>
            <a:r>
              <a:rPr lang="en-US" b="1" dirty="0" smtClean="0"/>
              <a:t>Speed Geeking</a:t>
            </a:r>
          </a:p>
          <a:p>
            <a:pPr marL="0" indent="0">
              <a:buNone/>
            </a:pPr>
            <a:r>
              <a:rPr lang="en-US" dirty="0" smtClean="0"/>
              <a:t>2:30 - 3:00: </a:t>
            </a:r>
            <a:r>
              <a:rPr lang="en-US" b="1" dirty="0" smtClean="0"/>
              <a:t>Afternoon Break</a:t>
            </a:r>
          </a:p>
          <a:p>
            <a:pPr marL="0" indent="0">
              <a:buNone/>
            </a:pPr>
            <a:r>
              <a:rPr lang="en-US" dirty="0" smtClean="0"/>
              <a:t>3:00 - 3:15: </a:t>
            </a:r>
            <a:r>
              <a:rPr lang="en-US" b="1" dirty="0" smtClean="0"/>
              <a:t>Thousands of Tables and Four Farthings:</a:t>
            </a:r>
          </a:p>
          <a:p>
            <a:r>
              <a:rPr lang="en-US" b="1" dirty="0"/>
              <a:t> </a:t>
            </a:r>
            <a:r>
              <a:rPr lang="en-US" b="1" dirty="0" smtClean="0"/>
              <a:t>              </a:t>
            </a:r>
            <a:r>
              <a:rPr lang="en-US" dirty="0">
                <a:solidFill>
                  <a:srgbClr val="00223D"/>
                </a:solidFill>
              </a:rPr>
              <a:t>Hacking Your Way to a Better Report</a:t>
            </a:r>
          </a:p>
          <a:p>
            <a:pPr marL="0" indent="0">
              <a:buNone/>
            </a:pPr>
            <a:r>
              <a:rPr lang="en-US" dirty="0" smtClean="0"/>
              <a:t>3:15 - 3:30: </a:t>
            </a:r>
            <a:r>
              <a:rPr lang="en-US" b="1" dirty="0"/>
              <a:t>AMH Insights: </a:t>
            </a:r>
            <a:endParaRPr lang="en-US" b="1" dirty="0" smtClean="0"/>
          </a:p>
          <a:p>
            <a:pPr marL="0" indent="0">
              <a:buNone/>
            </a:pPr>
            <a:r>
              <a:rPr lang="en-US" b="1" dirty="0"/>
              <a:t> </a:t>
            </a:r>
            <a:r>
              <a:rPr lang="en-US" b="1" dirty="0" smtClean="0"/>
              <a:t>              Turning </a:t>
            </a:r>
            <a:r>
              <a:rPr lang="en-US" b="1" dirty="0"/>
              <a:t>Log Files Into </a:t>
            </a:r>
            <a:r>
              <a:rPr lang="en-US" b="1" dirty="0" smtClean="0"/>
              <a:t>Actionable </a:t>
            </a:r>
            <a:r>
              <a:rPr lang="en-US" b="1" dirty="0"/>
              <a:t>Data</a:t>
            </a:r>
            <a:endParaRPr lang="en-US" dirty="0" smtClean="0"/>
          </a:p>
          <a:p>
            <a:pPr marL="0" indent="0">
              <a:buNone/>
            </a:pPr>
            <a:r>
              <a:rPr lang="en-US" dirty="0" smtClean="0"/>
              <a:t>3:30 - 3:45: </a:t>
            </a:r>
            <a:r>
              <a:rPr lang="en-US" b="1" dirty="0" smtClean="0"/>
              <a:t>Building a Data Lake for Your Library:</a:t>
            </a:r>
          </a:p>
          <a:p>
            <a:pPr marL="0" indent="0">
              <a:buNone/>
            </a:pPr>
            <a:r>
              <a:rPr lang="en-US" b="1" dirty="0"/>
              <a:t> </a:t>
            </a:r>
            <a:r>
              <a:rPr lang="en-US" b="1" dirty="0" smtClean="0"/>
              <a:t>              Early Experiments at CHPL</a:t>
            </a:r>
            <a:endParaRPr lang="en-US" dirty="0" smtClean="0"/>
          </a:p>
          <a:p>
            <a:pPr marL="0" indent="0">
              <a:buNone/>
            </a:pPr>
            <a:r>
              <a:rPr lang="en-US" dirty="0" smtClean="0"/>
              <a:t>3:45 - 4:00: </a:t>
            </a:r>
            <a:r>
              <a:rPr lang="en-US" b="1" dirty="0"/>
              <a:t>Putting Privacy First: </a:t>
            </a:r>
            <a:endParaRPr lang="en-US" b="1" dirty="0" smtClean="0"/>
          </a:p>
          <a:p>
            <a:pPr marL="0" indent="0">
              <a:buNone/>
            </a:pPr>
            <a:r>
              <a:rPr lang="en-US" b="1" dirty="0"/>
              <a:t> </a:t>
            </a:r>
            <a:r>
              <a:rPr lang="en-US" b="1" dirty="0" smtClean="0"/>
              <a:t>              Making </a:t>
            </a:r>
            <a:r>
              <a:rPr lang="en-US" b="1" dirty="0"/>
              <a:t>Due with Less Data</a:t>
            </a:r>
            <a:endParaRPr lang="en-US" dirty="0" smtClean="0"/>
          </a:p>
          <a:p>
            <a:pPr marL="0" indent="0">
              <a:buNone/>
            </a:pPr>
            <a:r>
              <a:rPr lang="en-US" dirty="0" smtClean="0"/>
              <a:t>4:00 - 5:00: </a:t>
            </a:r>
            <a:r>
              <a:rPr lang="en-US" b="1" dirty="0" smtClean="0"/>
              <a:t>Panel Discussion</a:t>
            </a:r>
            <a:endParaRPr lang="en-US" b="1" dirty="0"/>
          </a:p>
        </p:txBody>
      </p:sp>
    </p:spTree>
    <p:extLst>
      <p:ext uri="{BB962C8B-B14F-4D97-AF65-F5344CB8AC3E}">
        <p14:creationId xmlns:p14="http://schemas.microsoft.com/office/powerpoint/2010/main" val="31688022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506853-5B7D-556D-60A7-9B2A966C3921}"/>
              </a:ext>
            </a:extLst>
          </p:cNvPr>
          <p:cNvSpPr/>
          <p:nvPr/>
        </p:nvSpPr>
        <p:spPr>
          <a:xfrm>
            <a:off x="5367401" y="4618652"/>
            <a:ext cx="1882485" cy="494523"/>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B506853-5B7D-556D-60A7-9B2A966C3921}"/>
              </a:ext>
            </a:extLst>
          </p:cNvPr>
          <p:cNvSpPr/>
          <p:nvPr/>
        </p:nvSpPr>
        <p:spPr>
          <a:xfrm>
            <a:off x="0" y="5873518"/>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A Brief Guide To Speed Geeking</a:t>
            </a:r>
            <a:endParaRPr lang="en-US" dirty="0"/>
          </a:p>
        </p:txBody>
      </p:sp>
      <p:sp>
        <p:nvSpPr>
          <p:cNvPr id="3" name="Content Placeholder 2"/>
          <p:cNvSpPr>
            <a:spLocks noGrp="1"/>
          </p:cNvSpPr>
          <p:nvPr>
            <p:ph idx="1"/>
          </p:nvPr>
        </p:nvSpPr>
        <p:spPr/>
        <p:txBody>
          <a:bodyPr/>
          <a:lstStyle/>
          <a:p>
            <a:r>
              <a:rPr lang="en-US" dirty="0" smtClean="0"/>
              <a:t>There are 7 stations around the room</a:t>
            </a:r>
          </a:p>
          <a:p>
            <a:r>
              <a:rPr lang="en-US" dirty="0" smtClean="0"/>
              <a:t>When we start, you will have 5 minutes to decide which presentation you wish to see.</a:t>
            </a:r>
          </a:p>
          <a:p>
            <a:r>
              <a:rPr lang="en-US" dirty="0" smtClean="0"/>
              <a:t>Presentations will last 15 minutes</a:t>
            </a:r>
          </a:p>
          <a:p>
            <a:r>
              <a:rPr lang="en-US" dirty="0" smtClean="0"/>
              <a:t>You will then have 5 minutes to move to another station</a:t>
            </a:r>
          </a:p>
          <a:p>
            <a:r>
              <a:rPr lang="en-US" dirty="0" smtClean="0"/>
              <a:t>We will do this for 4 cycles</a:t>
            </a:r>
            <a:endParaRPr lang="en-US" dirty="0"/>
          </a:p>
        </p:txBody>
      </p:sp>
      <p:pic>
        <p:nvPicPr>
          <p:cNvPr id="5" name="Picture 4">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Tree>
    <p:extLst>
      <p:ext uri="{BB962C8B-B14F-4D97-AF65-F5344CB8AC3E}">
        <p14:creationId xmlns:p14="http://schemas.microsoft.com/office/powerpoint/2010/main" val="20420182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B506853-5B7D-556D-60A7-9B2A966C3921}"/>
              </a:ext>
            </a:extLst>
          </p:cNvPr>
          <p:cNvSpPr/>
          <p:nvPr/>
        </p:nvSpPr>
        <p:spPr>
          <a:xfrm>
            <a:off x="0" y="3086179"/>
            <a:ext cx="12192000" cy="1432677"/>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0" y="1825625"/>
            <a:ext cx="12117286" cy="4351338"/>
          </a:xfrm>
        </p:spPr>
        <p:txBody>
          <a:bodyPr/>
          <a:lstStyle/>
          <a:p>
            <a:pPr marL="0" indent="0">
              <a:buNone/>
            </a:pPr>
            <a:r>
              <a:rPr lang="en-US" b="1" dirty="0" smtClean="0"/>
              <a:t>          (Jeremy Goldstein) Dashboard </a:t>
            </a:r>
            <a:r>
              <a:rPr lang="en-US" b="1" dirty="0"/>
              <a:t>Confessional: </a:t>
            </a:r>
            <a:endParaRPr lang="en-US" b="1" dirty="0" smtClean="0"/>
          </a:p>
          <a:p>
            <a:pPr marL="0" indent="0">
              <a:buNone/>
            </a:pPr>
            <a:r>
              <a:rPr lang="en-US" b="1" dirty="0"/>
              <a:t> </a:t>
            </a:r>
            <a:r>
              <a:rPr lang="en-US" b="1" dirty="0" smtClean="0"/>
              <a:t>         Revealing </a:t>
            </a:r>
            <a:r>
              <a:rPr lang="en-US" b="1" dirty="0"/>
              <a:t>the Secrets of Data </a:t>
            </a:r>
            <a:r>
              <a:rPr lang="en-US" b="1" dirty="0" smtClean="0"/>
              <a:t>Visualization</a:t>
            </a:r>
          </a:p>
          <a:p>
            <a:pPr marL="0" indent="0">
              <a:buNone/>
            </a:pPr>
            <a:endParaRPr lang="en-US" b="1" dirty="0"/>
          </a:p>
          <a:p>
            <a:pPr marL="0" indent="0">
              <a:buNone/>
            </a:pPr>
            <a:r>
              <a:rPr lang="en-US" b="1" dirty="0" smtClean="0"/>
              <a:t>                      (Derek Brown) Vega Kiosks</a:t>
            </a:r>
          </a:p>
          <a:p>
            <a:pPr marL="0" indent="0">
              <a:buNone/>
            </a:pPr>
            <a:endParaRPr lang="en-US" b="1" dirty="0" smtClean="0"/>
          </a:p>
          <a:p>
            <a:pPr marL="0" indent="0">
              <a:buNone/>
            </a:pPr>
            <a:r>
              <a:rPr lang="en-US" b="1" dirty="0"/>
              <a:t> </a:t>
            </a:r>
            <a:r>
              <a:rPr lang="en-US" b="1" dirty="0" smtClean="0"/>
              <a:t>         </a:t>
            </a:r>
          </a:p>
          <a:p>
            <a:pPr marL="0" indent="0">
              <a:buNone/>
            </a:pPr>
            <a:r>
              <a:rPr lang="en-US" b="1" dirty="0"/>
              <a:t> </a:t>
            </a:r>
            <a:r>
              <a:rPr lang="en-US" b="1" dirty="0" smtClean="0"/>
              <a:t>         (Bob </a:t>
            </a:r>
            <a:r>
              <a:rPr lang="en-US" b="1" dirty="0" err="1" smtClean="0"/>
              <a:t>Gaydos</a:t>
            </a:r>
            <a:r>
              <a:rPr lang="en-US" b="1" dirty="0" smtClean="0"/>
              <a:t>) </a:t>
            </a:r>
            <a:r>
              <a:rPr lang="en-US" b="1" dirty="0"/>
              <a:t>Python Command Line Processing </a:t>
            </a:r>
            <a:endParaRPr lang="en-US" b="1" dirty="0" smtClean="0"/>
          </a:p>
          <a:p>
            <a:pPr marL="0" indent="0">
              <a:buNone/>
            </a:pPr>
            <a:r>
              <a:rPr lang="en-US" b="1" dirty="0"/>
              <a:t> </a:t>
            </a:r>
            <a:r>
              <a:rPr lang="en-US" b="1" dirty="0" smtClean="0"/>
              <a:t>         with </a:t>
            </a:r>
            <a:r>
              <a:rPr lang="en-US" b="1" dirty="0" err="1"/>
              <a:t>argv</a:t>
            </a:r>
            <a:r>
              <a:rPr lang="en-US" b="1" dirty="0"/>
              <a:t>[] and the </a:t>
            </a:r>
            <a:r>
              <a:rPr lang="en-US" b="1" dirty="0" err="1"/>
              <a:t>argparse</a:t>
            </a:r>
            <a:r>
              <a:rPr lang="en-US" b="1" dirty="0"/>
              <a:t> Module</a:t>
            </a:r>
          </a:p>
          <a:p>
            <a:pPr marL="0" indent="0">
              <a:buNone/>
            </a:pPr>
            <a:endParaRPr lang="en-US" dirty="0"/>
          </a:p>
        </p:txBody>
      </p:sp>
      <p:sp>
        <p:nvSpPr>
          <p:cNvPr id="4" name="Rectangle 3">
            <a:extLst>
              <a:ext uri="{FF2B5EF4-FFF2-40B4-BE49-F238E27FC236}">
                <a16:creationId xmlns:a16="http://schemas.microsoft.com/office/drawing/2014/main" id="{8B506853-5B7D-556D-60A7-9B2A966C3921}"/>
              </a:ext>
            </a:extLst>
          </p:cNvPr>
          <p:cNvSpPr/>
          <p:nvPr/>
        </p:nvSpPr>
        <p:spPr>
          <a:xfrm>
            <a:off x="0" y="5873518"/>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Speed Geeking: Presentations</a:t>
            </a:r>
            <a:endParaRPr lang="en-US" dirty="0"/>
          </a:p>
        </p:txBody>
      </p:sp>
      <p:pic>
        <p:nvPicPr>
          <p:cNvPr id="5" name="Picture 4">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7" name="Picture 6"/>
          <p:cNvPicPr>
            <a:picLocks noChangeAspect="1"/>
          </p:cNvPicPr>
          <p:nvPr/>
        </p:nvPicPr>
        <p:blipFill>
          <a:blip r:embed="rId4"/>
          <a:stretch>
            <a:fillRect/>
          </a:stretch>
        </p:blipFill>
        <p:spPr>
          <a:xfrm>
            <a:off x="763555" y="1690688"/>
            <a:ext cx="1369753" cy="1369753"/>
          </a:xfrm>
          <a:prstGeom prst="rect">
            <a:avLst/>
          </a:prstGeom>
        </p:spPr>
      </p:pic>
      <p:pic>
        <p:nvPicPr>
          <p:cNvPr id="8" name="Picture 7"/>
          <p:cNvPicPr>
            <a:picLocks noChangeAspect="1"/>
          </p:cNvPicPr>
          <p:nvPr/>
        </p:nvPicPr>
        <p:blipFill>
          <a:blip r:embed="rId5"/>
          <a:stretch>
            <a:fillRect/>
          </a:stretch>
        </p:blipFill>
        <p:spPr>
          <a:xfrm>
            <a:off x="10319482" y="3117640"/>
            <a:ext cx="1369753" cy="1369753"/>
          </a:xfrm>
          <a:prstGeom prst="rect">
            <a:avLst/>
          </a:prstGeom>
        </p:spPr>
      </p:pic>
      <p:pic>
        <p:nvPicPr>
          <p:cNvPr id="9" name="Picture 8"/>
          <p:cNvPicPr>
            <a:picLocks noChangeAspect="1"/>
          </p:cNvPicPr>
          <p:nvPr/>
        </p:nvPicPr>
        <p:blipFill>
          <a:blip r:embed="rId6"/>
          <a:stretch>
            <a:fillRect/>
          </a:stretch>
        </p:blipFill>
        <p:spPr>
          <a:xfrm>
            <a:off x="763555" y="4503765"/>
            <a:ext cx="1369753" cy="1369753"/>
          </a:xfrm>
          <a:prstGeom prst="rect">
            <a:avLst/>
          </a:prstGeom>
        </p:spPr>
      </p:pic>
    </p:spTree>
    <p:extLst>
      <p:ext uri="{BB962C8B-B14F-4D97-AF65-F5344CB8AC3E}">
        <p14:creationId xmlns:p14="http://schemas.microsoft.com/office/powerpoint/2010/main" val="3954475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B506853-5B7D-556D-60A7-9B2A966C3921}"/>
              </a:ext>
            </a:extLst>
          </p:cNvPr>
          <p:cNvSpPr/>
          <p:nvPr/>
        </p:nvSpPr>
        <p:spPr>
          <a:xfrm>
            <a:off x="0" y="2728313"/>
            <a:ext cx="12192000" cy="1369753"/>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B506853-5B7D-556D-60A7-9B2A966C3921}"/>
              </a:ext>
            </a:extLst>
          </p:cNvPr>
          <p:cNvSpPr/>
          <p:nvPr/>
        </p:nvSpPr>
        <p:spPr>
          <a:xfrm>
            <a:off x="0" y="5407413"/>
            <a:ext cx="12192000" cy="1450587"/>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0" y="1549756"/>
            <a:ext cx="12117286" cy="4351338"/>
          </a:xfrm>
        </p:spPr>
        <p:txBody>
          <a:bodyPr>
            <a:noAutofit/>
          </a:bodyPr>
          <a:lstStyle/>
          <a:p>
            <a:pPr marL="0" indent="0">
              <a:spcBef>
                <a:spcPts val="600"/>
              </a:spcBef>
              <a:buNone/>
            </a:pPr>
            <a:r>
              <a:rPr lang="en-US" b="1" dirty="0" smtClean="0"/>
              <a:t>         (Daniel Messer) </a:t>
            </a:r>
            <a:r>
              <a:rPr lang="en-US" b="1" dirty="0"/>
              <a:t>Out Here in the Fields: </a:t>
            </a:r>
            <a:r>
              <a:rPr lang="en-US" b="1" dirty="0" smtClean="0"/>
              <a:t> </a:t>
            </a:r>
          </a:p>
          <a:p>
            <a:pPr marL="0" indent="0">
              <a:spcBef>
                <a:spcPts val="600"/>
              </a:spcBef>
              <a:buNone/>
            </a:pPr>
            <a:r>
              <a:rPr lang="en-US" b="1" dirty="0"/>
              <a:t> </a:t>
            </a:r>
            <a:r>
              <a:rPr lang="en-US" b="1" dirty="0" smtClean="0"/>
              <a:t>        Lessons </a:t>
            </a:r>
            <a:r>
              <a:rPr lang="en-US" b="1" dirty="0"/>
              <a:t>Learned from a Different </a:t>
            </a:r>
            <a:r>
              <a:rPr lang="en-US" b="1" dirty="0" smtClean="0"/>
              <a:t>Database</a:t>
            </a:r>
          </a:p>
          <a:p>
            <a:pPr marL="0" indent="0">
              <a:spcBef>
                <a:spcPts val="600"/>
              </a:spcBef>
              <a:buNone/>
            </a:pPr>
            <a:endParaRPr lang="en-US" b="1" dirty="0"/>
          </a:p>
          <a:p>
            <a:pPr marL="0" indent="0">
              <a:spcBef>
                <a:spcPts val="600"/>
              </a:spcBef>
              <a:buNone/>
            </a:pPr>
            <a:r>
              <a:rPr lang="en-US" b="1" dirty="0" smtClean="0"/>
              <a:t>                  (Wes Osborn) </a:t>
            </a:r>
            <a:r>
              <a:rPr lang="en-US" b="1" dirty="0"/>
              <a:t>Finding Signal </a:t>
            </a:r>
            <a:r>
              <a:rPr lang="en-US" b="1" dirty="0" smtClean="0"/>
              <a:t>in</a:t>
            </a:r>
          </a:p>
          <a:p>
            <a:pPr marL="0" indent="0">
              <a:spcBef>
                <a:spcPts val="600"/>
              </a:spcBef>
              <a:buNone/>
            </a:pPr>
            <a:r>
              <a:rPr lang="en-US" b="1" dirty="0"/>
              <a:t> </a:t>
            </a:r>
            <a:r>
              <a:rPr lang="en-US" b="1" dirty="0" smtClean="0"/>
              <a:t>                           the </a:t>
            </a:r>
            <a:r>
              <a:rPr lang="en-US" b="1" dirty="0"/>
              <a:t>Noise with Regex</a:t>
            </a:r>
            <a:endParaRPr lang="en-US" b="1" dirty="0" smtClean="0"/>
          </a:p>
          <a:p>
            <a:pPr marL="0" indent="0">
              <a:spcBef>
                <a:spcPts val="600"/>
              </a:spcBef>
              <a:buNone/>
            </a:pPr>
            <a:r>
              <a:rPr lang="en-US" b="1" dirty="0"/>
              <a:t> </a:t>
            </a:r>
            <a:r>
              <a:rPr lang="en-US" b="1" dirty="0" smtClean="0"/>
              <a:t>         </a:t>
            </a:r>
          </a:p>
          <a:p>
            <a:pPr marL="0" indent="0">
              <a:spcBef>
                <a:spcPts val="600"/>
              </a:spcBef>
              <a:buNone/>
            </a:pPr>
            <a:r>
              <a:rPr lang="en-US" b="1" dirty="0"/>
              <a:t> </a:t>
            </a:r>
            <a:r>
              <a:rPr lang="en-US" b="1" dirty="0" smtClean="0"/>
              <a:t>        (Ray </a:t>
            </a:r>
            <a:r>
              <a:rPr lang="en-US" b="1" dirty="0" err="1" smtClean="0"/>
              <a:t>Voelker</a:t>
            </a:r>
            <a:r>
              <a:rPr lang="en-US" b="1" dirty="0" smtClean="0"/>
              <a:t>) </a:t>
            </a:r>
            <a:r>
              <a:rPr lang="en-US" b="1" dirty="0"/>
              <a:t>I </a:t>
            </a:r>
            <a:r>
              <a:rPr lang="en-US" b="1" dirty="0" smtClean="0">
                <a:latin typeface="Bahnschrift Condensed" panose="020B0502040204020203" pitchFamily="34" charset="0"/>
              </a:rPr>
              <a:t>❤</a:t>
            </a:r>
            <a:r>
              <a:rPr lang="en-US" b="1" dirty="0" smtClean="0"/>
              <a:t> </a:t>
            </a:r>
            <a:r>
              <a:rPr lang="en-US" b="1" dirty="0" err="1" smtClean="0"/>
              <a:t>Datasette</a:t>
            </a:r>
            <a:r>
              <a:rPr lang="en-US" dirty="0" smtClean="0"/>
              <a:t>: </a:t>
            </a:r>
            <a:r>
              <a:rPr lang="en-US" b="1" dirty="0" smtClean="0"/>
              <a:t>Collection              </a:t>
            </a:r>
          </a:p>
          <a:p>
            <a:pPr marL="0" indent="0">
              <a:spcBef>
                <a:spcPts val="600"/>
              </a:spcBef>
              <a:buNone/>
            </a:pPr>
            <a:r>
              <a:rPr lang="en-US" b="1" dirty="0"/>
              <a:t> </a:t>
            </a:r>
            <a:r>
              <a:rPr lang="en-US" b="1" dirty="0" smtClean="0"/>
              <a:t>        Analysis &amp; the </a:t>
            </a:r>
            <a:r>
              <a:rPr lang="en-US" b="1" dirty="0" err="1" smtClean="0"/>
              <a:t>Newsdex</a:t>
            </a:r>
            <a:r>
              <a:rPr lang="en-US" b="1" dirty="0" smtClean="0"/>
              <a:t> Project at CHPL</a:t>
            </a:r>
          </a:p>
          <a:p>
            <a:pPr marL="0" indent="0">
              <a:spcBef>
                <a:spcPts val="600"/>
              </a:spcBef>
              <a:buNone/>
            </a:pPr>
            <a:endParaRPr lang="en-US" b="1" dirty="0" smtClean="0"/>
          </a:p>
          <a:p>
            <a:pPr marL="0" indent="0">
              <a:spcBef>
                <a:spcPts val="600"/>
              </a:spcBef>
              <a:buNone/>
            </a:pPr>
            <a:r>
              <a:rPr lang="en-US" b="1" dirty="0"/>
              <a:t> </a:t>
            </a:r>
            <a:r>
              <a:rPr lang="en-US" b="1" dirty="0" smtClean="0"/>
              <a:t>        From </a:t>
            </a:r>
            <a:r>
              <a:rPr lang="en-US" b="1" dirty="0"/>
              <a:t>Create Lists to </a:t>
            </a:r>
            <a:r>
              <a:rPr lang="en-US" b="1" dirty="0" smtClean="0"/>
              <a:t>Action: Empowering</a:t>
            </a:r>
          </a:p>
          <a:p>
            <a:pPr marL="0" indent="0">
              <a:spcBef>
                <a:spcPts val="600"/>
              </a:spcBef>
              <a:buNone/>
            </a:pPr>
            <a:r>
              <a:rPr lang="en-US" b="1" dirty="0" smtClean="0"/>
              <a:t>            Staff </a:t>
            </a:r>
            <a:r>
              <a:rPr lang="en-US" b="1" dirty="0"/>
              <a:t>with API-Driven </a:t>
            </a:r>
            <a:r>
              <a:rPr lang="en-US" b="1" dirty="0" smtClean="0"/>
              <a:t>Micro-Projects</a:t>
            </a:r>
            <a:endParaRPr lang="en-US" dirty="0"/>
          </a:p>
        </p:txBody>
      </p:sp>
      <p:sp>
        <p:nvSpPr>
          <p:cNvPr id="2" name="Title 1"/>
          <p:cNvSpPr>
            <a:spLocks noGrp="1"/>
          </p:cNvSpPr>
          <p:nvPr>
            <p:ph type="title"/>
          </p:nvPr>
        </p:nvSpPr>
        <p:spPr/>
        <p:txBody>
          <a:bodyPr/>
          <a:lstStyle/>
          <a:p>
            <a:r>
              <a:rPr lang="en-US" dirty="0" smtClean="0"/>
              <a:t>Speed Geeking: Presentations</a:t>
            </a:r>
            <a:endParaRPr lang="en-US" dirty="0"/>
          </a:p>
        </p:txBody>
      </p:sp>
      <p:pic>
        <p:nvPicPr>
          <p:cNvPr id="6" name="Picture 5"/>
          <p:cNvPicPr>
            <a:picLocks noChangeAspect="1"/>
          </p:cNvPicPr>
          <p:nvPr/>
        </p:nvPicPr>
        <p:blipFill>
          <a:blip r:embed="rId3"/>
          <a:stretch>
            <a:fillRect/>
          </a:stretch>
        </p:blipFill>
        <p:spPr>
          <a:xfrm>
            <a:off x="623527" y="1358560"/>
            <a:ext cx="1369753" cy="1369753"/>
          </a:xfrm>
          <a:prstGeom prst="rect">
            <a:avLst/>
          </a:prstGeom>
        </p:spPr>
      </p:pic>
      <p:pic>
        <p:nvPicPr>
          <p:cNvPr id="10" name="Picture 9"/>
          <p:cNvPicPr>
            <a:picLocks noChangeAspect="1"/>
          </p:cNvPicPr>
          <p:nvPr/>
        </p:nvPicPr>
        <p:blipFill>
          <a:blip r:embed="rId4"/>
          <a:stretch>
            <a:fillRect/>
          </a:stretch>
        </p:blipFill>
        <p:spPr>
          <a:xfrm>
            <a:off x="10506093" y="2728313"/>
            <a:ext cx="1369753" cy="1369753"/>
          </a:xfrm>
          <a:prstGeom prst="rect">
            <a:avLst/>
          </a:prstGeom>
        </p:spPr>
      </p:pic>
      <p:pic>
        <p:nvPicPr>
          <p:cNvPr id="12" name="Picture 11"/>
          <p:cNvPicPr>
            <a:picLocks noChangeAspect="1"/>
          </p:cNvPicPr>
          <p:nvPr/>
        </p:nvPicPr>
        <p:blipFill>
          <a:blip r:embed="rId5"/>
          <a:stretch>
            <a:fillRect/>
          </a:stretch>
        </p:blipFill>
        <p:spPr>
          <a:xfrm>
            <a:off x="10506093" y="5447829"/>
            <a:ext cx="1369753" cy="1369753"/>
          </a:xfrm>
          <a:prstGeom prst="rect">
            <a:avLst/>
          </a:prstGeom>
        </p:spPr>
      </p:pic>
      <p:pic>
        <p:nvPicPr>
          <p:cNvPr id="4" name="Picture 3"/>
          <p:cNvPicPr>
            <a:picLocks noChangeAspect="1"/>
          </p:cNvPicPr>
          <p:nvPr/>
        </p:nvPicPr>
        <p:blipFill>
          <a:blip r:embed="rId6"/>
          <a:stretch>
            <a:fillRect/>
          </a:stretch>
        </p:blipFill>
        <p:spPr>
          <a:xfrm>
            <a:off x="623527" y="4057650"/>
            <a:ext cx="1368003" cy="1349763"/>
          </a:xfrm>
          <a:prstGeom prst="rect">
            <a:avLst/>
          </a:prstGeom>
        </p:spPr>
      </p:pic>
    </p:spTree>
    <p:extLst>
      <p:ext uri="{BB962C8B-B14F-4D97-AF65-F5344CB8AC3E}">
        <p14:creationId xmlns:p14="http://schemas.microsoft.com/office/powerpoint/2010/main" val="22642092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71898F-4D0F-919F-D69B-72879BA74619}"/>
              </a:ext>
            </a:extLst>
          </p:cNvPr>
          <p:cNvSpPr/>
          <p:nvPr/>
        </p:nvSpPr>
        <p:spPr>
          <a:xfrm>
            <a:off x="3315315" y="-2"/>
            <a:ext cx="8834750" cy="6858000"/>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5" name="Picture 4">
            <a:extLst>
              <a:ext uri="{FF2B5EF4-FFF2-40B4-BE49-F238E27FC236}">
                <a16:creationId xmlns:a16="http://schemas.microsoft.com/office/drawing/2014/main" id="{181F9501-4654-8CF0-CEF7-2697A05CB704}"/>
              </a:ext>
            </a:extLst>
          </p:cNvPr>
          <p:cNvPicPr>
            <a:picLocks noChangeAspect="1"/>
          </p:cNvPicPr>
          <p:nvPr/>
        </p:nvPicPr>
        <p:blipFill>
          <a:blip r:embed="rId2"/>
          <a:stretch>
            <a:fillRect/>
          </a:stretch>
        </p:blipFill>
        <p:spPr>
          <a:xfrm>
            <a:off x="237500" y="2004002"/>
            <a:ext cx="2849993" cy="2849993"/>
          </a:xfrm>
          <a:prstGeom prst="rect">
            <a:avLst/>
          </a:prstGeom>
        </p:spPr>
      </p:pic>
      <p:sp>
        <p:nvSpPr>
          <p:cNvPr id="2" name="Title 1">
            <a:extLst>
              <a:ext uri="{FF2B5EF4-FFF2-40B4-BE49-F238E27FC236}">
                <a16:creationId xmlns:a16="http://schemas.microsoft.com/office/drawing/2014/main" id="{01BD3775-4F06-3D6F-F872-CC0186454DBE}"/>
              </a:ext>
            </a:extLst>
          </p:cNvPr>
          <p:cNvSpPr>
            <a:spLocks noGrp="1"/>
          </p:cNvSpPr>
          <p:nvPr>
            <p:ph type="ctrTitle"/>
          </p:nvPr>
        </p:nvSpPr>
        <p:spPr>
          <a:xfrm>
            <a:off x="4213877" y="2374236"/>
            <a:ext cx="7190509" cy="1437719"/>
          </a:xfrm>
        </p:spPr>
        <p:txBody>
          <a:bodyPr>
            <a:normAutofit fontScale="90000"/>
          </a:bodyPr>
          <a:lstStyle/>
          <a:p>
            <a:r>
              <a:rPr lang="en-US" sz="7200" dirty="0">
                <a:solidFill>
                  <a:srgbClr val="00223D"/>
                </a:solidFill>
              </a:rPr>
              <a:t>Thousands of Tables</a:t>
            </a:r>
            <a:br>
              <a:rPr lang="en-US" sz="7200" dirty="0">
                <a:solidFill>
                  <a:srgbClr val="00223D"/>
                </a:solidFill>
              </a:rPr>
            </a:br>
            <a:r>
              <a:rPr lang="en-US" sz="7200" dirty="0">
                <a:solidFill>
                  <a:srgbClr val="00223D"/>
                </a:solidFill>
              </a:rPr>
              <a:t>and Four Farthings</a:t>
            </a:r>
          </a:p>
        </p:txBody>
      </p:sp>
      <p:sp>
        <p:nvSpPr>
          <p:cNvPr id="8" name="Subtitle 5">
            <a:extLst>
              <a:ext uri="{FF2B5EF4-FFF2-40B4-BE49-F238E27FC236}">
                <a16:creationId xmlns:a16="http://schemas.microsoft.com/office/drawing/2014/main" id="{F523140A-D47C-750A-9AD9-6D1F1B16E57B}"/>
              </a:ext>
            </a:extLst>
          </p:cNvPr>
          <p:cNvSpPr>
            <a:spLocks noGrp="1"/>
          </p:cNvSpPr>
          <p:nvPr>
            <p:ph type="subTitle" idx="1"/>
          </p:nvPr>
        </p:nvSpPr>
        <p:spPr>
          <a:xfrm>
            <a:off x="4948122" y="4399925"/>
            <a:ext cx="5722018" cy="483784"/>
          </a:xfrm>
        </p:spPr>
        <p:txBody>
          <a:bodyPr>
            <a:normAutofit fontScale="85000" lnSpcReduction="10000"/>
          </a:bodyPr>
          <a:lstStyle/>
          <a:p>
            <a:r>
              <a:rPr lang="en-US" dirty="0">
                <a:solidFill>
                  <a:srgbClr val="00223D"/>
                </a:solidFill>
              </a:rPr>
              <a:t>The Great ILS-Data Pre-Conference</a:t>
            </a:r>
          </a:p>
          <a:p>
            <a:endParaRPr lang="en-US" dirty="0">
              <a:solidFill>
                <a:srgbClr val="00223D"/>
              </a:solidFill>
            </a:endParaRPr>
          </a:p>
        </p:txBody>
      </p:sp>
      <p:sp>
        <p:nvSpPr>
          <p:cNvPr id="9" name="TextBox 8">
            <a:extLst>
              <a:ext uri="{FF2B5EF4-FFF2-40B4-BE49-F238E27FC236}">
                <a16:creationId xmlns:a16="http://schemas.microsoft.com/office/drawing/2014/main" id="{79DCA423-983C-4A42-4C46-288498606E5B}"/>
              </a:ext>
            </a:extLst>
          </p:cNvPr>
          <p:cNvSpPr txBox="1"/>
          <p:nvPr/>
        </p:nvSpPr>
        <p:spPr>
          <a:xfrm>
            <a:off x="4213877" y="5155988"/>
            <a:ext cx="7190509"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23D"/>
                </a:solidFill>
                <a:effectLst/>
                <a:uLnTx/>
                <a:uFillTx/>
                <a:latin typeface="Aptos" panose="02110004020202020204"/>
                <a:ea typeface="+mn-ea"/>
                <a:cs typeface="+mn-cs"/>
              </a:rPr>
              <a:t>Daniel Messer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23D"/>
                </a:solidFill>
                <a:effectLst/>
                <a:uLnTx/>
                <a:uFillTx/>
                <a:latin typeface="Aptos" panose="02110004020202020204"/>
                <a:ea typeface="+mn-ea"/>
                <a:cs typeface="+mn-cs"/>
              </a:rPr>
              <a:t>Polaris ILS Administrator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23D"/>
                </a:solidFill>
                <a:effectLst/>
                <a:uLnTx/>
                <a:uFillTx/>
                <a:latin typeface="Aptos" panose="02110004020202020204"/>
                <a:ea typeface="+mn-ea"/>
                <a:cs typeface="+mn-cs"/>
              </a:rPr>
              <a:t>Library Systems &amp; Services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0" name="Subtitle 5">
            <a:extLst>
              <a:ext uri="{FF2B5EF4-FFF2-40B4-BE49-F238E27FC236}">
                <a16:creationId xmlns:a16="http://schemas.microsoft.com/office/drawing/2014/main" id="{707FA633-765C-34F8-74E8-DB9BE80ACD38}"/>
              </a:ext>
            </a:extLst>
          </p:cNvPr>
          <p:cNvSpPr txBox="1">
            <a:spLocks/>
          </p:cNvSpPr>
          <p:nvPr/>
        </p:nvSpPr>
        <p:spPr>
          <a:xfrm>
            <a:off x="4213877" y="3864048"/>
            <a:ext cx="7106639" cy="48378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223D"/>
                </a:solidFill>
                <a:effectLst/>
                <a:uLnTx/>
                <a:uFillTx/>
                <a:latin typeface="Aptos" panose="02110004020202020204"/>
                <a:ea typeface="+mn-ea"/>
                <a:cs typeface="+mn-cs"/>
              </a:rPr>
              <a:t>Hacking Your Way to a Better Report</a:t>
            </a:r>
          </a:p>
        </p:txBody>
      </p:sp>
    </p:spTree>
    <p:extLst>
      <p:ext uri="{BB962C8B-B14F-4D97-AF65-F5344CB8AC3E}">
        <p14:creationId xmlns:p14="http://schemas.microsoft.com/office/powerpoint/2010/main" val="1160114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solidFill>
                  <a:srgbClr val="00223D"/>
                </a:solidFill>
              </a:rPr>
              <a:t>Hello, I</a:t>
            </a:r>
            <a:r>
              <a:rPr lang="en-US" dirty="0">
                <a:solidFill>
                  <a:srgbClr val="00223D"/>
                </a:solidFill>
                <a:latin typeface="Bahnschrift Condensed" panose="020B0502040204020203" pitchFamily="34" charset="0"/>
              </a:rPr>
              <a:t>’</a:t>
            </a:r>
            <a:r>
              <a:rPr lang="en-US" dirty="0">
                <a:solidFill>
                  <a:srgbClr val="00223D"/>
                </a:solidFill>
              </a:rPr>
              <a:t>m Dan</a:t>
            </a: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I like bright text on dark backgrounds</a:t>
            </a:r>
          </a:p>
        </p:txBody>
      </p:sp>
    </p:spTree>
    <p:extLst>
      <p:ext uri="{BB962C8B-B14F-4D97-AF65-F5344CB8AC3E}">
        <p14:creationId xmlns:p14="http://schemas.microsoft.com/office/powerpoint/2010/main" val="1064055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ACF4B2B-59C8-E489-0678-A4285B65C68A}"/>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837354CE-DD27-A26A-B0A5-EAF5CD5DA491}"/>
              </a:ext>
            </a:extLst>
          </p:cNvPr>
          <p:cNvSpPr>
            <a:spLocks noGrp="1"/>
          </p:cNvSpPr>
          <p:nvPr>
            <p:ph type="title"/>
          </p:nvPr>
        </p:nvSpPr>
        <p:spPr/>
        <p:txBody>
          <a:bodyPr/>
          <a:lstStyle/>
          <a:p>
            <a:r>
              <a:rPr lang="en-US" dirty="0">
                <a:solidFill>
                  <a:srgbClr val="82DCF1"/>
                </a:solidFill>
              </a:rPr>
              <a:t>Hello, I</a:t>
            </a:r>
            <a:r>
              <a:rPr lang="en-US" dirty="0">
                <a:solidFill>
                  <a:srgbClr val="82DCF1"/>
                </a:solidFill>
                <a:latin typeface="Bahnschrift Condensed" panose="020B0502040204020203" pitchFamily="34" charset="0"/>
              </a:rPr>
              <a:t>’</a:t>
            </a:r>
            <a:r>
              <a:rPr lang="en-US" dirty="0">
                <a:solidFill>
                  <a:srgbClr val="82DCF1"/>
                </a:solidFill>
              </a:rPr>
              <a:t>m Dan</a:t>
            </a:r>
          </a:p>
        </p:txBody>
      </p:sp>
      <p:sp>
        <p:nvSpPr>
          <p:cNvPr id="5" name="Rectangle 4">
            <a:extLst>
              <a:ext uri="{FF2B5EF4-FFF2-40B4-BE49-F238E27FC236}">
                <a16:creationId xmlns:a16="http://schemas.microsoft.com/office/drawing/2014/main" id="{2B6C92AB-E239-69CE-FFD4-3EB027584A96}"/>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FEB76143-62D6-0829-0E26-255209B8DB92}"/>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46E92D92-DBD8-0238-3F15-E7FEDF993035}"/>
              </a:ext>
            </a:extLst>
          </p:cNvPr>
          <p:cNvSpPr>
            <a:spLocks noGrp="1"/>
          </p:cNvSpPr>
          <p:nvPr>
            <p:ph idx="1"/>
          </p:nvPr>
        </p:nvSpPr>
        <p:spPr>
          <a:xfrm>
            <a:off x="838200" y="1825625"/>
            <a:ext cx="10515600" cy="497445"/>
          </a:xfrm>
        </p:spPr>
        <p:txBody>
          <a:bodyPr/>
          <a:lstStyle/>
          <a:p>
            <a:r>
              <a:rPr lang="en-US" dirty="0">
                <a:solidFill>
                  <a:schemeClr val="bg1"/>
                </a:solidFill>
              </a:rPr>
              <a:t>I like bright text on dark backgrounds</a:t>
            </a:r>
            <a:endParaRPr lang="en-US" dirty="0"/>
          </a:p>
        </p:txBody>
      </p:sp>
      <p:sp>
        <p:nvSpPr>
          <p:cNvPr id="3" name="Content Placeholder 23">
            <a:extLst>
              <a:ext uri="{FF2B5EF4-FFF2-40B4-BE49-F238E27FC236}">
                <a16:creationId xmlns:a16="http://schemas.microsoft.com/office/drawing/2014/main" id="{08B38DFE-B222-83A9-853D-814E8DFF6CFA}"/>
              </a:ext>
            </a:extLst>
          </p:cNvPr>
          <p:cNvSpPr txBox="1">
            <a:spLocks/>
          </p:cNvSpPr>
          <p:nvPr/>
        </p:nvSpPr>
        <p:spPr>
          <a:xfrm>
            <a:off x="838200" y="2323070"/>
            <a:ext cx="10515600" cy="176701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30 years in libraries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Polaris ILS admin for Library Systems &amp; Services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SQL Hacker (as will soon be made clear)</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43661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4C3E71F-5F68-DA6F-FB92-ECECB5A68D4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007042D-383B-AF6B-FFE1-386B046314B9}"/>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8AF7AAF2-C664-4C96-00FF-EE5B7A1EEEA0}"/>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4" name="Content Placeholder 3">
            <a:extLst>
              <a:ext uri="{FF2B5EF4-FFF2-40B4-BE49-F238E27FC236}">
                <a16:creationId xmlns:a16="http://schemas.microsoft.com/office/drawing/2014/main" id="{00A70D03-B832-70E0-CF86-4FD3EA24ADE9}"/>
              </a:ext>
            </a:extLst>
          </p:cNvPr>
          <p:cNvSpPr>
            <a:spLocks noGrp="1"/>
          </p:cNvSpPr>
          <p:nvPr>
            <p:ph idx="1"/>
          </p:nvPr>
        </p:nvSpPr>
        <p:spPr>
          <a:xfrm>
            <a:off x="1689443" y="4952821"/>
            <a:ext cx="8813112" cy="726045"/>
          </a:xfrm>
        </p:spPr>
        <p:txBody>
          <a:bodyPr>
            <a:normAutofit fontScale="77500" lnSpcReduction="20000"/>
          </a:bodyPr>
          <a:lstStyle/>
          <a:p>
            <a:pPr marL="0" indent="0" algn="ctr">
              <a:buNone/>
            </a:pPr>
            <a:r>
              <a:rPr lang="en-US" sz="3600" b="1" dirty="0">
                <a:solidFill>
                  <a:schemeClr val="bg1"/>
                </a:solidFill>
              </a:rPr>
              <a:t>https://</a:t>
            </a:r>
            <a:r>
              <a:rPr lang="en-US" sz="3600" b="1" dirty="0" err="1">
                <a:solidFill>
                  <a:schemeClr val="bg1"/>
                </a:solidFill>
              </a:rPr>
              <a:t>cyberpunklibrarian.com</a:t>
            </a:r>
            <a:r>
              <a:rPr lang="en-US" sz="3600" b="1" dirty="0">
                <a:solidFill>
                  <a:schemeClr val="bg1"/>
                </a:solidFill>
              </a:rPr>
              <a:t>/iug2026</a:t>
            </a:r>
          </a:p>
        </p:txBody>
      </p:sp>
      <p:pic>
        <p:nvPicPr>
          <p:cNvPr id="7" name="Picture 6">
            <a:extLst>
              <a:ext uri="{FF2B5EF4-FFF2-40B4-BE49-F238E27FC236}">
                <a16:creationId xmlns:a16="http://schemas.microsoft.com/office/drawing/2014/main" id="{3DE08404-EDF5-68CE-E85E-2D289F4D73A0}"/>
              </a:ext>
            </a:extLst>
          </p:cNvPr>
          <p:cNvPicPr>
            <a:picLocks noChangeAspect="1"/>
          </p:cNvPicPr>
          <p:nvPr/>
        </p:nvPicPr>
        <p:blipFill>
          <a:blip r:embed="rId4"/>
          <a:stretch>
            <a:fillRect/>
          </a:stretch>
        </p:blipFill>
        <p:spPr>
          <a:xfrm>
            <a:off x="3902332" y="370834"/>
            <a:ext cx="4387335" cy="4387335"/>
          </a:xfrm>
          <a:prstGeom prst="rect">
            <a:avLst/>
          </a:prstGeom>
        </p:spPr>
      </p:pic>
    </p:spTree>
    <p:extLst>
      <p:ext uri="{BB962C8B-B14F-4D97-AF65-F5344CB8AC3E}">
        <p14:creationId xmlns:p14="http://schemas.microsoft.com/office/powerpoint/2010/main" val="3624235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B7F44B1-804B-AB62-0EC8-A50036DC675F}"/>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E20A8522-56AC-5DCC-B3AD-365F25A2A43F}"/>
              </a:ext>
            </a:extLst>
          </p:cNvPr>
          <p:cNvSpPr>
            <a:spLocks noGrp="1"/>
          </p:cNvSpPr>
          <p:nvPr>
            <p:ph type="title"/>
          </p:nvPr>
        </p:nvSpPr>
        <p:spPr>
          <a:xfrm>
            <a:off x="838200" y="453659"/>
            <a:ext cx="10515600" cy="1325563"/>
          </a:xfrm>
        </p:spPr>
        <p:txBody>
          <a:bodyPr/>
          <a:lstStyle/>
          <a:p>
            <a:r>
              <a:rPr lang="en-US" dirty="0">
                <a:solidFill>
                  <a:srgbClr val="82DCF1"/>
                </a:solidFill>
              </a:rPr>
              <a:t>Beginning at the Beginning </a:t>
            </a:r>
            <a:r>
              <a:rPr lang="en-US" dirty="0">
                <a:solidFill>
                  <a:srgbClr val="82DCF1"/>
                </a:solidFill>
                <a:latin typeface="Bahnschrift Condensed" panose="020B0502040204020203" pitchFamily="34" charset="0"/>
              </a:rPr>
              <a:t>–</a:t>
            </a:r>
            <a:r>
              <a:rPr lang="en-US" dirty="0">
                <a:solidFill>
                  <a:srgbClr val="82DCF1"/>
                </a:solidFill>
              </a:rPr>
              <a:t> WTF is Four Farthings?</a:t>
            </a:r>
          </a:p>
        </p:txBody>
      </p:sp>
      <p:sp>
        <p:nvSpPr>
          <p:cNvPr id="5" name="Rectangle 4">
            <a:extLst>
              <a:ext uri="{FF2B5EF4-FFF2-40B4-BE49-F238E27FC236}">
                <a16:creationId xmlns:a16="http://schemas.microsoft.com/office/drawing/2014/main" id="{27CE699C-BA4E-A253-321E-9249BF8C28E1}"/>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C0CA9907-036F-D335-E3A0-8D05BCCA5542}"/>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3" name="Content Placeholder 23">
            <a:extLst>
              <a:ext uri="{FF2B5EF4-FFF2-40B4-BE49-F238E27FC236}">
                <a16:creationId xmlns:a16="http://schemas.microsoft.com/office/drawing/2014/main" id="{CD5D9592-2A10-D3B8-E4CF-6CA359AB76AE}"/>
              </a:ext>
            </a:extLst>
          </p:cNvPr>
          <p:cNvSpPr txBox="1">
            <a:spLocks/>
          </p:cNvSpPr>
          <p:nvPr/>
        </p:nvSpPr>
        <p:spPr>
          <a:xfrm>
            <a:off x="838200" y="1851489"/>
            <a:ext cx="10515600" cy="3801166"/>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De-centralized central data server</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Wait what?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I have a weird relationship with libraries and Polaris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I do not help manage Polaris for a library or a consortium</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I help manage Polaris for 27 libraries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10 of which are in consortia (of which there are two)</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We would like to be able to do things with the data between them</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But we don</a:t>
            </a:r>
            <a:r>
              <a:rPr kumimoji="0" lang="en-US" sz="2800" b="0" i="0" u="none" strike="noStrike" kern="1200" cap="none" spc="0" normalizeH="0" baseline="0" noProof="0" dirty="0">
                <a:ln>
                  <a:noFill/>
                </a:ln>
                <a:solidFill>
                  <a:prstClr val="white"/>
                </a:solidFill>
                <a:effectLst/>
                <a:uLnTx/>
                <a:uFillTx/>
                <a:latin typeface="Bahnschrift Condensed" panose="020B0502040204020203" pitchFamily="34" charset="0"/>
                <a:ea typeface="+mn-ea"/>
                <a:cs typeface="+mn-cs"/>
              </a:rPr>
              <a:t>’</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t want to move that data around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6707CB77-26AC-729A-601E-CB40B7210361}"/>
              </a:ext>
            </a:extLst>
          </p:cNvPr>
          <p:cNvSpPr txBox="1"/>
          <p:nvPr/>
        </p:nvSpPr>
        <p:spPr>
          <a:xfrm>
            <a:off x="680484" y="1998921"/>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08009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63197BE-7E9C-C534-ABE3-C764129ED2B0}"/>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052D292B-06F9-5764-AE11-46319BD47331}"/>
              </a:ext>
            </a:extLst>
          </p:cNvPr>
          <p:cNvSpPr>
            <a:spLocks noGrp="1"/>
          </p:cNvSpPr>
          <p:nvPr>
            <p:ph type="title"/>
          </p:nvPr>
        </p:nvSpPr>
        <p:spPr/>
        <p:txBody>
          <a:bodyPr/>
          <a:lstStyle/>
          <a:p>
            <a:r>
              <a:rPr lang="en-US" dirty="0">
                <a:solidFill>
                  <a:srgbClr val="82DCF1"/>
                </a:solidFill>
              </a:rPr>
              <a:t>Okay, sure but why Four Farthings?</a:t>
            </a:r>
          </a:p>
        </p:txBody>
      </p:sp>
      <p:sp>
        <p:nvSpPr>
          <p:cNvPr id="5" name="Rectangle 4">
            <a:extLst>
              <a:ext uri="{FF2B5EF4-FFF2-40B4-BE49-F238E27FC236}">
                <a16:creationId xmlns:a16="http://schemas.microsoft.com/office/drawing/2014/main" id="{52525555-6930-242A-3E8F-E864F0C4D2A5}"/>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704956C1-8468-5F74-F65F-C42411712563}"/>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3" name="Content Placeholder 23">
            <a:extLst>
              <a:ext uri="{FF2B5EF4-FFF2-40B4-BE49-F238E27FC236}">
                <a16:creationId xmlns:a16="http://schemas.microsoft.com/office/drawing/2014/main" id="{FD202664-A7AD-603B-361D-8C6161BD9612}"/>
              </a:ext>
            </a:extLst>
          </p:cNvPr>
          <p:cNvSpPr txBox="1">
            <a:spLocks/>
          </p:cNvSpPr>
          <p:nvPr/>
        </p:nvSpPr>
        <p:spPr>
          <a:xfrm>
            <a:off x="838200" y="1690688"/>
            <a:ext cx="10515600" cy="412095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My boss is a huge fan of </a:t>
            </a:r>
            <a:r>
              <a:rPr kumimoji="0" lang="en-US" sz="2800" b="0" i="1" u="none" strike="noStrike" kern="1200" cap="none" spc="0" normalizeH="0" baseline="0" noProof="0" dirty="0">
                <a:ln>
                  <a:noFill/>
                </a:ln>
                <a:solidFill>
                  <a:prstClr val="white"/>
                </a:solidFill>
                <a:effectLst/>
                <a:uLnTx/>
                <a:uFillTx/>
                <a:latin typeface="Aptos" panose="02110004020202020204"/>
                <a:ea typeface="+mn-ea"/>
                <a:cs typeface="+mn-cs"/>
              </a:rPr>
              <a:t>Lord of the Rings</a:t>
            </a:r>
            <a:endPar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Me, I love </a:t>
            </a:r>
            <a:r>
              <a:rPr kumimoji="0" lang="en-US" sz="2800" b="0" i="1" u="none" strike="noStrike" kern="1200" cap="none" spc="0" normalizeH="0" baseline="0" noProof="0" dirty="0">
                <a:ln>
                  <a:noFill/>
                </a:ln>
                <a:solidFill>
                  <a:prstClr val="white"/>
                </a:solidFill>
                <a:effectLst/>
                <a:uLnTx/>
                <a:uFillTx/>
                <a:latin typeface="Aptos" panose="02110004020202020204"/>
                <a:ea typeface="+mn-ea"/>
                <a:cs typeface="+mn-cs"/>
              </a:rPr>
              <a:t>Lord of the Rings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But she has forgotten more about </a:t>
            </a:r>
            <a:r>
              <a:rPr kumimoji="0" lang="en-US" sz="2800" b="0" i="1" u="none" strike="noStrike" kern="1200" cap="none" spc="0" normalizeH="0" baseline="0" noProof="0" dirty="0">
                <a:ln>
                  <a:noFill/>
                </a:ln>
                <a:solidFill>
                  <a:prstClr val="white"/>
                </a:solidFill>
                <a:effectLst/>
                <a:uLnTx/>
                <a:uFillTx/>
                <a:latin typeface="Aptos" panose="02110004020202020204"/>
                <a:ea typeface="+mn-ea"/>
                <a:cs typeface="+mn-cs"/>
              </a:rPr>
              <a:t>Lord of the Rings</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 than I know</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err="1">
                <a:ln>
                  <a:noFill/>
                </a:ln>
                <a:solidFill>
                  <a:prstClr val="white"/>
                </a:solidFill>
                <a:effectLst/>
                <a:uLnTx/>
                <a:uFillTx/>
                <a:latin typeface="Aptos" panose="02110004020202020204"/>
                <a:ea typeface="+mn-ea"/>
                <a:cs typeface="+mn-cs"/>
              </a:rPr>
              <a:t>Rumour</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 has it that she read </a:t>
            </a:r>
            <a:r>
              <a:rPr kumimoji="0" lang="en-US" sz="2800" b="0" i="1" u="none" strike="noStrike" kern="1200" cap="none" spc="0" normalizeH="0" baseline="0" noProof="0" dirty="0">
                <a:ln>
                  <a:noFill/>
                </a:ln>
                <a:solidFill>
                  <a:prstClr val="white"/>
                </a:solidFill>
                <a:effectLst/>
                <a:uLnTx/>
                <a:uFillTx/>
                <a:latin typeface="Aptos" panose="02110004020202020204"/>
                <a:ea typeface="+mn-ea"/>
                <a:cs typeface="+mn-cs"/>
              </a:rPr>
              <a:t>The Silmarillion</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 and enjoyed it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All that to say, is that The Shire is divided into four parts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The Four Farthings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5795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EFA887C-CD8A-38BD-C11F-1D6C69F1698C}"/>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2E901D60-2963-6626-E3B0-8F49C524FBA0}"/>
              </a:ext>
            </a:extLst>
          </p:cNvPr>
          <p:cNvSpPr>
            <a:spLocks noGrp="1"/>
          </p:cNvSpPr>
          <p:nvPr>
            <p:ph type="title"/>
          </p:nvPr>
        </p:nvSpPr>
        <p:spPr/>
        <p:txBody>
          <a:bodyPr/>
          <a:lstStyle/>
          <a:p>
            <a:r>
              <a:rPr lang="en-US" dirty="0">
                <a:solidFill>
                  <a:srgbClr val="82DCF1"/>
                </a:solidFill>
              </a:rPr>
              <a:t>The Problem</a:t>
            </a:r>
          </a:p>
        </p:txBody>
      </p:sp>
      <p:sp>
        <p:nvSpPr>
          <p:cNvPr id="5" name="Rectangle 4">
            <a:extLst>
              <a:ext uri="{FF2B5EF4-FFF2-40B4-BE49-F238E27FC236}">
                <a16:creationId xmlns:a16="http://schemas.microsoft.com/office/drawing/2014/main" id="{9102FA9F-2464-17C7-5D5B-2545638699DF}"/>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48DB8C06-62FC-1317-B4D0-9CAAA895038D}"/>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3" name="Content Placeholder 23">
            <a:extLst>
              <a:ext uri="{FF2B5EF4-FFF2-40B4-BE49-F238E27FC236}">
                <a16:creationId xmlns:a16="http://schemas.microsoft.com/office/drawing/2014/main" id="{9A651920-C4F8-1DC6-2970-1E3E70F00892}"/>
              </a:ext>
            </a:extLst>
          </p:cNvPr>
          <p:cNvSpPr txBox="1">
            <a:spLocks/>
          </p:cNvSpPr>
          <p:nvPr/>
        </p:nvSpPr>
        <p:spPr>
          <a:xfrm>
            <a:off x="838200" y="1690688"/>
            <a:ext cx="10515600" cy="400946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The Finance Department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No that</a:t>
            </a:r>
            <a:r>
              <a:rPr kumimoji="0" lang="en-US" sz="2800" b="0" i="0" u="none" strike="noStrike" kern="1200" cap="none" spc="0" normalizeH="0" baseline="0" noProof="0" dirty="0">
                <a:ln>
                  <a:noFill/>
                </a:ln>
                <a:solidFill>
                  <a:prstClr val="white"/>
                </a:solidFill>
                <a:effectLst/>
                <a:uLnTx/>
                <a:uFillTx/>
                <a:latin typeface="Bahnschrift Condensed" panose="020B0502040204020203" pitchFamily="34" charset="0"/>
                <a:ea typeface="+mn-ea"/>
                <a:cs typeface="+mn-cs"/>
              </a:rPr>
              <a:t>’</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 it, they</a:t>
            </a:r>
            <a:r>
              <a:rPr kumimoji="0" lang="en-US" sz="2800" b="0" i="0" u="none" strike="noStrike" kern="1200" cap="none" spc="0" normalizeH="0" baseline="0" noProof="0" dirty="0">
                <a:ln>
                  <a:noFill/>
                </a:ln>
                <a:solidFill>
                  <a:prstClr val="white"/>
                </a:solidFill>
                <a:effectLst/>
                <a:uLnTx/>
                <a:uFillTx/>
                <a:latin typeface="Bahnschrift Condensed" panose="020B0502040204020203" pitchFamily="34" charset="0"/>
                <a:ea typeface="+mn-ea"/>
                <a:cs typeface="+mn-cs"/>
              </a:rPr>
              <a:t>’</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re the problem</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Okay they run this report to get paid invoices, right?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But do they do it through SSRS?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No</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Through the Polaris reporting system?</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No</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err="1">
                <a:ln>
                  <a:noFill/>
                </a:ln>
                <a:solidFill>
                  <a:prstClr val="white"/>
                </a:solidFill>
                <a:effectLst/>
                <a:uLnTx/>
                <a:uFillTx/>
                <a:latin typeface="Aptos" panose="02110004020202020204"/>
                <a:ea typeface="+mn-ea"/>
                <a:cs typeface="+mn-cs"/>
              </a:rPr>
              <a:t>SimplyReports</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No</a:t>
            </a:r>
          </a:p>
        </p:txBody>
      </p:sp>
    </p:spTree>
    <p:extLst>
      <p:ext uri="{BB962C8B-B14F-4D97-AF65-F5344CB8AC3E}">
        <p14:creationId xmlns:p14="http://schemas.microsoft.com/office/powerpoint/2010/main" val="1596740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D4E2FDA-3E72-42BC-431F-14C7CBA335B0}"/>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5B3A6158-6531-C25D-726C-38B5B59633FD}"/>
              </a:ext>
            </a:extLst>
          </p:cNvPr>
          <p:cNvSpPr>
            <a:spLocks noGrp="1"/>
          </p:cNvSpPr>
          <p:nvPr>
            <p:ph type="title"/>
          </p:nvPr>
        </p:nvSpPr>
        <p:spPr/>
        <p:txBody>
          <a:bodyPr/>
          <a:lstStyle/>
          <a:p>
            <a:r>
              <a:rPr lang="en-US" dirty="0">
                <a:solidFill>
                  <a:srgbClr val="82DCF1"/>
                </a:solidFill>
              </a:rPr>
              <a:t>The Problem </a:t>
            </a:r>
            <a:r>
              <a:rPr lang="en-US" dirty="0">
                <a:solidFill>
                  <a:srgbClr val="82DCF1"/>
                </a:solidFill>
                <a:latin typeface="Bahnschrift Condensed" panose="020B0502040204020203" pitchFamily="34" charset="0"/>
              </a:rPr>
              <a:t>–</a:t>
            </a:r>
            <a:r>
              <a:rPr lang="en-US" dirty="0">
                <a:solidFill>
                  <a:srgbClr val="82DCF1"/>
                </a:solidFill>
              </a:rPr>
              <a:t> Continued	</a:t>
            </a:r>
          </a:p>
        </p:txBody>
      </p:sp>
      <p:sp>
        <p:nvSpPr>
          <p:cNvPr id="5" name="Rectangle 4">
            <a:extLst>
              <a:ext uri="{FF2B5EF4-FFF2-40B4-BE49-F238E27FC236}">
                <a16:creationId xmlns:a16="http://schemas.microsoft.com/office/drawing/2014/main" id="{83D60075-993E-C836-EB21-9C52B636BAF9}"/>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C577EBE1-DDF1-29A3-7CE7-AD6D1DA6E66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3" name="Content Placeholder 23">
            <a:extLst>
              <a:ext uri="{FF2B5EF4-FFF2-40B4-BE49-F238E27FC236}">
                <a16:creationId xmlns:a16="http://schemas.microsoft.com/office/drawing/2014/main" id="{BA2947AA-39BB-7A23-D1CF-D0A9A6F7D697}"/>
              </a:ext>
            </a:extLst>
          </p:cNvPr>
          <p:cNvSpPr txBox="1">
            <a:spLocks/>
          </p:cNvSpPr>
          <p:nvPr/>
        </p:nvSpPr>
        <p:spPr>
          <a:xfrm>
            <a:off x="838200" y="1690688"/>
            <a:ext cx="10515600" cy="383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No, they run a custom SQL query in the Find Tool</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Select all the Invoices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Right-click</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Select Print -&gt; Full</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A PDF appears from</a:t>
            </a:r>
            <a:r>
              <a:rPr kumimoji="0" lang="en-US" sz="2800" b="0" i="0" u="none" strike="noStrike" kern="1200" cap="none" spc="0" normalizeH="0" baseline="0" noProof="0" dirty="0">
                <a:ln>
                  <a:noFill/>
                </a:ln>
                <a:solidFill>
                  <a:prstClr val="white"/>
                </a:solidFill>
                <a:effectLst/>
                <a:uLnTx/>
                <a:uFillTx/>
                <a:latin typeface="Bahnschrift Condensed" panose="020B0502040204020203" pitchFamily="34" charset="0"/>
                <a:ea typeface="+mn-ea"/>
                <a:cs typeface="+mn-cs"/>
              </a:rPr>
              <a:t>…</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 somewhere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Yeah</a:t>
            </a:r>
            <a:r>
              <a:rPr kumimoji="0" lang="en-US" sz="2800" b="0" i="0" u="none" strike="noStrike" kern="1200" cap="none" spc="0" normalizeH="0" baseline="0" noProof="0" dirty="0">
                <a:ln>
                  <a:noFill/>
                </a:ln>
                <a:solidFill>
                  <a:prstClr val="white"/>
                </a:solidFill>
                <a:effectLst/>
                <a:uLnTx/>
                <a:uFillTx/>
                <a:latin typeface="Bahnschrift Condensed" panose="020B0502040204020203" pitchFamily="34"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14495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9624A9D-BD05-B22C-3561-0EC3630573F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30663B7-7CEC-AAC5-89C1-74E08325E6D5}"/>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2EA98C00-6897-D5C8-B5C2-4F3CD33AB4EB}"/>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3" name="Content Placeholder 23">
            <a:extLst>
              <a:ext uri="{FF2B5EF4-FFF2-40B4-BE49-F238E27FC236}">
                <a16:creationId xmlns:a16="http://schemas.microsoft.com/office/drawing/2014/main" id="{82F4CD13-88D2-9CD4-97BF-9F6025B74786}"/>
              </a:ext>
            </a:extLst>
          </p:cNvPr>
          <p:cNvSpPr txBox="1">
            <a:spLocks/>
          </p:cNvSpPr>
          <p:nvPr/>
        </p:nvSpPr>
        <p:spPr>
          <a:xfrm>
            <a:off x="838200" y="1690688"/>
            <a:ext cx="10515600" cy="17670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7" name="Picture 6">
            <a:extLst>
              <a:ext uri="{FF2B5EF4-FFF2-40B4-BE49-F238E27FC236}">
                <a16:creationId xmlns:a16="http://schemas.microsoft.com/office/drawing/2014/main" id="{0B4FD233-3F7D-49D0-E96D-2B5536053BBA}"/>
              </a:ext>
            </a:extLst>
          </p:cNvPr>
          <p:cNvPicPr>
            <a:picLocks noChangeAspect="1"/>
          </p:cNvPicPr>
          <p:nvPr/>
        </p:nvPicPr>
        <p:blipFill>
          <a:blip r:embed="rId4"/>
          <a:stretch>
            <a:fillRect/>
          </a:stretch>
        </p:blipFill>
        <p:spPr>
          <a:xfrm>
            <a:off x="2129311" y="768433"/>
            <a:ext cx="8170965" cy="4672012"/>
          </a:xfrm>
          <a:prstGeom prst="rect">
            <a:avLst/>
          </a:prstGeom>
        </p:spPr>
      </p:pic>
    </p:spTree>
    <p:extLst>
      <p:ext uri="{BB962C8B-B14F-4D97-AF65-F5344CB8AC3E}">
        <p14:creationId xmlns:p14="http://schemas.microsoft.com/office/powerpoint/2010/main" val="1328717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B487A18-FD33-3903-6B2B-53E4D4CB7D1E}"/>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D5E1A111-6BCC-D946-D149-716EA5515EF4}"/>
              </a:ext>
            </a:extLst>
          </p:cNvPr>
          <p:cNvSpPr>
            <a:spLocks noGrp="1"/>
          </p:cNvSpPr>
          <p:nvPr>
            <p:ph type="title"/>
          </p:nvPr>
        </p:nvSpPr>
        <p:spPr/>
        <p:txBody>
          <a:bodyPr/>
          <a:lstStyle/>
          <a:p>
            <a:r>
              <a:rPr lang="en-US" dirty="0">
                <a:solidFill>
                  <a:srgbClr val="82DCF1"/>
                </a:solidFill>
              </a:rPr>
              <a:t>Analysis</a:t>
            </a:r>
          </a:p>
        </p:txBody>
      </p:sp>
      <p:sp>
        <p:nvSpPr>
          <p:cNvPr id="5" name="Rectangle 4">
            <a:extLst>
              <a:ext uri="{FF2B5EF4-FFF2-40B4-BE49-F238E27FC236}">
                <a16:creationId xmlns:a16="http://schemas.microsoft.com/office/drawing/2014/main" id="{77199DC0-51C7-FF5D-953F-581B4DE47969}"/>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E3C6AD3E-BFAD-15E1-CF47-665406000F87}"/>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3" name="Content Placeholder 23">
            <a:extLst>
              <a:ext uri="{FF2B5EF4-FFF2-40B4-BE49-F238E27FC236}">
                <a16:creationId xmlns:a16="http://schemas.microsoft.com/office/drawing/2014/main" id="{E95EAD3D-1BAD-92A2-B139-82B3E4C51A59}"/>
              </a:ext>
            </a:extLst>
          </p:cNvPr>
          <p:cNvSpPr txBox="1">
            <a:spLocks/>
          </p:cNvSpPr>
          <p:nvPr/>
        </p:nvSpPr>
        <p:spPr>
          <a:xfrm>
            <a:off x="838200" y="1690687"/>
            <a:ext cx="10515600" cy="37838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So this is obviously coming from some kind of internal reporting process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But where is it and how does it work?</a:t>
            </a:r>
          </a:p>
        </p:txBody>
      </p:sp>
    </p:spTree>
    <p:extLst>
      <p:ext uri="{BB962C8B-B14F-4D97-AF65-F5344CB8AC3E}">
        <p14:creationId xmlns:p14="http://schemas.microsoft.com/office/powerpoint/2010/main" val="737844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13B410E-69D3-DD20-CB79-596553975308}"/>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0E73326B-1A2E-117A-538D-F563648A594E}"/>
              </a:ext>
            </a:extLst>
          </p:cNvPr>
          <p:cNvSpPr>
            <a:spLocks noGrp="1"/>
          </p:cNvSpPr>
          <p:nvPr>
            <p:ph type="title"/>
          </p:nvPr>
        </p:nvSpPr>
        <p:spPr/>
        <p:txBody>
          <a:bodyPr/>
          <a:lstStyle/>
          <a:p>
            <a:r>
              <a:rPr lang="en-US" dirty="0">
                <a:solidFill>
                  <a:srgbClr val="82DCF1"/>
                </a:solidFill>
              </a:rPr>
              <a:t>Solution</a:t>
            </a:r>
          </a:p>
        </p:txBody>
      </p:sp>
      <p:sp>
        <p:nvSpPr>
          <p:cNvPr id="5" name="Rectangle 4">
            <a:extLst>
              <a:ext uri="{FF2B5EF4-FFF2-40B4-BE49-F238E27FC236}">
                <a16:creationId xmlns:a16="http://schemas.microsoft.com/office/drawing/2014/main" id="{94BF9096-DB58-7EEE-7655-228B9CD6DCCC}"/>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5390DE80-E40B-8549-AFA6-A1CB22F46DCF}"/>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a:extLst>
              <a:ext uri="{FF2B5EF4-FFF2-40B4-BE49-F238E27FC236}">
                <a16:creationId xmlns:a16="http://schemas.microsoft.com/office/drawing/2014/main" id="{B65F223C-A7BB-0A10-A598-19538BD77BB9}"/>
              </a:ext>
            </a:extLst>
          </p:cNvPr>
          <p:cNvPicPr>
            <a:picLocks noChangeAspect="1"/>
          </p:cNvPicPr>
          <p:nvPr/>
        </p:nvPicPr>
        <p:blipFill>
          <a:blip r:embed="rId4"/>
          <a:stretch>
            <a:fillRect/>
          </a:stretch>
        </p:blipFill>
        <p:spPr>
          <a:xfrm>
            <a:off x="1182994" y="1403334"/>
            <a:ext cx="9826011" cy="4356198"/>
          </a:xfrm>
          <a:prstGeom prst="rect">
            <a:avLst/>
          </a:prstGeom>
        </p:spPr>
      </p:pic>
    </p:spTree>
    <p:extLst>
      <p:ext uri="{BB962C8B-B14F-4D97-AF65-F5344CB8AC3E}">
        <p14:creationId xmlns:p14="http://schemas.microsoft.com/office/powerpoint/2010/main" val="1600197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8E0DA3F-F19E-78DA-B56E-66109B6547B0}"/>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82D03368-E948-DCD4-D234-23C53990ABF7}"/>
              </a:ext>
            </a:extLst>
          </p:cNvPr>
          <p:cNvSpPr>
            <a:spLocks noGrp="1"/>
          </p:cNvSpPr>
          <p:nvPr>
            <p:ph type="title"/>
          </p:nvPr>
        </p:nvSpPr>
        <p:spPr/>
        <p:txBody>
          <a:bodyPr/>
          <a:lstStyle/>
          <a:p>
            <a:r>
              <a:rPr lang="en-US" dirty="0">
                <a:solidFill>
                  <a:srgbClr val="82DCF1"/>
                </a:solidFill>
              </a:rPr>
              <a:t>Where</a:t>
            </a:r>
            <a:r>
              <a:rPr lang="en-US" dirty="0">
                <a:solidFill>
                  <a:srgbClr val="82DCF1"/>
                </a:solidFill>
                <a:latin typeface="Bahnschrift Condensed" panose="020B0502040204020203" pitchFamily="34" charset="0"/>
              </a:rPr>
              <a:t>’</a:t>
            </a:r>
            <a:r>
              <a:rPr lang="en-US" dirty="0">
                <a:solidFill>
                  <a:srgbClr val="82DCF1"/>
                </a:solidFill>
              </a:rPr>
              <a:t>s the Call Coming From?</a:t>
            </a:r>
          </a:p>
        </p:txBody>
      </p:sp>
      <p:sp>
        <p:nvSpPr>
          <p:cNvPr id="5" name="Rectangle 4">
            <a:extLst>
              <a:ext uri="{FF2B5EF4-FFF2-40B4-BE49-F238E27FC236}">
                <a16:creationId xmlns:a16="http://schemas.microsoft.com/office/drawing/2014/main" id="{316BDCDF-09F9-B7D0-949D-F9FFF1A46D19}"/>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638B1388-A19E-0F83-8934-E05DF3758E1C}"/>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3" name="Content Placeholder 23">
            <a:extLst>
              <a:ext uri="{FF2B5EF4-FFF2-40B4-BE49-F238E27FC236}">
                <a16:creationId xmlns:a16="http://schemas.microsoft.com/office/drawing/2014/main" id="{17CF925C-8A89-6A7B-5C12-B0ED14C639AE}"/>
              </a:ext>
            </a:extLst>
          </p:cNvPr>
          <p:cNvSpPr txBox="1">
            <a:spLocks/>
          </p:cNvSpPr>
          <p:nvPr/>
        </p:nvSpPr>
        <p:spPr>
          <a:xfrm>
            <a:off x="838200" y="1690688"/>
            <a:ext cx="10515600" cy="41209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Inside the house, obviously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So let</a:t>
            </a:r>
            <a:r>
              <a:rPr kumimoji="0" lang="en-US" sz="2800" b="0" i="0" u="none" strike="noStrike" kern="1200" cap="none" spc="0" normalizeH="0" baseline="0" noProof="0" dirty="0">
                <a:ln>
                  <a:noFill/>
                </a:ln>
                <a:solidFill>
                  <a:prstClr val="white"/>
                </a:solidFill>
                <a:effectLst/>
                <a:uLnTx/>
                <a:uFillTx/>
                <a:latin typeface="Bahnschrift Condensed" panose="020B0502040204020203" pitchFamily="34" charset="0"/>
                <a:ea typeface="+mn-ea"/>
                <a:cs typeface="+mn-cs"/>
              </a:rPr>
              <a:t>’</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 trace the call</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2755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B0A8D26-9F53-931E-9C08-E90A28E4DEAE}"/>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97C0F6CB-A8AC-7634-A034-94894005523A}"/>
              </a:ext>
            </a:extLst>
          </p:cNvPr>
          <p:cNvSpPr>
            <a:spLocks noGrp="1"/>
          </p:cNvSpPr>
          <p:nvPr>
            <p:ph type="title"/>
          </p:nvPr>
        </p:nvSpPr>
        <p:spPr/>
        <p:txBody>
          <a:bodyPr/>
          <a:lstStyle/>
          <a:p>
            <a:r>
              <a:rPr lang="en-US" dirty="0">
                <a:solidFill>
                  <a:srgbClr val="82DCF1"/>
                </a:solidFill>
              </a:rPr>
              <a:t>SQL Server Profiler</a:t>
            </a:r>
          </a:p>
        </p:txBody>
      </p:sp>
      <p:sp>
        <p:nvSpPr>
          <p:cNvPr id="5" name="Rectangle 4">
            <a:extLst>
              <a:ext uri="{FF2B5EF4-FFF2-40B4-BE49-F238E27FC236}">
                <a16:creationId xmlns:a16="http://schemas.microsoft.com/office/drawing/2014/main" id="{E6CDD0FD-6709-F78C-770D-77790BE15592}"/>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C94972F8-83FD-B768-BE39-FA481EC4A524}"/>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3" name="Content Placeholder 23">
            <a:extLst>
              <a:ext uri="{FF2B5EF4-FFF2-40B4-BE49-F238E27FC236}">
                <a16:creationId xmlns:a16="http://schemas.microsoft.com/office/drawing/2014/main" id="{A8658D4B-38DB-BB29-7A76-83BEA0C00119}"/>
              </a:ext>
            </a:extLst>
          </p:cNvPr>
          <p:cNvSpPr txBox="1">
            <a:spLocks/>
          </p:cNvSpPr>
          <p:nvPr/>
        </p:nvSpPr>
        <p:spPr>
          <a:xfrm>
            <a:off x="838200" y="1690688"/>
            <a:ext cx="10515600" cy="40213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A separate </a:t>
            </a:r>
            <a:r>
              <a:rPr kumimoji="0" lang="en-US" sz="2800" b="0" i="0" u="none" strike="noStrike" kern="1200" cap="none" spc="0" normalizeH="0" baseline="0" noProof="0" dirty="0" err="1">
                <a:ln>
                  <a:noFill/>
                </a:ln>
                <a:solidFill>
                  <a:prstClr val="white"/>
                </a:solidFill>
                <a:effectLst/>
                <a:uLnTx/>
                <a:uFillTx/>
                <a:latin typeface="Aptos" panose="02110004020202020204"/>
                <a:ea typeface="+mn-ea"/>
                <a:cs typeface="+mn-cs"/>
              </a:rPr>
              <a:t>programme</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 that works with SQL Server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Allows you to do a SQL Trace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Watch everything that</a:t>
            </a:r>
            <a:r>
              <a:rPr kumimoji="0" lang="en-US" sz="2400" b="0" i="0" u="none" strike="noStrike" kern="1200" cap="none" spc="0" normalizeH="0" baseline="0" noProof="0" dirty="0">
                <a:ln>
                  <a:noFill/>
                </a:ln>
                <a:solidFill>
                  <a:prstClr val="white"/>
                </a:solidFill>
                <a:effectLst/>
                <a:uLnTx/>
                <a:uFillTx/>
                <a:latin typeface="Bahnschrift Condensed" panose="020B0502040204020203" pitchFamily="34" charset="0"/>
                <a:ea typeface="+mn-ea"/>
                <a:cs typeface="+mn-cs"/>
              </a:rPr>
              <a:t>’</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s happening in your database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Set up and run the search in the Find Tool</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Start the trace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Select and print the full invoice vouchers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Stop the trace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Look for clues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95335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9CD0212-84B7-A986-ED89-87EA65C384B7}"/>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6ED97048-EB66-CFB7-9A0D-891FFA9FFCFF}"/>
              </a:ext>
            </a:extLst>
          </p:cNvPr>
          <p:cNvSpPr>
            <a:spLocks noGrp="1"/>
          </p:cNvSpPr>
          <p:nvPr>
            <p:ph type="title"/>
          </p:nvPr>
        </p:nvSpPr>
        <p:spPr/>
        <p:txBody>
          <a:bodyPr/>
          <a:lstStyle/>
          <a:p>
            <a:r>
              <a:rPr lang="en-US" dirty="0">
                <a:solidFill>
                  <a:srgbClr val="82DCF1"/>
                </a:solidFill>
              </a:rPr>
              <a:t>Interesting Finds</a:t>
            </a:r>
          </a:p>
        </p:txBody>
      </p:sp>
      <p:sp>
        <p:nvSpPr>
          <p:cNvPr id="5" name="Rectangle 4">
            <a:extLst>
              <a:ext uri="{FF2B5EF4-FFF2-40B4-BE49-F238E27FC236}">
                <a16:creationId xmlns:a16="http://schemas.microsoft.com/office/drawing/2014/main" id="{E74F58F4-6016-B3BE-33C6-7BE133618BF2}"/>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0D8C5686-638D-1013-0D2B-70E9797F24B0}"/>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3" name="Content Placeholder 23">
            <a:extLst>
              <a:ext uri="{FF2B5EF4-FFF2-40B4-BE49-F238E27FC236}">
                <a16:creationId xmlns:a16="http://schemas.microsoft.com/office/drawing/2014/main" id="{D959D47A-5A10-4145-CB81-84BBFEED0261}"/>
              </a:ext>
            </a:extLst>
          </p:cNvPr>
          <p:cNvSpPr txBox="1">
            <a:spLocks/>
          </p:cNvSpPr>
          <p:nvPr/>
        </p:nvSpPr>
        <p:spPr>
          <a:xfrm>
            <a:off x="838200" y="1690688"/>
            <a:ext cx="10515600" cy="347507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exec </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ObjectExists</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 @Path=N'/Polaris/System/Internal/Vouchers1',@AuthType=1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exec Polaris.Rpt_Vouchers1 @</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InvoiceID</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=1,@PayHistoryID=1,@sTempTable=N'##6_861</a:t>
            </a:r>
            <a:r>
              <a:rPr kumimoji="0" lang="en-US" sz="2400" b="0" i="0" u="none" strike="noStrike" kern="1200" cap="none" spc="0" normalizeH="0" baseline="0" noProof="0" dirty="0">
                <a:ln>
                  <a:noFill/>
                </a:ln>
                <a:solidFill>
                  <a:prstClr val="white"/>
                </a:solidFill>
                <a:effectLst/>
                <a:uLnTx/>
                <a:uFillTx/>
                <a:latin typeface="Bahnschrift" panose="020B0502040204020203" pitchFamily="34"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Ran a search on that @Path and, oh hey: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C:\</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ProgramData</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\Polaris\{POLARIS VERSION}\Reports\System\Internal</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60791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30B9523-B448-EC41-61EF-3DDBCAFBA036}"/>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17491EDF-0089-11CA-8652-E88847024AB2}"/>
              </a:ext>
            </a:extLst>
          </p:cNvPr>
          <p:cNvSpPr>
            <a:spLocks noGrp="1"/>
          </p:cNvSpPr>
          <p:nvPr>
            <p:ph type="title"/>
          </p:nvPr>
        </p:nvSpPr>
        <p:spPr/>
        <p:txBody>
          <a:bodyPr/>
          <a:lstStyle/>
          <a:p>
            <a:r>
              <a:rPr lang="en-US" dirty="0">
                <a:solidFill>
                  <a:srgbClr val="82DCF1"/>
                </a:solidFill>
              </a:rPr>
              <a:t>SQL Server Extended Events</a:t>
            </a:r>
          </a:p>
        </p:txBody>
      </p:sp>
      <p:sp>
        <p:nvSpPr>
          <p:cNvPr id="5" name="Rectangle 4">
            <a:extLst>
              <a:ext uri="{FF2B5EF4-FFF2-40B4-BE49-F238E27FC236}">
                <a16:creationId xmlns:a16="http://schemas.microsoft.com/office/drawing/2014/main" id="{B1DE2CED-4C9D-03BF-896D-C2644720A848}"/>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5B811A56-95EC-0209-B218-F6258B7D6DE0}"/>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3" name="Content Placeholder 23">
            <a:extLst>
              <a:ext uri="{FF2B5EF4-FFF2-40B4-BE49-F238E27FC236}">
                <a16:creationId xmlns:a16="http://schemas.microsoft.com/office/drawing/2014/main" id="{144A74D5-4AEF-B197-BAE2-A63AA9B14D16}"/>
              </a:ext>
            </a:extLst>
          </p:cNvPr>
          <p:cNvSpPr txBox="1">
            <a:spLocks/>
          </p:cNvSpPr>
          <p:nvPr/>
        </p:nvSpPr>
        <p:spPr>
          <a:xfrm>
            <a:off x="838200" y="1690687"/>
            <a:ext cx="10515600" cy="398571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The SQL Profiler Trace casts a very wide net but</a:t>
            </a:r>
            <a:r>
              <a:rPr kumimoji="0" lang="en-US" sz="2800" b="0" i="0" u="none" strike="noStrike" kern="1200" cap="none" spc="0" normalizeH="0" baseline="0" noProof="0" dirty="0">
                <a:ln>
                  <a:noFill/>
                </a:ln>
                <a:solidFill>
                  <a:prstClr val="white"/>
                </a:solidFill>
                <a:effectLst/>
                <a:uLnTx/>
                <a:uFillTx/>
                <a:latin typeface="Bahnschrift Condensed" panose="020B0502040204020203" pitchFamily="34" charset="0"/>
                <a:ea typeface="+mn-ea"/>
                <a:cs typeface="+mn-cs"/>
              </a:rPr>
              <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Now we have some idea of which fish we want to catch</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Time for Extended Events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Set up a search</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sql_batch_completed</a:t>
            </a:r>
            <a:endPar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rpc_completed</a:t>
            </a:r>
            <a:endPar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These capture </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sproc</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 calls and ad-hoc queries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Filter by username. In this case: </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polaris</a:t>
            </a:r>
            <a:endPar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0973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C8784EA-CB6F-F81C-43C6-538280AC5FC0}"/>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24EED2F1-73BD-ED3A-AACF-0EF1D35A670C}"/>
              </a:ext>
            </a:extLst>
          </p:cNvPr>
          <p:cNvSpPr>
            <a:spLocks noGrp="1"/>
          </p:cNvSpPr>
          <p:nvPr>
            <p:ph type="title"/>
          </p:nvPr>
        </p:nvSpPr>
        <p:spPr/>
        <p:txBody>
          <a:bodyPr/>
          <a:lstStyle/>
          <a:p>
            <a:r>
              <a:rPr lang="en-US" dirty="0">
                <a:solidFill>
                  <a:srgbClr val="82DCF1"/>
                </a:solidFill>
              </a:rPr>
              <a:t>More Interesting Finds</a:t>
            </a:r>
          </a:p>
        </p:txBody>
      </p:sp>
      <p:sp>
        <p:nvSpPr>
          <p:cNvPr id="5" name="Rectangle 4">
            <a:extLst>
              <a:ext uri="{FF2B5EF4-FFF2-40B4-BE49-F238E27FC236}">
                <a16:creationId xmlns:a16="http://schemas.microsoft.com/office/drawing/2014/main" id="{58DFFF77-9B0B-6B64-F0DC-F113DB479576}"/>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65EA9DCB-596E-7311-61EF-8BA1665CF81F}"/>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3" name="Content Placeholder 23">
            <a:extLst>
              <a:ext uri="{FF2B5EF4-FFF2-40B4-BE49-F238E27FC236}">
                <a16:creationId xmlns:a16="http://schemas.microsoft.com/office/drawing/2014/main" id="{6301E49D-4344-0DE6-EB5B-6A040B35BD8C}"/>
              </a:ext>
            </a:extLst>
          </p:cNvPr>
          <p:cNvSpPr txBox="1">
            <a:spLocks/>
          </p:cNvSpPr>
          <p:nvPr/>
        </p:nvSpPr>
        <p:spPr>
          <a:xfrm>
            <a:off x="838200" y="1690687"/>
            <a:ext cx="10515600" cy="39975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Looking through the captured data, you can see the order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declare @p3 </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nvarchar</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(255)  set @p3=N'##1158_861'  exec </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Polaris.Rpt_CreateTempTable</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 861,1158,@p3 output  select @p3</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exec Polaris.Rpt_Vouchers1 @</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InvoiceID</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=1,@PayHistoryID=1,@sTempTable=N'##1158_861’</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exec </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Polaris.Rpt_VoucherLines</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 @</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invoiceid</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=317773,@payhistoryid=325569</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43278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D095FD5-740D-112C-7130-8C0037B54327}"/>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BEE6F9F6-C8E7-FE7D-0FFD-89189D5BFBB1}"/>
              </a:ext>
            </a:extLst>
          </p:cNvPr>
          <p:cNvSpPr>
            <a:spLocks noGrp="1"/>
          </p:cNvSpPr>
          <p:nvPr>
            <p:ph type="title"/>
          </p:nvPr>
        </p:nvSpPr>
        <p:spPr/>
        <p:txBody>
          <a:bodyPr/>
          <a:lstStyle/>
          <a:p>
            <a:r>
              <a:rPr lang="en-US" dirty="0">
                <a:solidFill>
                  <a:srgbClr val="82DCF1"/>
                </a:solidFill>
              </a:rPr>
              <a:t>So what did we discover?</a:t>
            </a:r>
          </a:p>
        </p:txBody>
      </p:sp>
      <p:sp>
        <p:nvSpPr>
          <p:cNvPr id="5" name="Rectangle 4">
            <a:extLst>
              <a:ext uri="{FF2B5EF4-FFF2-40B4-BE49-F238E27FC236}">
                <a16:creationId xmlns:a16="http://schemas.microsoft.com/office/drawing/2014/main" id="{93C42FB5-572C-6477-62E2-0153CC1411C9}"/>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F6EC14A3-1785-938B-1010-F42BE42C3438}"/>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3" name="Content Placeholder 23">
            <a:extLst>
              <a:ext uri="{FF2B5EF4-FFF2-40B4-BE49-F238E27FC236}">
                <a16:creationId xmlns:a16="http://schemas.microsoft.com/office/drawing/2014/main" id="{D1A14CE5-F90F-C2E0-8477-061286466191}"/>
              </a:ext>
            </a:extLst>
          </p:cNvPr>
          <p:cNvSpPr txBox="1">
            <a:spLocks/>
          </p:cNvSpPr>
          <p:nvPr/>
        </p:nvSpPr>
        <p:spPr>
          <a:xfrm>
            <a:off x="838200" y="1690688"/>
            <a:ext cx="10515600" cy="4120954"/>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There</a:t>
            </a:r>
            <a:r>
              <a:rPr kumimoji="0" lang="en-US" sz="2800" b="0" i="0" u="none" strike="noStrike" kern="1200" cap="none" spc="0" normalizeH="0" baseline="0" noProof="0" dirty="0">
                <a:ln>
                  <a:noFill/>
                </a:ln>
                <a:solidFill>
                  <a:prstClr val="white"/>
                </a:solidFill>
                <a:effectLst/>
                <a:uLnTx/>
                <a:uFillTx/>
                <a:latin typeface="Bahnschrift Condensed" panose="020B0502040204020203" pitchFamily="34" charset="0"/>
                <a:ea typeface="+mn-ea"/>
                <a:cs typeface="+mn-cs"/>
              </a:rPr>
              <a:t>’</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s an internal report, not shown in SSRS, called Vouchers1</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There are three </a:t>
            </a:r>
            <a:r>
              <a:rPr kumimoji="0" lang="en-US" sz="2800" b="0" i="0" u="none" strike="noStrike" kern="1200" cap="none" spc="0" normalizeH="0" baseline="0" noProof="0" dirty="0" err="1">
                <a:ln>
                  <a:noFill/>
                </a:ln>
                <a:solidFill>
                  <a:prstClr val="white"/>
                </a:solidFill>
                <a:effectLst/>
                <a:uLnTx/>
                <a:uFillTx/>
                <a:latin typeface="Aptos" panose="02110004020202020204"/>
                <a:ea typeface="+mn-ea"/>
                <a:cs typeface="+mn-cs"/>
              </a:rPr>
              <a:t>sprocs</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 involved:</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Rpt_CreateTempTable</a:t>
            </a:r>
            <a:endPar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Rpt_Vouchers1</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Rpt_VoucherLines</a:t>
            </a:r>
            <a:endPar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And we can look at the way the </a:t>
            </a:r>
            <a:r>
              <a:rPr kumimoji="0" lang="en-US" sz="2800" b="0" i="0" u="none" strike="noStrike" kern="1200" cap="none" spc="0" normalizeH="0" baseline="0" noProof="0" dirty="0" err="1">
                <a:ln>
                  <a:noFill/>
                </a:ln>
                <a:solidFill>
                  <a:prstClr val="white"/>
                </a:solidFill>
                <a:effectLst/>
                <a:uLnTx/>
                <a:uFillTx/>
                <a:latin typeface="Aptos" panose="02110004020202020204"/>
                <a:ea typeface="+mn-ea"/>
                <a:cs typeface="+mn-cs"/>
              </a:rPr>
              <a:t>sprocs</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 are called and compare that with their code to find out what parameters they take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err="1">
                <a:ln>
                  <a:noFill/>
                </a:ln>
                <a:solidFill>
                  <a:prstClr val="white"/>
                </a:solidFill>
                <a:effectLst/>
                <a:uLnTx/>
                <a:uFillTx/>
                <a:latin typeface="Aptos" panose="02110004020202020204"/>
                <a:ea typeface="+mn-ea"/>
                <a:cs typeface="+mn-cs"/>
              </a:rPr>
              <a:t>Rpt_CreateTempTable</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 	takes the </a:t>
            </a:r>
            <a:r>
              <a:rPr kumimoji="0" lang="en-US" sz="2800" b="0" i="0" u="none" strike="noStrike" kern="1200" cap="none" spc="0" normalizeH="0" baseline="0" noProof="0" dirty="0" err="1">
                <a:ln>
                  <a:noFill/>
                </a:ln>
                <a:solidFill>
                  <a:prstClr val="white"/>
                </a:solidFill>
                <a:effectLst/>
                <a:uLnTx/>
                <a:uFillTx/>
                <a:latin typeface="Aptos" panose="02110004020202020204"/>
                <a:ea typeface="+mn-ea"/>
                <a:cs typeface="+mn-cs"/>
              </a:rPr>
              <a:t>PolarisUserID</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 </a:t>
            </a:r>
            <a:r>
              <a:rPr kumimoji="0" lang="en-US" sz="2800" b="0" i="0" u="none" strike="noStrike" kern="1200" cap="none" spc="0" normalizeH="0" baseline="0" noProof="0" dirty="0" err="1">
                <a:ln>
                  <a:noFill/>
                </a:ln>
                <a:solidFill>
                  <a:prstClr val="white"/>
                </a:solidFill>
                <a:effectLst/>
                <a:uLnTx/>
                <a:uFillTx/>
                <a:latin typeface="Aptos" panose="02110004020202020204"/>
                <a:ea typeface="+mn-ea"/>
                <a:cs typeface="+mn-cs"/>
              </a:rPr>
              <a:t>WorkstationID</a:t>
            </a:r>
            <a:r>
              <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rPr>
              <a:t>, and a table name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Which means it creates a predictably named table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95003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E08BC25-02BF-E0AB-1692-FACCB0F66D52}"/>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BB5ECBD2-0848-C253-4BB3-9A1883BD7998}"/>
              </a:ext>
            </a:extLst>
          </p:cNvPr>
          <p:cNvSpPr>
            <a:spLocks noGrp="1"/>
          </p:cNvSpPr>
          <p:nvPr>
            <p:ph type="title"/>
          </p:nvPr>
        </p:nvSpPr>
        <p:spPr/>
        <p:txBody>
          <a:bodyPr/>
          <a:lstStyle/>
          <a:p>
            <a:r>
              <a:rPr lang="en-US" dirty="0">
                <a:solidFill>
                  <a:srgbClr val="82DCF1"/>
                </a:solidFill>
              </a:rPr>
              <a:t>Know the Process, Hack the Process</a:t>
            </a:r>
          </a:p>
        </p:txBody>
      </p:sp>
      <p:sp>
        <p:nvSpPr>
          <p:cNvPr id="5" name="Rectangle 4">
            <a:extLst>
              <a:ext uri="{FF2B5EF4-FFF2-40B4-BE49-F238E27FC236}">
                <a16:creationId xmlns:a16="http://schemas.microsoft.com/office/drawing/2014/main" id="{D8637887-0747-0258-9153-B938413D06C7}"/>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945D3126-3D73-2CC7-C354-36761C05487C}"/>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3" name="Content Placeholder 23">
            <a:extLst>
              <a:ext uri="{FF2B5EF4-FFF2-40B4-BE49-F238E27FC236}">
                <a16:creationId xmlns:a16="http://schemas.microsoft.com/office/drawing/2014/main" id="{104F0CCD-B476-3685-7B52-B95D35950489}"/>
              </a:ext>
            </a:extLst>
          </p:cNvPr>
          <p:cNvSpPr txBox="1">
            <a:spLocks/>
          </p:cNvSpPr>
          <p:nvPr/>
        </p:nvSpPr>
        <p:spPr>
          <a:xfrm>
            <a:off x="838200" y="1690687"/>
            <a:ext cx="10515600" cy="377196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We need to create our own temp table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EXEC </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Polaris.Polaris.Rpt_CreateTempTable</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 861,1158,@p3 OUTPUT;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Populate the table with our own SQL query, the same one Finance was using but with variable start and end dates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EXEC Polaris.Polaris.Rpt_Vouchers1 @</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InvoiceID</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 = 1, @</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PayHistoryID</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 = 1, @</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sTempTable</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 = N'##1158_861</a:t>
            </a:r>
            <a:r>
              <a:rPr kumimoji="0" lang="en-US" sz="2400" b="0" i="0" u="none" strike="noStrike" kern="1200" cap="none" spc="0" normalizeH="0" baseline="0" noProof="0" dirty="0">
                <a:ln>
                  <a:noFill/>
                </a:ln>
                <a:solidFill>
                  <a:prstClr val="white"/>
                </a:solidFill>
                <a:effectLst/>
                <a:uLnTx/>
                <a:uFillTx/>
                <a:latin typeface="Bahnschrift Condensed" panose="020B0502040204020203" pitchFamily="34" charset="0"/>
                <a:ea typeface="+mn-ea"/>
                <a:cs typeface="+mn-cs"/>
              </a:rPr>
              <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But wait! What about </a:t>
            </a:r>
            <a:r>
              <a:rPr kumimoji="0" lang="en-US" sz="2400" b="0" i="0" u="none" strike="noStrike" kern="1200" cap="none" spc="0" normalizeH="0" baseline="0" noProof="0" dirty="0" err="1">
                <a:ln>
                  <a:noFill/>
                </a:ln>
                <a:solidFill>
                  <a:prstClr val="white"/>
                </a:solidFill>
                <a:effectLst/>
                <a:uLnTx/>
                <a:uFillTx/>
                <a:latin typeface="Aptos" panose="02110004020202020204"/>
                <a:ea typeface="+mn-ea"/>
                <a:cs typeface="+mn-cs"/>
              </a:rPr>
              <a:t>Rpt_VoucherLines</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Turns out, it</a:t>
            </a:r>
            <a:r>
              <a:rPr kumimoji="0" lang="en-US" sz="2400" b="0" i="0" u="none" strike="noStrike" kern="1200" cap="none" spc="0" normalizeH="0" baseline="0" noProof="0" dirty="0">
                <a:ln>
                  <a:noFill/>
                </a:ln>
                <a:solidFill>
                  <a:prstClr val="white"/>
                </a:solidFill>
                <a:effectLst/>
                <a:uLnTx/>
                <a:uFillTx/>
                <a:latin typeface="Bahnschrift Condensed" panose="020B0502040204020203" pitchFamily="34" charset="0"/>
                <a:ea typeface="+mn-ea"/>
                <a:cs typeface="+mn-cs"/>
              </a:rPr>
              <a:t>’</a:t>
            </a: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s only used as a sub-report in the Vouchers1 RDL file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96749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BA2563D-9DC3-41C4-947A-C6520BDFBB6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38ADD03-21A1-651B-3873-BAC64A0C1399}"/>
              </a:ext>
            </a:extLst>
          </p:cNvPr>
          <p:cNvPicPr>
            <a:picLocks noChangeAspect="1"/>
          </p:cNvPicPr>
          <p:nvPr/>
        </p:nvPicPr>
        <p:blipFill>
          <a:blip r:embed="rId3"/>
          <a:stretch>
            <a:fillRect/>
          </a:stretch>
        </p:blipFill>
        <p:spPr>
          <a:xfrm>
            <a:off x="2474462" y="0"/>
            <a:ext cx="7243075" cy="6858000"/>
          </a:xfrm>
          <a:prstGeom prst="rect">
            <a:avLst/>
          </a:prstGeom>
        </p:spPr>
      </p:pic>
    </p:spTree>
    <p:extLst>
      <p:ext uri="{BB962C8B-B14F-4D97-AF65-F5344CB8AC3E}">
        <p14:creationId xmlns:p14="http://schemas.microsoft.com/office/powerpoint/2010/main" val="623247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B4A1D8D-ACE1-BA21-3C51-02F3F757C5B9}"/>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70E323C1-4EB0-751A-D831-6FA5B081B884}"/>
              </a:ext>
            </a:extLst>
          </p:cNvPr>
          <p:cNvSpPr>
            <a:spLocks noGrp="1"/>
          </p:cNvSpPr>
          <p:nvPr>
            <p:ph type="title"/>
          </p:nvPr>
        </p:nvSpPr>
        <p:spPr/>
        <p:txBody>
          <a:bodyPr/>
          <a:lstStyle/>
          <a:p>
            <a:r>
              <a:rPr lang="en-US" dirty="0">
                <a:solidFill>
                  <a:srgbClr val="82DCF1"/>
                </a:solidFill>
              </a:rPr>
              <a:t>Thank you!</a:t>
            </a:r>
          </a:p>
        </p:txBody>
      </p:sp>
      <p:sp>
        <p:nvSpPr>
          <p:cNvPr id="5" name="Rectangle 4">
            <a:extLst>
              <a:ext uri="{FF2B5EF4-FFF2-40B4-BE49-F238E27FC236}">
                <a16:creationId xmlns:a16="http://schemas.microsoft.com/office/drawing/2014/main" id="{F6CE5AF2-1689-8CA8-A66A-70F91513987E}"/>
              </a:ext>
            </a:extLst>
          </p:cNvPr>
          <p:cNvSpPr/>
          <p:nvPr/>
        </p:nvSpPr>
        <p:spPr>
          <a:xfrm>
            <a:off x="0" y="5873519"/>
            <a:ext cx="12192000" cy="984482"/>
          </a:xfrm>
          <a:prstGeom prst="rect">
            <a:avLst/>
          </a:prstGeom>
          <a:solidFill>
            <a:srgbClr val="002D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8" name="Picture 17">
            <a:extLst>
              <a:ext uri="{FF2B5EF4-FFF2-40B4-BE49-F238E27FC236}">
                <a16:creationId xmlns:a16="http://schemas.microsoft.com/office/drawing/2014/main" id="{7A6CCD6C-89F7-F21B-726B-B71DBB838AB7}"/>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a:extLst>
              <a:ext uri="{FF2B5EF4-FFF2-40B4-BE49-F238E27FC236}">
                <a16:creationId xmlns:a16="http://schemas.microsoft.com/office/drawing/2014/main" id="{24278173-AD2E-E8A2-3330-F0F2AE36C095}"/>
              </a:ext>
            </a:extLst>
          </p:cNvPr>
          <p:cNvPicPr>
            <a:picLocks noChangeAspect="1"/>
          </p:cNvPicPr>
          <p:nvPr/>
        </p:nvPicPr>
        <p:blipFill>
          <a:blip r:embed="rId4"/>
          <a:stretch>
            <a:fillRect/>
          </a:stretch>
        </p:blipFill>
        <p:spPr>
          <a:xfrm>
            <a:off x="4162649" y="1495649"/>
            <a:ext cx="3866702" cy="3866702"/>
          </a:xfrm>
          <a:prstGeom prst="rect">
            <a:avLst/>
          </a:prstGeom>
        </p:spPr>
      </p:pic>
    </p:spTree>
    <p:extLst>
      <p:ext uri="{BB962C8B-B14F-4D97-AF65-F5344CB8AC3E}">
        <p14:creationId xmlns:p14="http://schemas.microsoft.com/office/powerpoint/2010/main" val="1267036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71898F-4D0F-919F-D69B-72879BA74619}"/>
              </a:ext>
            </a:extLst>
          </p:cNvPr>
          <p:cNvSpPr/>
          <p:nvPr/>
        </p:nvSpPr>
        <p:spPr>
          <a:xfrm>
            <a:off x="3357250" y="0"/>
            <a:ext cx="8834750" cy="6858000"/>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81F9501-4654-8CF0-CEF7-2697A05CB704}"/>
              </a:ext>
            </a:extLst>
          </p:cNvPr>
          <p:cNvPicPr>
            <a:picLocks noChangeAspect="1"/>
          </p:cNvPicPr>
          <p:nvPr/>
        </p:nvPicPr>
        <p:blipFill>
          <a:blip r:embed="rId2"/>
          <a:stretch>
            <a:fillRect/>
          </a:stretch>
        </p:blipFill>
        <p:spPr>
          <a:xfrm>
            <a:off x="237500" y="2004002"/>
            <a:ext cx="2849993" cy="2849993"/>
          </a:xfrm>
          <a:prstGeom prst="rect">
            <a:avLst/>
          </a:prstGeom>
        </p:spPr>
      </p:pic>
      <p:sp>
        <p:nvSpPr>
          <p:cNvPr id="2" name="Title 1">
            <a:extLst>
              <a:ext uri="{FF2B5EF4-FFF2-40B4-BE49-F238E27FC236}">
                <a16:creationId xmlns:a16="http://schemas.microsoft.com/office/drawing/2014/main" id="{01BD3775-4F06-3D6F-F872-CC0186454DBE}"/>
              </a:ext>
            </a:extLst>
          </p:cNvPr>
          <p:cNvSpPr>
            <a:spLocks noGrp="1"/>
          </p:cNvSpPr>
          <p:nvPr>
            <p:ph type="ctrTitle"/>
          </p:nvPr>
        </p:nvSpPr>
        <p:spPr>
          <a:xfrm>
            <a:off x="3894113" y="1462852"/>
            <a:ext cx="7928761" cy="1437719"/>
          </a:xfrm>
        </p:spPr>
        <p:txBody>
          <a:bodyPr>
            <a:normAutofit fontScale="90000"/>
          </a:bodyPr>
          <a:lstStyle/>
          <a:p>
            <a:pPr marL="0" indent="0">
              <a:buNone/>
            </a:pPr>
            <a:r>
              <a:rPr lang="en-US" sz="3600" b="1" dirty="0"/>
              <a:t>AMH Insights: </a:t>
            </a:r>
            <a:br>
              <a:rPr lang="en-US" sz="3600" b="1" dirty="0"/>
            </a:br>
            <a:r>
              <a:rPr lang="en-US" sz="3600" b="1" dirty="0" smtClean="0"/>
              <a:t>Turning </a:t>
            </a:r>
            <a:r>
              <a:rPr lang="en-US" sz="3600" b="1" dirty="0"/>
              <a:t>Log Files Into Actionable Data</a:t>
            </a:r>
            <a:endParaRPr lang="en-US" sz="3600" dirty="0"/>
          </a:p>
        </p:txBody>
      </p:sp>
      <p:sp>
        <p:nvSpPr>
          <p:cNvPr id="6" name="Subtitle 5">
            <a:extLst>
              <a:ext uri="{FF2B5EF4-FFF2-40B4-BE49-F238E27FC236}">
                <a16:creationId xmlns:a16="http://schemas.microsoft.com/office/drawing/2014/main" id="{D6138A63-B70F-BF2F-B517-91379908FA8D}"/>
              </a:ext>
            </a:extLst>
          </p:cNvPr>
          <p:cNvSpPr>
            <a:spLocks noGrp="1"/>
          </p:cNvSpPr>
          <p:nvPr>
            <p:ph type="subTitle" idx="1"/>
          </p:nvPr>
        </p:nvSpPr>
        <p:spPr>
          <a:xfrm>
            <a:off x="4997485" y="3957429"/>
            <a:ext cx="5722018" cy="1036122"/>
          </a:xfrm>
        </p:spPr>
        <p:txBody>
          <a:bodyPr>
            <a:noAutofit/>
          </a:bodyPr>
          <a:lstStyle/>
          <a:p>
            <a:r>
              <a:rPr lang="en-US" kern="0" dirty="0">
                <a:latin typeface="+mj-lt"/>
                <a:cs typeface="Times New Roman" pitchFamily="18" charset="0"/>
              </a:rPr>
              <a:t>Victor Zuniga</a:t>
            </a:r>
          </a:p>
          <a:p>
            <a:r>
              <a:rPr lang="en-US" kern="0" dirty="0">
                <a:latin typeface="+mj-lt"/>
                <a:cs typeface="Times New Roman" pitchFamily="18" charset="0"/>
              </a:rPr>
              <a:t>Poudre Libraries</a:t>
            </a:r>
          </a:p>
          <a:p>
            <a:r>
              <a:rPr lang="en-US" kern="0" dirty="0">
                <a:latin typeface="+mj-lt"/>
                <a:cs typeface="Times New Roman" pitchFamily="18" charset="0"/>
              </a:rPr>
              <a:t>vzuniga@poudrelibraries.org</a:t>
            </a:r>
            <a:endParaRPr lang="en-US" dirty="0">
              <a:solidFill>
                <a:srgbClr val="00223D"/>
              </a:solidFill>
              <a:latin typeface="+mj-lt"/>
            </a:endParaRPr>
          </a:p>
        </p:txBody>
      </p:sp>
    </p:spTree>
    <p:extLst>
      <p:ext uri="{BB962C8B-B14F-4D97-AF65-F5344CB8AC3E}">
        <p14:creationId xmlns:p14="http://schemas.microsoft.com/office/powerpoint/2010/main" val="2755490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The Problem</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AMH systems move thousands of items daily</a:t>
            </a:r>
          </a:p>
          <a:p>
            <a:r>
              <a:rPr lang="en-US" dirty="0"/>
              <a:t>Limited visibility into routing decisions</a:t>
            </a:r>
          </a:p>
          <a:p>
            <a:r>
              <a:rPr lang="en-US" dirty="0"/>
              <a:t>Exceptions are difficult to explain</a:t>
            </a:r>
          </a:p>
          <a:p>
            <a:r>
              <a:rPr lang="en-US" dirty="0"/>
              <a:t>Staff questions </a:t>
            </a:r>
            <a:r>
              <a:rPr lang="en-US" dirty="0">
                <a:latin typeface="Bahnschrift Condensed" panose="020B0502040204020203" pitchFamily="34" charset="0"/>
              </a:rPr>
              <a:t>→</a:t>
            </a:r>
            <a:r>
              <a:rPr lang="en-US" dirty="0"/>
              <a:t> no clear answers</a:t>
            </a:r>
          </a:p>
          <a:p>
            <a:pPr marL="0" indent="0">
              <a:buNone/>
            </a:pPr>
            <a:endParaRPr lang="en-US" dirty="0"/>
          </a:p>
        </p:txBody>
      </p:sp>
    </p:spTree>
    <p:extLst>
      <p:ext uri="{BB962C8B-B14F-4D97-AF65-F5344CB8AC3E}">
        <p14:creationId xmlns:p14="http://schemas.microsoft.com/office/powerpoint/2010/main" val="29729900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n amh&#10;&#10;Description automatically generated">
            <a:extLst>
              <a:ext uri="{FF2B5EF4-FFF2-40B4-BE49-F238E27FC236}">
                <a16:creationId xmlns:a16="http://schemas.microsoft.com/office/drawing/2014/main" id="{8BA29138-CB76-4610-10DC-378234F35349}"/>
              </a:ext>
            </a:extLst>
          </p:cNvPr>
          <p:cNvPicPr>
            <a:picLocks noChangeAspect="1"/>
          </p:cNvPicPr>
          <p:nvPr/>
        </p:nvPicPr>
        <p:blipFill>
          <a:blip r:embed="rId3"/>
          <a:srcRect l="1400" r="4968" b="-2"/>
          <a:stretch>
            <a:fillRect/>
          </a:stretch>
        </p:blipFill>
        <p:spPr>
          <a:xfrm>
            <a:off x="3242695" y="10"/>
            <a:ext cx="8949307" cy="6857990"/>
          </a:xfrm>
          <a:custGeom>
            <a:avLst/>
            <a:gdLst/>
            <a:ahLst/>
            <a:cxnLst/>
            <a:rect l="l" t="t" r="r" b="b"/>
            <a:pathLst>
              <a:path w="8949307" h="6858000">
                <a:moveTo>
                  <a:pt x="0" y="0"/>
                </a:moveTo>
                <a:lnTo>
                  <a:pt x="8949307" y="0"/>
                </a:lnTo>
                <a:lnTo>
                  <a:pt x="8949307" y="6858000"/>
                </a:lnTo>
                <a:lnTo>
                  <a:pt x="0" y="6858000"/>
                </a:lnTo>
                <a:lnTo>
                  <a:pt x="62983" y="6788730"/>
                </a:lnTo>
                <a:cubicBezTo>
                  <a:pt x="773509" y="5928900"/>
                  <a:pt x="1212979" y="4741056"/>
                  <a:pt x="1212979" y="3429000"/>
                </a:cubicBezTo>
                <a:cubicBezTo>
                  <a:pt x="1212979" y="2116944"/>
                  <a:pt x="773509" y="929100"/>
                  <a:pt x="62983" y="69271"/>
                </a:cubicBezTo>
                <a:close/>
              </a:path>
            </a:pathLst>
          </a:custGeom>
        </p:spPr>
      </p:pic>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a:xfrm>
            <a:off x="371094" y="1161288"/>
            <a:ext cx="3438144" cy="1125728"/>
          </a:xfrm>
        </p:spPr>
        <p:txBody>
          <a:bodyPr anchor="b">
            <a:normAutofit/>
          </a:bodyPr>
          <a:lstStyle/>
          <a:p>
            <a:r>
              <a:rPr lang="en-US" sz="2800"/>
              <a:t>The Environment</a:t>
            </a:r>
          </a:p>
        </p:txBody>
      </p:sp>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a:xfrm>
            <a:off x="371094" y="2718054"/>
            <a:ext cx="3438906" cy="3207258"/>
          </a:xfrm>
        </p:spPr>
        <p:txBody>
          <a:bodyPr anchor="t">
            <a:normAutofit/>
          </a:bodyPr>
          <a:lstStyle/>
          <a:p>
            <a:r>
              <a:rPr lang="en-US" sz="1700"/>
              <a:t>Multiple bins (holds, transit, exceptions, etc.)</a:t>
            </a:r>
          </a:p>
          <a:p>
            <a:r>
              <a:rPr lang="en-US" sz="1700"/>
              <a:t>Rules-based routing</a:t>
            </a:r>
          </a:p>
          <a:p>
            <a:r>
              <a:rPr lang="en-US" sz="1700"/>
              <a:t>Physical + logical complexity</a:t>
            </a:r>
          </a:p>
          <a:p>
            <a:pPr marL="0" indent="0">
              <a:buNone/>
            </a:pPr>
            <a:endParaRPr lang="en-US" sz="1700"/>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4"/>
          <a:stretch>
            <a:fillRect/>
          </a:stretch>
        </p:blipFill>
        <p:spPr>
          <a:xfrm>
            <a:off x="11266948" y="5945786"/>
            <a:ext cx="850338" cy="850338"/>
          </a:xfrm>
          <a:prstGeom prst="rect">
            <a:avLst/>
          </a:prstGeom>
        </p:spPr>
      </p:pic>
    </p:spTree>
    <p:extLst>
      <p:ext uri="{BB962C8B-B14F-4D97-AF65-F5344CB8AC3E}">
        <p14:creationId xmlns:p14="http://schemas.microsoft.com/office/powerpoint/2010/main" val="558657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The Black Box</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Decisions happen in the AMH system</a:t>
            </a:r>
          </a:p>
          <a:p>
            <a:r>
              <a:rPr lang="en-US" dirty="0"/>
              <a:t>Limited transparency</a:t>
            </a:r>
          </a:p>
          <a:p>
            <a:r>
              <a:rPr lang="en-US" dirty="0"/>
              <a:t>Difficult to validate behavior</a:t>
            </a:r>
          </a:p>
        </p:txBody>
      </p:sp>
    </p:spTree>
    <p:extLst>
      <p:ext uri="{BB962C8B-B14F-4D97-AF65-F5344CB8AC3E}">
        <p14:creationId xmlns:p14="http://schemas.microsoft.com/office/powerpoint/2010/main" val="1105235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The Hidden Data (Logs)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SIP2 transaction logs</a:t>
            </a:r>
          </a:p>
          <a:p>
            <a:r>
              <a:rPr lang="en-US" dirty="0"/>
              <a:t>Every check-in is recorded</a:t>
            </a:r>
          </a:p>
          <a:p>
            <a:r>
              <a:rPr lang="en-US" dirty="0"/>
              <a:t>Contains routing-related fields</a:t>
            </a:r>
          </a:p>
        </p:txBody>
      </p:sp>
    </p:spTree>
    <p:extLst>
      <p:ext uri="{BB962C8B-B14F-4D97-AF65-F5344CB8AC3E}">
        <p14:creationId xmlns:p14="http://schemas.microsoft.com/office/powerpoint/2010/main" val="27976952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What Does a Log Look Like?</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a:xfrm>
            <a:off x="891436" y="3124884"/>
            <a:ext cx="10515600" cy="2551791"/>
          </a:xfrm>
        </p:spPr>
        <p:txBody>
          <a:bodyPr/>
          <a:lstStyle/>
          <a:p>
            <a:r>
              <a:rPr lang="en-US" dirty="0"/>
              <a:t>AB </a:t>
            </a:r>
            <a:r>
              <a:rPr lang="en-US" dirty="0">
                <a:latin typeface="Bahnschrift Condensed" panose="020B0502040204020203" pitchFamily="34" charset="0"/>
              </a:rPr>
              <a:t>→</a:t>
            </a:r>
            <a:r>
              <a:rPr lang="en-US" dirty="0"/>
              <a:t> Barcode</a:t>
            </a:r>
          </a:p>
          <a:p>
            <a:r>
              <a:rPr lang="en-US" dirty="0"/>
              <a:t>AQ </a:t>
            </a:r>
            <a:r>
              <a:rPr lang="en-US" dirty="0">
                <a:latin typeface="Bahnschrift Condensed" panose="020B0502040204020203" pitchFamily="34" charset="0"/>
              </a:rPr>
              <a:t>→</a:t>
            </a:r>
            <a:r>
              <a:rPr lang="en-US" dirty="0"/>
              <a:t> Location</a:t>
            </a:r>
          </a:p>
          <a:p>
            <a:r>
              <a:rPr lang="en-US" dirty="0"/>
              <a:t>AJ </a:t>
            </a:r>
            <a:r>
              <a:rPr lang="en-US" dirty="0">
                <a:latin typeface="Bahnschrift Condensed" panose="020B0502040204020203" pitchFamily="34" charset="0"/>
              </a:rPr>
              <a:t>→</a:t>
            </a:r>
            <a:r>
              <a:rPr lang="en-US" dirty="0"/>
              <a:t> Title</a:t>
            </a:r>
          </a:p>
          <a:p>
            <a:r>
              <a:rPr lang="en-US" dirty="0"/>
              <a:t>CT </a:t>
            </a:r>
            <a:r>
              <a:rPr lang="en-US" dirty="0">
                <a:latin typeface="Bahnschrift Condensed" panose="020B0502040204020203" pitchFamily="34" charset="0"/>
              </a:rPr>
              <a:t>→</a:t>
            </a:r>
            <a:r>
              <a:rPr lang="en-US" dirty="0"/>
              <a:t> Destination</a:t>
            </a:r>
          </a:p>
        </p:txBody>
      </p:sp>
      <p:pic>
        <p:nvPicPr>
          <p:cNvPr id="6" name="Picture 5">
            <a:extLst>
              <a:ext uri="{FF2B5EF4-FFF2-40B4-BE49-F238E27FC236}">
                <a16:creationId xmlns:a16="http://schemas.microsoft.com/office/drawing/2014/main" id="{9CDDEAE1-0C73-12E1-A427-148774E62EAC}"/>
              </a:ext>
            </a:extLst>
          </p:cNvPr>
          <p:cNvPicPr>
            <a:picLocks noChangeAspect="1"/>
          </p:cNvPicPr>
          <p:nvPr/>
        </p:nvPicPr>
        <p:blipFill>
          <a:blip r:embed="rId4"/>
          <a:stretch>
            <a:fillRect/>
          </a:stretch>
        </p:blipFill>
        <p:spPr>
          <a:xfrm>
            <a:off x="943619" y="1479585"/>
            <a:ext cx="11032756" cy="1325563"/>
          </a:xfrm>
          <a:prstGeom prst="rect">
            <a:avLst/>
          </a:prstGeom>
        </p:spPr>
      </p:pic>
    </p:spTree>
    <p:extLst>
      <p:ext uri="{BB962C8B-B14F-4D97-AF65-F5344CB8AC3E}">
        <p14:creationId xmlns:p14="http://schemas.microsoft.com/office/powerpoint/2010/main" val="33655582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The Key Insight</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Logs </a:t>
            </a:r>
            <a:r>
              <a:rPr lang="en-US" dirty="0">
                <a:latin typeface="Bahnschrift Condensed" panose="020B0502040204020203" pitchFamily="34" charset="0"/>
              </a:rPr>
              <a:t>≠</a:t>
            </a:r>
            <a:r>
              <a:rPr lang="en-US" dirty="0"/>
              <a:t> Bin</a:t>
            </a:r>
          </a:p>
          <a:p>
            <a:r>
              <a:rPr lang="en-US" dirty="0"/>
              <a:t>Logs contain location data</a:t>
            </a:r>
          </a:p>
          <a:p>
            <a:r>
              <a:rPr lang="en-US" dirty="0"/>
              <a:t>Routing must be reconstructed</a:t>
            </a:r>
          </a:p>
        </p:txBody>
      </p:sp>
    </p:spTree>
    <p:extLst>
      <p:ext uri="{BB962C8B-B14F-4D97-AF65-F5344CB8AC3E}">
        <p14:creationId xmlns:p14="http://schemas.microsoft.com/office/powerpoint/2010/main" val="20580442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Sorting Matrix</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Sorting Matrix (CSV)</a:t>
            </a:r>
          </a:p>
          <a:p>
            <a:r>
              <a:rPr lang="en-US" dirty="0"/>
              <a:t>Maps location </a:t>
            </a:r>
            <a:r>
              <a:rPr lang="en-US" dirty="0">
                <a:latin typeface="Bahnschrift Condensed" panose="020B0502040204020203" pitchFamily="34" charset="0"/>
              </a:rPr>
              <a:t>→</a:t>
            </a:r>
            <a:r>
              <a:rPr lang="en-US" dirty="0"/>
              <a:t> bin</a:t>
            </a:r>
          </a:p>
          <a:p>
            <a:r>
              <a:rPr lang="en-US" dirty="0"/>
              <a:t>Supports rules (exact + wildcard)</a:t>
            </a:r>
          </a:p>
        </p:txBody>
      </p:sp>
    </p:spTree>
    <p:extLst>
      <p:ext uri="{BB962C8B-B14F-4D97-AF65-F5344CB8AC3E}">
        <p14:creationId xmlns:p14="http://schemas.microsoft.com/office/powerpoint/2010/main" val="22766699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Reconstructing the Workflow</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Parse SIP2 logs</a:t>
            </a:r>
          </a:p>
          <a:p>
            <a:r>
              <a:rPr lang="en-US" dirty="0"/>
              <a:t>Extract location data</a:t>
            </a:r>
          </a:p>
          <a:p>
            <a:r>
              <a:rPr lang="en-US" dirty="0"/>
              <a:t>Apply sorting matrix</a:t>
            </a:r>
          </a:p>
          <a:p>
            <a:r>
              <a:rPr lang="en-US" dirty="0"/>
              <a:t>Assign expected bin</a:t>
            </a:r>
          </a:p>
          <a:p>
            <a:r>
              <a:rPr lang="en-US" dirty="0"/>
              <a:t>Compare results</a:t>
            </a:r>
          </a:p>
        </p:txBody>
      </p:sp>
    </p:spTree>
    <p:extLst>
      <p:ext uri="{BB962C8B-B14F-4D97-AF65-F5344CB8AC3E}">
        <p14:creationId xmlns:p14="http://schemas.microsoft.com/office/powerpoint/2010/main" val="12946850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What This Enables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Bin usage analysis</a:t>
            </a:r>
          </a:p>
          <a:p>
            <a:r>
              <a:rPr lang="en-US" dirty="0"/>
              <a:t>Exception tracking</a:t>
            </a:r>
          </a:p>
          <a:p>
            <a:r>
              <a:rPr lang="en-US" dirty="0"/>
              <a:t>Troubleshooting</a:t>
            </a:r>
          </a:p>
          <a:p>
            <a:r>
              <a:rPr lang="en-US" dirty="0"/>
              <a:t>Data-driven decisions</a:t>
            </a:r>
          </a:p>
        </p:txBody>
      </p:sp>
    </p:spTree>
    <p:extLst>
      <p:ext uri="{BB962C8B-B14F-4D97-AF65-F5344CB8AC3E}">
        <p14:creationId xmlns:p14="http://schemas.microsoft.com/office/powerpoint/2010/main" val="33915410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Existing Data</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Sierra DNA (</a:t>
            </a:r>
            <a:r>
              <a:rPr lang="en-US" dirty="0" err="1"/>
              <a:t>circ_trans</a:t>
            </a:r>
            <a:r>
              <a:rPr lang="en-US" dirty="0"/>
              <a:t>)</a:t>
            </a:r>
          </a:p>
          <a:p>
            <a:r>
              <a:rPr lang="en-US" dirty="0"/>
              <a:t>Decision Center reports</a:t>
            </a:r>
          </a:p>
          <a:p>
            <a:r>
              <a:rPr lang="en-US" dirty="0"/>
              <a:t>Limited AMH visibility</a:t>
            </a:r>
          </a:p>
        </p:txBody>
      </p:sp>
    </p:spTree>
    <p:extLst>
      <p:ext uri="{BB962C8B-B14F-4D97-AF65-F5344CB8AC3E}">
        <p14:creationId xmlns:p14="http://schemas.microsoft.com/office/powerpoint/2010/main" val="555200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The Gap</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Circulation Data </a:t>
            </a:r>
            <a:r>
              <a:rPr lang="en-US" dirty="0">
                <a:latin typeface="Bahnschrift Condensed" panose="020B0502040204020203" pitchFamily="34" charset="0"/>
              </a:rPr>
              <a:t>≠</a:t>
            </a:r>
            <a:r>
              <a:rPr lang="en-US" dirty="0"/>
              <a:t> Routing Insight</a:t>
            </a:r>
          </a:p>
          <a:p>
            <a:r>
              <a:rPr lang="en-US" dirty="0"/>
              <a:t>No bin-level insights</a:t>
            </a:r>
          </a:p>
          <a:p>
            <a:r>
              <a:rPr lang="en-US" dirty="0"/>
              <a:t>No exception tracking</a:t>
            </a:r>
          </a:p>
        </p:txBody>
      </p:sp>
    </p:spTree>
    <p:extLst>
      <p:ext uri="{BB962C8B-B14F-4D97-AF65-F5344CB8AC3E}">
        <p14:creationId xmlns:p14="http://schemas.microsoft.com/office/powerpoint/2010/main" val="6784607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Why This Matters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Better troubleshooting</a:t>
            </a:r>
          </a:p>
          <a:p>
            <a:r>
              <a:rPr lang="en-US" dirty="0"/>
              <a:t>Improved workflows</a:t>
            </a:r>
          </a:p>
          <a:p>
            <a:r>
              <a:rPr lang="en-US" dirty="0"/>
              <a:t>Data-driven decisions</a:t>
            </a:r>
          </a:p>
          <a:p>
            <a:r>
              <a:rPr lang="en-US" dirty="0"/>
              <a:t>Staff confidence</a:t>
            </a:r>
          </a:p>
        </p:txBody>
      </p:sp>
    </p:spTree>
    <p:extLst>
      <p:ext uri="{BB962C8B-B14F-4D97-AF65-F5344CB8AC3E}">
        <p14:creationId xmlns:p14="http://schemas.microsoft.com/office/powerpoint/2010/main" val="755209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Demo</a:t>
            </a:r>
          </a:p>
        </p:txBody>
      </p:sp>
      <p:pic>
        <p:nvPicPr>
          <p:cNvPr id="6" name="Content Placeholder 5" descr="A screenshot of a computer screen&#10;&#10;Description automatically generated">
            <a:extLst>
              <a:ext uri="{FF2B5EF4-FFF2-40B4-BE49-F238E27FC236}">
                <a16:creationId xmlns:a16="http://schemas.microsoft.com/office/drawing/2014/main" id="{101B90A6-1B26-7316-E73A-49FA1C754EF2}"/>
              </a:ext>
            </a:extLst>
          </p:cNvPr>
          <p:cNvPicPr>
            <a:picLocks noGrp="1" noChangeAspect="1"/>
          </p:cNvPicPr>
          <p:nvPr>
            <p:ph idx="1"/>
          </p:nvPr>
        </p:nvPicPr>
        <p:blipFill>
          <a:blip r:embed="rId3"/>
          <a:stretch>
            <a:fillRect/>
          </a:stretch>
        </p:blipFill>
        <p:spPr>
          <a:xfrm>
            <a:off x="717500" y="1675227"/>
            <a:ext cx="10757000" cy="4394199"/>
          </a:xfrm>
          <a:prstGeom prst="rect">
            <a:avLst/>
          </a:prstGeom>
        </p:spPr>
      </p:pic>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4"/>
          <a:stretch>
            <a:fillRect/>
          </a:stretch>
        </p:blipFill>
        <p:spPr>
          <a:xfrm>
            <a:off x="11266948" y="5945786"/>
            <a:ext cx="850338" cy="850338"/>
          </a:xfrm>
          <a:prstGeom prst="rect">
            <a:avLst/>
          </a:prstGeom>
        </p:spPr>
      </p:pic>
    </p:spTree>
    <p:extLst>
      <p:ext uri="{BB962C8B-B14F-4D97-AF65-F5344CB8AC3E}">
        <p14:creationId xmlns:p14="http://schemas.microsoft.com/office/powerpoint/2010/main" val="12014189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Demo</a:t>
            </a:r>
          </a:p>
        </p:txBody>
      </p:sp>
      <p:pic>
        <p:nvPicPr>
          <p:cNvPr id="6" name="Content Placeholder 5">
            <a:extLst>
              <a:ext uri="{FF2B5EF4-FFF2-40B4-BE49-F238E27FC236}">
                <a16:creationId xmlns:a16="http://schemas.microsoft.com/office/drawing/2014/main" id="{101B90A6-1B26-7316-E73A-49FA1C754EF2}"/>
              </a:ext>
            </a:extLst>
          </p:cNvPr>
          <p:cNvPicPr>
            <a:picLocks noGrp="1" noChangeAspect="1"/>
          </p:cNvPicPr>
          <p:nvPr>
            <p:ph idx="1"/>
          </p:nvPr>
        </p:nvPicPr>
        <p:blipFill>
          <a:blip r:embed="rId3"/>
          <a:stretch/>
        </p:blipFill>
        <p:spPr>
          <a:xfrm>
            <a:off x="2494197" y="1675227"/>
            <a:ext cx="7203606" cy="4394199"/>
          </a:xfrm>
          <a:prstGeom prst="rect">
            <a:avLst/>
          </a:prstGeom>
        </p:spPr>
      </p:pic>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4"/>
          <a:stretch>
            <a:fillRect/>
          </a:stretch>
        </p:blipFill>
        <p:spPr>
          <a:xfrm>
            <a:off x="11266948" y="5945786"/>
            <a:ext cx="850338" cy="850338"/>
          </a:xfrm>
          <a:prstGeom prst="rect">
            <a:avLst/>
          </a:prstGeom>
        </p:spPr>
      </p:pic>
    </p:spTree>
    <p:extLst>
      <p:ext uri="{BB962C8B-B14F-4D97-AF65-F5344CB8AC3E}">
        <p14:creationId xmlns:p14="http://schemas.microsoft.com/office/powerpoint/2010/main" val="35072767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Demo</a:t>
            </a:r>
          </a:p>
        </p:txBody>
      </p:sp>
      <p:pic>
        <p:nvPicPr>
          <p:cNvPr id="6" name="Content Placeholder 5">
            <a:extLst>
              <a:ext uri="{FF2B5EF4-FFF2-40B4-BE49-F238E27FC236}">
                <a16:creationId xmlns:a16="http://schemas.microsoft.com/office/drawing/2014/main" id="{101B90A6-1B26-7316-E73A-49FA1C754EF2}"/>
              </a:ext>
            </a:extLst>
          </p:cNvPr>
          <p:cNvPicPr>
            <a:picLocks noGrp="1" noChangeAspect="1"/>
          </p:cNvPicPr>
          <p:nvPr>
            <p:ph idx="1"/>
          </p:nvPr>
        </p:nvPicPr>
        <p:blipFill>
          <a:blip r:embed="rId3"/>
          <a:stretch/>
        </p:blipFill>
        <p:spPr>
          <a:xfrm>
            <a:off x="3541925" y="1675227"/>
            <a:ext cx="5108150" cy="4394199"/>
          </a:xfrm>
          <a:prstGeom prst="rect">
            <a:avLst/>
          </a:prstGeom>
        </p:spPr>
      </p:pic>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4"/>
          <a:stretch>
            <a:fillRect/>
          </a:stretch>
        </p:blipFill>
        <p:spPr>
          <a:xfrm>
            <a:off x="11266948" y="5945786"/>
            <a:ext cx="850338" cy="850338"/>
          </a:xfrm>
          <a:prstGeom prst="rect">
            <a:avLst/>
          </a:prstGeom>
        </p:spPr>
      </p:pic>
    </p:spTree>
    <p:extLst>
      <p:ext uri="{BB962C8B-B14F-4D97-AF65-F5344CB8AC3E}">
        <p14:creationId xmlns:p14="http://schemas.microsoft.com/office/powerpoint/2010/main" val="10827612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Demo</a:t>
            </a:r>
          </a:p>
        </p:txBody>
      </p:sp>
      <p:pic>
        <p:nvPicPr>
          <p:cNvPr id="6" name="Content Placeholder 5">
            <a:extLst>
              <a:ext uri="{FF2B5EF4-FFF2-40B4-BE49-F238E27FC236}">
                <a16:creationId xmlns:a16="http://schemas.microsoft.com/office/drawing/2014/main" id="{101B90A6-1B26-7316-E73A-49FA1C754EF2}"/>
              </a:ext>
            </a:extLst>
          </p:cNvPr>
          <p:cNvPicPr>
            <a:picLocks noGrp="1" noChangeAspect="1"/>
          </p:cNvPicPr>
          <p:nvPr>
            <p:ph idx="1"/>
          </p:nvPr>
        </p:nvPicPr>
        <p:blipFill>
          <a:blip r:embed="rId3"/>
          <a:stretch/>
        </p:blipFill>
        <p:spPr>
          <a:xfrm>
            <a:off x="2327755" y="1675227"/>
            <a:ext cx="7536489" cy="4394199"/>
          </a:xfrm>
          <a:prstGeom prst="rect">
            <a:avLst/>
          </a:prstGeom>
        </p:spPr>
      </p:pic>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4"/>
          <a:stretch>
            <a:fillRect/>
          </a:stretch>
        </p:blipFill>
        <p:spPr>
          <a:xfrm>
            <a:off x="11266948" y="5945786"/>
            <a:ext cx="850338" cy="850338"/>
          </a:xfrm>
          <a:prstGeom prst="rect">
            <a:avLst/>
          </a:prstGeom>
        </p:spPr>
      </p:pic>
    </p:spTree>
    <p:extLst>
      <p:ext uri="{BB962C8B-B14F-4D97-AF65-F5344CB8AC3E}">
        <p14:creationId xmlns:p14="http://schemas.microsoft.com/office/powerpoint/2010/main" val="25237919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Demo</a:t>
            </a:r>
          </a:p>
        </p:txBody>
      </p:sp>
      <p:pic>
        <p:nvPicPr>
          <p:cNvPr id="6" name="Content Placeholder 5">
            <a:extLst>
              <a:ext uri="{FF2B5EF4-FFF2-40B4-BE49-F238E27FC236}">
                <a16:creationId xmlns:a16="http://schemas.microsoft.com/office/drawing/2014/main" id="{101B90A6-1B26-7316-E73A-49FA1C754EF2}"/>
              </a:ext>
            </a:extLst>
          </p:cNvPr>
          <p:cNvPicPr>
            <a:picLocks noGrp="1" noChangeAspect="1"/>
          </p:cNvPicPr>
          <p:nvPr>
            <p:ph idx="1"/>
          </p:nvPr>
        </p:nvPicPr>
        <p:blipFill>
          <a:blip r:embed="rId3"/>
          <a:stretch/>
        </p:blipFill>
        <p:spPr>
          <a:xfrm>
            <a:off x="2929438" y="1675227"/>
            <a:ext cx="6333124" cy="4394199"/>
          </a:xfrm>
          <a:prstGeom prst="rect">
            <a:avLst/>
          </a:prstGeom>
        </p:spPr>
      </p:pic>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4"/>
          <a:stretch>
            <a:fillRect/>
          </a:stretch>
        </p:blipFill>
        <p:spPr>
          <a:xfrm>
            <a:off x="11266948" y="5945786"/>
            <a:ext cx="850338" cy="850338"/>
          </a:xfrm>
          <a:prstGeom prst="rect">
            <a:avLst/>
          </a:prstGeom>
        </p:spPr>
      </p:pic>
    </p:spTree>
    <p:extLst>
      <p:ext uri="{BB962C8B-B14F-4D97-AF65-F5344CB8AC3E}">
        <p14:creationId xmlns:p14="http://schemas.microsoft.com/office/powerpoint/2010/main" val="29792770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71898F-4D0F-919F-D69B-72879BA74619}"/>
              </a:ext>
            </a:extLst>
          </p:cNvPr>
          <p:cNvSpPr/>
          <p:nvPr/>
        </p:nvSpPr>
        <p:spPr>
          <a:xfrm>
            <a:off x="3357250" y="0"/>
            <a:ext cx="8834750" cy="6858000"/>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81F9501-4654-8CF0-CEF7-2697A05CB704}"/>
              </a:ext>
            </a:extLst>
          </p:cNvPr>
          <p:cNvPicPr>
            <a:picLocks noChangeAspect="1"/>
          </p:cNvPicPr>
          <p:nvPr/>
        </p:nvPicPr>
        <p:blipFill>
          <a:blip r:embed="rId2"/>
          <a:stretch>
            <a:fillRect/>
          </a:stretch>
        </p:blipFill>
        <p:spPr>
          <a:xfrm>
            <a:off x="237500" y="2004002"/>
            <a:ext cx="2849993" cy="2849993"/>
          </a:xfrm>
          <a:prstGeom prst="rect">
            <a:avLst/>
          </a:prstGeom>
        </p:spPr>
      </p:pic>
      <p:sp>
        <p:nvSpPr>
          <p:cNvPr id="2" name="Title 1">
            <a:extLst>
              <a:ext uri="{FF2B5EF4-FFF2-40B4-BE49-F238E27FC236}">
                <a16:creationId xmlns:a16="http://schemas.microsoft.com/office/drawing/2014/main" id="{01BD3775-4F06-3D6F-F872-CC0186454DBE}"/>
              </a:ext>
            </a:extLst>
          </p:cNvPr>
          <p:cNvSpPr>
            <a:spLocks noGrp="1"/>
          </p:cNvSpPr>
          <p:nvPr>
            <p:ph type="ctrTitle"/>
          </p:nvPr>
        </p:nvSpPr>
        <p:spPr>
          <a:xfrm>
            <a:off x="4377539" y="1356766"/>
            <a:ext cx="7190509" cy="1437719"/>
          </a:xfrm>
        </p:spPr>
        <p:txBody>
          <a:bodyPr>
            <a:normAutofit/>
          </a:bodyPr>
          <a:lstStyle/>
          <a:p>
            <a:r>
              <a:rPr lang="en-US" sz="7200" dirty="0">
                <a:solidFill>
                  <a:srgbClr val="00223D"/>
                </a:solidFill>
              </a:rPr>
              <a:t>Thank You!</a:t>
            </a:r>
          </a:p>
        </p:txBody>
      </p:sp>
      <p:sp>
        <p:nvSpPr>
          <p:cNvPr id="6" name="Subtitle 5">
            <a:extLst>
              <a:ext uri="{FF2B5EF4-FFF2-40B4-BE49-F238E27FC236}">
                <a16:creationId xmlns:a16="http://schemas.microsoft.com/office/drawing/2014/main" id="{D6138A63-B70F-BF2F-B517-91379908FA8D}"/>
              </a:ext>
            </a:extLst>
          </p:cNvPr>
          <p:cNvSpPr>
            <a:spLocks noGrp="1"/>
          </p:cNvSpPr>
          <p:nvPr>
            <p:ph type="subTitle" idx="1"/>
          </p:nvPr>
        </p:nvSpPr>
        <p:spPr>
          <a:xfrm>
            <a:off x="5111785" y="3192928"/>
            <a:ext cx="5722018" cy="1036122"/>
          </a:xfrm>
        </p:spPr>
        <p:txBody>
          <a:bodyPr>
            <a:normAutofit fontScale="85000" lnSpcReduction="20000"/>
          </a:bodyPr>
          <a:lstStyle/>
          <a:p>
            <a:r>
              <a:rPr lang="en-US" dirty="0">
                <a:solidFill>
                  <a:srgbClr val="00223D"/>
                </a:solidFill>
              </a:rPr>
              <a:t>Victor Zuniga</a:t>
            </a:r>
          </a:p>
          <a:p>
            <a:r>
              <a:rPr lang="en-US" dirty="0">
                <a:solidFill>
                  <a:srgbClr val="00223D"/>
                </a:solidFill>
              </a:rPr>
              <a:t>Poudre Libraries</a:t>
            </a:r>
          </a:p>
          <a:p>
            <a:r>
              <a:rPr lang="en-US" dirty="0">
                <a:solidFill>
                  <a:srgbClr val="00223D"/>
                </a:solidFill>
              </a:rPr>
              <a:t>vzuniga@poudrelibraries.org</a:t>
            </a:r>
          </a:p>
        </p:txBody>
      </p:sp>
    </p:spTree>
    <p:extLst>
      <p:ext uri="{BB962C8B-B14F-4D97-AF65-F5344CB8AC3E}">
        <p14:creationId xmlns:p14="http://schemas.microsoft.com/office/powerpoint/2010/main" val="298265088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71898F-4D0F-919F-D69B-72879BA74619}"/>
              </a:ext>
            </a:extLst>
          </p:cNvPr>
          <p:cNvSpPr/>
          <p:nvPr/>
        </p:nvSpPr>
        <p:spPr>
          <a:xfrm>
            <a:off x="3357250" y="0"/>
            <a:ext cx="8834750" cy="6858000"/>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81F9501-4654-8CF0-CEF7-2697A05CB704}"/>
              </a:ext>
            </a:extLst>
          </p:cNvPr>
          <p:cNvPicPr>
            <a:picLocks noChangeAspect="1"/>
          </p:cNvPicPr>
          <p:nvPr/>
        </p:nvPicPr>
        <p:blipFill>
          <a:blip r:embed="rId3"/>
          <a:stretch>
            <a:fillRect/>
          </a:stretch>
        </p:blipFill>
        <p:spPr>
          <a:xfrm>
            <a:off x="237500" y="2004002"/>
            <a:ext cx="2849993" cy="2849993"/>
          </a:xfrm>
          <a:prstGeom prst="rect">
            <a:avLst/>
          </a:prstGeom>
        </p:spPr>
      </p:pic>
      <p:sp>
        <p:nvSpPr>
          <p:cNvPr id="2" name="Title 1">
            <a:extLst>
              <a:ext uri="{FF2B5EF4-FFF2-40B4-BE49-F238E27FC236}">
                <a16:creationId xmlns:a16="http://schemas.microsoft.com/office/drawing/2014/main" id="{01BD3775-4F06-3D6F-F872-CC0186454DBE}"/>
              </a:ext>
            </a:extLst>
          </p:cNvPr>
          <p:cNvSpPr>
            <a:spLocks noGrp="1"/>
          </p:cNvSpPr>
          <p:nvPr>
            <p:ph type="ctrTitle"/>
          </p:nvPr>
        </p:nvSpPr>
        <p:spPr>
          <a:xfrm>
            <a:off x="4377539" y="1356766"/>
            <a:ext cx="7190509" cy="1437719"/>
          </a:xfrm>
        </p:spPr>
        <p:txBody>
          <a:bodyPr>
            <a:noAutofit/>
          </a:bodyPr>
          <a:lstStyle/>
          <a:p>
            <a:pPr algn="l"/>
            <a:r>
              <a:rPr lang="en-US" b="1" dirty="0" smtClean="0">
                <a:solidFill>
                  <a:srgbClr val="00223D"/>
                </a:solidFill>
                <a:latin typeface="Arial" panose="020B0604020202020204" pitchFamily="34" charset="0"/>
                <a:cs typeface="Arial" panose="020B0604020202020204" pitchFamily="34" charset="0"/>
              </a:rPr>
              <a:t>Building a Data Lake for Your Library</a:t>
            </a:r>
            <a:endParaRPr lang="en-US" b="1" dirty="0">
              <a:solidFill>
                <a:srgbClr val="00223D"/>
              </a:solidFill>
              <a:latin typeface="Arial" panose="020B0604020202020204" pitchFamily="34" charset="0"/>
              <a:cs typeface="Arial" panose="020B0604020202020204" pitchFamily="34" charset="0"/>
            </a:endParaRPr>
          </a:p>
        </p:txBody>
      </p:sp>
      <p:sp>
        <p:nvSpPr>
          <p:cNvPr id="6" name="Subtitle 5">
            <a:extLst>
              <a:ext uri="{FF2B5EF4-FFF2-40B4-BE49-F238E27FC236}">
                <a16:creationId xmlns:a16="http://schemas.microsoft.com/office/drawing/2014/main" id="{D6138A63-B70F-BF2F-B517-91379908FA8D}"/>
              </a:ext>
            </a:extLst>
          </p:cNvPr>
          <p:cNvSpPr>
            <a:spLocks noGrp="1"/>
          </p:cNvSpPr>
          <p:nvPr>
            <p:ph type="subTitle" idx="1"/>
          </p:nvPr>
        </p:nvSpPr>
        <p:spPr>
          <a:xfrm>
            <a:off x="4377539" y="2794485"/>
            <a:ext cx="7456498" cy="1947635"/>
          </a:xfrm>
        </p:spPr>
        <p:txBody>
          <a:bodyPr>
            <a:normAutofit fontScale="92500" lnSpcReduction="10000"/>
          </a:bodyPr>
          <a:lstStyle/>
          <a:p>
            <a:pPr algn="l"/>
            <a:r>
              <a:rPr lang="en-US" sz="3000" dirty="0" smtClean="0">
                <a:solidFill>
                  <a:srgbClr val="00223D"/>
                </a:solidFill>
              </a:rPr>
              <a:t>Early Experiments at CHPL</a:t>
            </a:r>
          </a:p>
          <a:p>
            <a:pPr algn="l"/>
            <a:endParaRPr lang="en-US" dirty="0">
              <a:solidFill>
                <a:srgbClr val="00223D"/>
              </a:solidFill>
            </a:endParaRPr>
          </a:p>
          <a:p>
            <a:pPr algn="l"/>
            <a:r>
              <a:rPr lang="en-US" sz="2200" dirty="0" smtClean="0">
                <a:solidFill>
                  <a:srgbClr val="00223D"/>
                </a:solidFill>
              </a:rPr>
              <a:t>Ray </a:t>
            </a:r>
            <a:r>
              <a:rPr lang="en-US" sz="2200" dirty="0" err="1" smtClean="0">
                <a:solidFill>
                  <a:srgbClr val="00223D"/>
                </a:solidFill>
              </a:rPr>
              <a:t>Voelker</a:t>
            </a:r>
            <a:endParaRPr lang="en-US" sz="2200" dirty="0" smtClean="0">
              <a:solidFill>
                <a:srgbClr val="00223D"/>
              </a:solidFill>
            </a:endParaRPr>
          </a:p>
          <a:p>
            <a:pPr algn="l"/>
            <a:r>
              <a:rPr lang="en-US" sz="2200" dirty="0" smtClean="0">
                <a:solidFill>
                  <a:srgbClr val="00223D"/>
                </a:solidFill>
              </a:rPr>
              <a:t>Cincinnati &amp; Hamilton County Public Library</a:t>
            </a:r>
          </a:p>
          <a:p>
            <a:pPr algn="l"/>
            <a:r>
              <a:rPr lang="en-US" sz="2200" dirty="0">
                <a:solidFill>
                  <a:srgbClr val="00223D"/>
                </a:solidFill>
              </a:rPr>
              <a:t>r</a:t>
            </a:r>
            <a:r>
              <a:rPr lang="en-US" sz="2200" dirty="0" smtClean="0">
                <a:solidFill>
                  <a:srgbClr val="00223D"/>
                </a:solidFill>
              </a:rPr>
              <a:t>ay.voelker@chpl.org</a:t>
            </a:r>
            <a:endParaRPr lang="en-US" sz="2200" dirty="0">
              <a:solidFill>
                <a:srgbClr val="00223D"/>
              </a:solidFill>
            </a:endParaRPr>
          </a:p>
        </p:txBody>
      </p:sp>
      <p:pic>
        <p:nvPicPr>
          <p:cNvPr id="1030" name="Picture 6" descr="Cincinnati &amp; Hamilton County Public Librar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7539" y="4954772"/>
            <a:ext cx="2669067" cy="17144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hlinkClick r:id="rId5"/>
          </p:cNvPr>
          <p:cNvPicPr>
            <a:picLocks noChangeAspect="1"/>
          </p:cNvPicPr>
          <p:nvPr/>
        </p:nvPicPr>
        <p:blipFill>
          <a:blip r:embed="rId6"/>
          <a:stretch>
            <a:fillRect/>
          </a:stretch>
        </p:blipFill>
        <p:spPr>
          <a:xfrm>
            <a:off x="9282223" y="4534281"/>
            <a:ext cx="2134929" cy="2134929"/>
          </a:xfrm>
          <a:prstGeom prst="rect">
            <a:avLst/>
          </a:prstGeom>
        </p:spPr>
      </p:pic>
    </p:spTree>
    <p:extLst>
      <p:ext uri="{BB962C8B-B14F-4D97-AF65-F5344CB8AC3E}">
        <p14:creationId xmlns:p14="http://schemas.microsoft.com/office/powerpoint/2010/main" val="8062032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71898F-4D0F-919F-D69B-72879BA74619}"/>
              </a:ext>
            </a:extLst>
          </p:cNvPr>
          <p:cNvSpPr/>
          <p:nvPr/>
        </p:nvSpPr>
        <p:spPr>
          <a:xfrm>
            <a:off x="3357250" y="0"/>
            <a:ext cx="8834750" cy="6858000"/>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81F9501-4654-8CF0-CEF7-2697A05CB704}"/>
              </a:ext>
            </a:extLst>
          </p:cNvPr>
          <p:cNvPicPr>
            <a:picLocks noChangeAspect="1"/>
          </p:cNvPicPr>
          <p:nvPr/>
        </p:nvPicPr>
        <p:blipFill>
          <a:blip r:embed="rId3"/>
          <a:stretch>
            <a:fillRect/>
          </a:stretch>
        </p:blipFill>
        <p:spPr>
          <a:xfrm>
            <a:off x="237500" y="2004002"/>
            <a:ext cx="2849993" cy="2849993"/>
          </a:xfrm>
          <a:prstGeom prst="rect">
            <a:avLst/>
          </a:prstGeom>
        </p:spPr>
      </p:pic>
      <p:sp>
        <p:nvSpPr>
          <p:cNvPr id="2" name="Title 1">
            <a:extLst>
              <a:ext uri="{FF2B5EF4-FFF2-40B4-BE49-F238E27FC236}">
                <a16:creationId xmlns:a16="http://schemas.microsoft.com/office/drawing/2014/main" id="{01BD3775-4F06-3D6F-F872-CC0186454DBE}"/>
              </a:ext>
            </a:extLst>
          </p:cNvPr>
          <p:cNvSpPr>
            <a:spLocks noGrp="1"/>
          </p:cNvSpPr>
          <p:nvPr>
            <p:ph type="ctrTitle"/>
          </p:nvPr>
        </p:nvSpPr>
        <p:spPr>
          <a:xfrm>
            <a:off x="4263240" y="3238570"/>
            <a:ext cx="7190509" cy="1437719"/>
          </a:xfrm>
        </p:spPr>
        <p:txBody>
          <a:bodyPr>
            <a:normAutofit fontScale="90000"/>
          </a:bodyPr>
          <a:lstStyle/>
          <a:p>
            <a:r>
              <a:rPr lang="en-US" sz="7200" dirty="0" smtClean="0"/>
              <a:t>Putting </a:t>
            </a:r>
            <a:r>
              <a:rPr lang="en-US" sz="7200" dirty="0"/>
              <a:t>Privacy First:</a:t>
            </a:r>
            <a:br>
              <a:rPr lang="en-US" sz="7200" dirty="0"/>
            </a:br>
            <a:r>
              <a:rPr lang="en-US" sz="7200" dirty="0"/>
              <a:t>Making Due with Less Data</a:t>
            </a:r>
            <a:br>
              <a:rPr lang="en-US" sz="7200" dirty="0"/>
            </a:br>
            <a:endParaRPr lang="en-US" sz="7200" dirty="0">
              <a:solidFill>
                <a:srgbClr val="00223D"/>
              </a:solidFill>
            </a:endParaRPr>
          </a:p>
        </p:txBody>
      </p:sp>
      <p:sp>
        <p:nvSpPr>
          <p:cNvPr id="6" name="Subtitle 5">
            <a:extLst>
              <a:ext uri="{FF2B5EF4-FFF2-40B4-BE49-F238E27FC236}">
                <a16:creationId xmlns:a16="http://schemas.microsoft.com/office/drawing/2014/main" id="{D6138A63-B70F-BF2F-B517-91379908FA8D}"/>
              </a:ext>
            </a:extLst>
          </p:cNvPr>
          <p:cNvSpPr>
            <a:spLocks noGrp="1"/>
          </p:cNvSpPr>
          <p:nvPr>
            <p:ph type="subTitle" idx="1"/>
          </p:nvPr>
        </p:nvSpPr>
        <p:spPr>
          <a:xfrm>
            <a:off x="4997485" y="3957429"/>
            <a:ext cx="5722018" cy="1036122"/>
          </a:xfrm>
        </p:spPr>
        <p:txBody>
          <a:bodyPr>
            <a:noAutofit/>
          </a:bodyPr>
          <a:lstStyle/>
          <a:p>
            <a:r>
              <a:rPr lang="en-US" kern="0" dirty="0">
                <a:latin typeface="+mj-lt"/>
                <a:cs typeface="Times New Roman" pitchFamily="18" charset="0"/>
              </a:rPr>
              <a:t>Jeremy Goldstein</a:t>
            </a:r>
          </a:p>
          <a:p>
            <a:r>
              <a:rPr lang="en-US" kern="0" dirty="0">
                <a:latin typeface="+mj-lt"/>
                <a:cs typeface="Times New Roman" pitchFamily="18" charset="0"/>
              </a:rPr>
              <a:t>Minuteman Library Network</a:t>
            </a:r>
          </a:p>
          <a:p>
            <a:r>
              <a:rPr lang="en-US" kern="0" dirty="0">
                <a:latin typeface="+mj-lt"/>
                <a:cs typeface="Times New Roman" pitchFamily="18" charset="0"/>
              </a:rPr>
              <a:t>jgoldstein@minlib.net</a:t>
            </a:r>
            <a:endParaRPr lang="en-US" dirty="0">
              <a:solidFill>
                <a:srgbClr val="00223D"/>
              </a:solidFill>
              <a:latin typeface="+mj-lt"/>
            </a:endParaRPr>
          </a:p>
        </p:txBody>
      </p:sp>
    </p:spTree>
    <p:extLst>
      <p:ext uri="{BB962C8B-B14F-4D97-AF65-F5344CB8AC3E}">
        <p14:creationId xmlns:p14="http://schemas.microsoft.com/office/powerpoint/2010/main" val="162438010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Massachusetts Law</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pPr marL="0" indent="0">
              <a:buNone/>
            </a:pPr>
            <a:r>
              <a:rPr lang="en-US" dirty="0"/>
              <a:t>That part of the records of a public library which reveals the identity and intellectual pursuits of a person using such library shall not be a public record as defined by clause Twenty-sixth of section seven of chapter four.</a:t>
            </a:r>
          </a:p>
          <a:p>
            <a:pPr marL="400050" lvl="1" indent="0">
              <a:buNone/>
            </a:pPr>
            <a:endParaRPr lang="en-US" dirty="0" smtClean="0"/>
          </a:p>
          <a:p>
            <a:pPr marL="400050" lvl="1" indent="0">
              <a:buNone/>
            </a:pPr>
            <a:r>
              <a:rPr lang="en-US" dirty="0" smtClean="0"/>
              <a:t>-</a:t>
            </a:r>
            <a:r>
              <a:rPr lang="en-US" dirty="0"/>
              <a:t>Massachusetts General Laws Chapter 78, Section 7</a:t>
            </a:r>
          </a:p>
          <a:p>
            <a:pPr marL="0" indent="0">
              <a:buNone/>
            </a:pPr>
            <a:endParaRPr lang="en-US" dirty="0"/>
          </a:p>
        </p:txBody>
      </p:sp>
    </p:spTree>
    <p:extLst>
      <p:ext uri="{BB962C8B-B14F-4D97-AF65-F5344CB8AC3E}">
        <p14:creationId xmlns:p14="http://schemas.microsoft.com/office/powerpoint/2010/main" val="219187748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506853-5B7D-556D-60A7-9B2A966C3921}"/>
              </a:ext>
            </a:extLst>
          </p:cNvPr>
          <p:cNvSpPr/>
          <p:nvPr/>
        </p:nvSpPr>
        <p:spPr>
          <a:xfrm>
            <a:off x="0" y="2483931"/>
            <a:ext cx="12192000" cy="1278771"/>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rgbClr val="263842"/>
              </a:solidFill>
            </a:endParaRPr>
          </a:p>
        </p:txBody>
      </p:sp>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a:xfrm>
            <a:off x="346841" y="1376856"/>
            <a:ext cx="11006959" cy="4866290"/>
          </a:xfrm>
        </p:spPr>
        <p:txBody>
          <a:bodyPr>
            <a:noAutofit/>
          </a:bodyPr>
          <a:lstStyle/>
          <a:p>
            <a:pPr marL="0" indent="0">
              <a:buNone/>
            </a:pPr>
            <a:r>
              <a:rPr lang="en-US" sz="1600" dirty="0"/>
              <a:t>This law extends to circulation records (borrowing records, registration records, reserves or fine records), information sought or received, materials consulted, interlibrary loan transactions, registration records, database search records, reference interviews, or any other personally identifiable uses of library materials, facilities or services of its patrons.  In accordance with this law, the Somerville Public Library will not disclose or make available any circulation information, registration information, or information retrieval records in response to any inquiry except</a:t>
            </a:r>
          </a:p>
          <a:p>
            <a:pPr marL="514350" indent="-514350">
              <a:buFont typeface="+mj-lt"/>
              <a:buAutoNum type="arabicPeriod"/>
            </a:pPr>
            <a:r>
              <a:rPr lang="en-US" sz="1600" dirty="0"/>
              <a:t>To the cardholder (with library card or proper id</a:t>
            </a:r>
            <a:r>
              <a:rPr lang="en-US" sz="1600" dirty="0" smtClean="0"/>
              <a:t>). This </a:t>
            </a:r>
            <a:r>
              <a:rPr lang="en-US" sz="1600" dirty="0"/>
              <a:t>applies regardless of age or relationship, and staff is therefore restricted from disclosing information to the parents of minors when the minor has their own library card;</a:t>
            </a:r>
          </a:p>
          <a:p>
            <a:pPr marL="514350" indent="-514350">
              <a:buFont typeface="+mj-lt"/>
              <a:buAutoNum type="arabicPeriod"/>
            </a:pPr>
            <a:r>
              <a:rPr lang="en-US" sz="1600" dirty="0"/>
              <a:t>To persons authorized by the cardholder to access the </a:t>
            </a:r>
            <a:r>
              <a:rPr lang="en-US" sz="1600" dirty="0" smtClean="0"/>
              <a:t>individual</a:t>
            </a:r>
            <a:r>
              <a:rPr lang="en-US" sz="1600" dirty="0" smtClean="0">
                <a:latin typeface="Bahnschrift Condensed" panose="020B0502040204020203" pitchFamily="34" charset="0"/>
              </a:rPr>
              <a:t>’</a:t>
            </a:r>
            <a:r>
              <a:rPr lang="en-US" sz="1600" dirty="0" smtClean="0"/>
              <a:t>s </a:t>
            </a:r>
            <a:r>
              <a:rPr lang="en-US" sz="1600" dirty="0"/>
              <a:t>records by providing such persons with their physical library card or the </a:t>
            </a:r>
            <a:r>
              <a:rPr lang="en-US" sz="1600" dirty="0" smtClean="0"/>
              <a:t>card</a:t>
            </a:r>
            <a:r>
              <a:rPr lang="en-US" sz="1600" dirty="0">
                <a:latin typeface="Bahnschrift Condensed" panose="020B0502040204020203" pitchFamily="34" charset="0"/>
              </a:rPr>
              <a:t>’</a:t>
            </a:r>
            <a:r>
              <a:rPr lang="en-US" sz="1600" dirty="0" smtClean="0"/>
              <a:t>s </a:t>
            </a:r>
            <a:r>
              <a:rPr lang="en-US" sz="1600" dirty="0"/>
              <a:t>barcode scanned into their cell phone;</a:t>
            </a:r>
          </a:p>
          <a:p>
            <a:pPr marL="514350" indent="-514350">
              <a:buFont typeface="+mj-lt"/>
              <a:buAutoNum type="arabicPeriod"/>
            </a:pPr>
            <a:r>
              <a:rPr lang="en-US" sz="1600" dirty="0"/>
              <a:t>By library authorities acting within the scope of their duties for the purpose of interlibrary cooperation and coordination as authorized by M.G.L. c. 78, section 7; or</a:t>
            </a:r>
          </a:p>
          <a:p>
            <a:pPr marL="514350" indent="-514350">
              <a:buFont typeface="+mj-lt"/>
              <a:buAutoNum type="arabicPeriod"/>
            </a:pPr>
            <a:r>
              <a:rPr lang="en-US" sz="1600" dirty="0"/>
              <a:t>To representatives of any local, state, or federal government, pursuant to subpoena, order or search warrant authorized under the authority of federal, state, or local law relating to civil, criminal, or investigative power</a:t>
            </a:r>
            <a:r>
              <a:rPr lang="en-US" sz="1600" dirty="0" smtClean="0"/>
              <a:t>. Upon </a:t>
            </a:r>
            <a:r>
              <a:rPr lang="en-US" sz="1600" dirty="0"/>
              <a:t>receipt of any such subpoena, order or search warrant, the library administration will consult with legal counsel to determine if it is proper to release the requested confidential information.</a:t>
            </a:r>
          </a:p>
          <a:p>
            <a:pPr marL="0" indent="0">
              <a:buNone/>
            </a:pPr>
            <a:endParaRPr lang="en-US" sz="1600" dirty="0"/>
          </a:p>
        </p:txBody>
      </p:sp>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Policy Interpretation</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263842"/>
                </a:solidFill>
              </a:rPr>
              <a:t>https://somervillepubliclibrary.org/library/policies/privacy-and-confidentiality/</a:t>
            </a:r>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Tree>
    <p:extLst>
      <p:ext uri="{BB962C8B-B14F-4D97-AF65-F5344CB8AC3E}">
        <p14:creationId xmlns:p14="http://schemas.microsoft.com/office/powerpoint/2010/main" val="11442316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t>Massachusetts </a:t>
            </a:r>
            <a:r>
              <a:rPr lang="en-US" dirty="0"/>
              <a:t>Data Privacy Act</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pPr marL="0" indent="0">
              <a:buNone/>
            </a:pPr>
            <a:r>
              <a:rPr lang="en-US" sz="1800" dirty="0"/>
              <a:t>Senate Bill S.2619 https://</a:t>
            </a:r>
            <a:r>
              <a:rPr lang="en-US" sz="1800" dirty="0" smtClean="0"/>
              <a:t>malegislature.gov/Bills/194/S2619</a:t>
            </a:r>
          </a:p>
          <a:p>
            <a:pPr marL="0" indent="0">
              <a:buNone/>
            </a:pPr>
            <a:r>
              <a:rPr lang="en-US" sz="1800" dirty="0"/>
              <a:t>House Bill H.4746 https://malegislature.gov/Bills/194/H4746</a:t>
            </a:r>
          </a:p>
          <a:p>
            <a:r>
              <a:rPr lang="en-US" sz="1800" dirty="0"/>
              <a:t>Data minimization first approach to privacy</a:t>
            </a:r>
          </a:p>
          <a:p>
            <a:pPr lvl="1"/>
            <a:r>
              <a:rPr lang="en-US" sz="1800" dirty="0"/>
              <a:t>Limit Data Collection to what is:</a:t>
            </a:r>
          </a:p>
          <a:p>
            <a:pPr lvl="2"/>
            <a:r>
              <a:rPr lang="en-US" sz="1800" dirty="0"/>
              <a:t>Reasonably necessary to provide services</a:t>
            </a:r>
          </a:p>
          <a:p>
            <a:pPr lvl="2"/>
            <a:r>
              <a:rPr lang="en-US" sz="1800" dirty="0"/>
              <a:t>Strictly necessary for sensitive personal data</a:t>
            </a:r>
          </a:p>
          <a:p>
            <a:r>
              <a:rPr lang="en-US" sz="1800" dirty="0"/>
              <a:t>Greatly expands on what is considered sensitive data</a:t>
            </a:r>
          </a:p>
          <a:p>
            <a:r>
              <a:rPr lang="en-US" sz="1800" dirty="0"/>
              <a:t>Ensures consumers have rights to view, correct and delete their data</a:t>
            </a:r>
          </a:p>
          <a:p>
            <a:r>
              <a:rPr lang="en-US" sz="1800" dirty="0"/>
              <a:t>Sets new requirements and penalties for compliance </a:t>
            </a:r>
          </a:p>
          <a:p>
            <a:pPr marL="0" indent="0">
              <a:buNone/>
            </a:pPr>
            <a:endParaRPr lang="en-US" dirty="0"/>
          </a:p>
        </p:txBody>
      </p:sp>
    </p:spTree>
    <p:extLst>
      <p:ext uri="{BB962C8B-B14F-4D97-AF65-F5344CB8AC3E}">
        <p14:creationId xmlns:p14="http://schemas.microsoft.com/office/powerpoint/2010/main" val="39695133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Minuteman Standards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a:xfrm>
            <a:off x="838200" y="1626943"/>
            <a:ext cx="10515600" cy="4351338"/>
          </a:xfrm>
        </p:spPr>
        <p:txBody>
          <a:bodyPr>
            <a:normAutofit fontScale="92500" lnSpcReduction="10000"/>
          </a:bodyPr>
          <a:lstStyle/>
          <a:p>
            <a:r>
              <a:rPr lang="en-US" sz="2400" dirty="0"/>
              <a:t>5 Weeks </a:t>
            </a:r>
            <a:r>
              <a:rPr lang="en-US" sz="2400" dirty="0" err="1"/>
              <a:t>Circ</a:t>
            </a:r>
            <a:r>
              <a:rPr lang="en-US" sz="2400" dirty="0"/>
              <a:t> Transaction</a:t>
            </a:r>
          </a:p>
          <a:p>
            <a:pPr lvl="1"/>
            <a:r>
              <a:rPr lang="en-US" sz="2000" dirty="0"/>
              <a:t>Though we do use both </a:t>
            </a:r>
            <a:r>
              <a:rPr lang="en-US" sz="2000" dirty="0" err="1"/>
              <a:t>libraryIQ</a:t>
            </a:r>
            <a:r>
              <a:rPr lang="en-US" sz="2000" dirty="0"/>
              <a:t> and Decision Center</a:t>
            </a:r>
          </a:p>
          <a:p>
            <a:r>
              <a:rPr lang="en-US" sz="2400" dirty="0"/>
              <a:t>3 Months Fines Paid</a:t>
            </a:r>
          </a:p>
          <a:p>
            <a:r>
              <a:rPr lang="en-US" sz="2400" dirty="0"/>
              <a:t>3 months </a:t>
            </a:r>
            <a:r>
              <a:rPr lang="en-US" sz="2400" dirty="0" err="1"/>
              <a:t>lpatron</a:t>
            </a:r>
            <a:r>
              <a:rPr lang="en-US" sz="2400" dirty="0"/>
              <a:t> number in </a:t>
            </a:r>
            <a:r>
              <a:rPr lang="en-US" sz="2400" dirty="0" smtClean="0"/>
              <a:t>inactive items</a:t>
            </a:r>
          </a:p>
          <a:p>
            <a:r>
              <a:rPr lang="en-US" sz="2400" dirty="0" smtClean="0"/>
              <a:t>5 years inactive patrons, including outstanding bills</a:t>
            </a:r>
            <a:endParaRPr lang="en-US" sz="2400" dirty="0"/>
          </a:p>
          <a:p>
            <a:r>
              <a:rPr lang="en-US" sz="2400" dirty="0"/>
              <a:t>Do not use linked patron </a:t>
            </a:r>
            <a:r>
              <a:rPr lang="en-US" sz="2400" dirty="0" smtClean="0"/>
              <a:t>feature</a:t>
            </a:r>
          </a:p>
          <a:p>
            <a:r>
              <a:rPr lang="en-US" sz="2400" dirty="0" smtClean="0"/>
              <a:t>Do not use masquerade mode in Aspen</a:t>
            </a:r>
            <a:endParaRPr lang="en-US" sz="2400" dirty="0"/>
          </a:p>
          <a:p>
            <a:r>
              <a:rPr lang="en-US" sz="2400" dirty="0"/>
              <a:t>Removed gender </a:t>
            </a:r>
            <a:r>
              <a:rPr lang="en-US" sz="2400" dirty="0" smtClean="0"/>
              <a:t>field</a:t>
            </a:r>
            <a:endParaRPr lang="en-US" sz="2400" dirty="0"/>
          </a:p>
          <a:p>
            <a:r>
              <a:rPr lang="en-US" sz="2400" dirty="0" smtClean="0"/>
              <a:t>Many libraries omit birth dates</a:t>
            </a:r>
            <a:endParaRPr lang="en-US" sz="2000" dirty="0"/>
          </a:p>
          <a:p>
            <a:r>
              <a:rPr lang="en-US" sz="2400" dirty="0"/>
              <a:t>It was discussed if we really need addresses</a:t>
            </a:r>
          </a:p>
          <a:p>
            <a:pPr lvl="1"/>
            <a:r>
              <a:rPr lang="en-US" sz="2000" dirty="0"/>
              <a:t>We </a:t>
            </a:r>
            <a:r>
              <a:rPr lang="en-US" sz="2000" dirty="0" smtClean="0"/>
              <a:t>do</a:t>
            </a:r>
            <a:endParaRPr lang="en-US" sz="2000" dirty="0"/>
          </a:p>
        </p:txBody>
      </p:sp>
    </p:spTree>
    <p:extLst>
      <p:ext uri="{BB962C8B-B14F-4D97-AF65-F5344CB8AC3E}">
        <p14:creationId xmlns:p14="http://schemas.microsoft.com/office/powerpoint/2010/main" val="244425155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And </a:t>
            </a:r>
            <a:r>
              <a:rPr lang="en-US" dirty="0" smtClean="0"/>
              <a:t>Yet...Data</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p:cNvPicPr>
            <a:picLocks noChangeAspect="1"/>
          </p:cNvPicPr>
          <p:nvPr/>
        </p:nvPicPr>
        <p:blipFill>
          <a:blip r:embed="rId4"/>
          <a:stretch>
            <a:fillRect/>
          </a:stretch>
        </p:blipFill>
        <p:spPr>
          <a:xfrm>
            <a:off x="315077" y="1491654"/>
            <a:ext cx="4579700" cy="2966575"/>
          </a:xfrm>
          <a:prstGeom prst="rect">
            <a:avLst/>
          </a:prstGeom>
        </p:spPr>
      </p:pic>
      <p:pic>
        <p:nvPicPr>
          <p:cNvPr id="8" name="Picture 7"/>
          <p:cNvPicPr>
            <a:picLocks noChangeAspect="1"/>
          </p:cNvPicPr>
          <p:nvPr/>
        </p:nvPicPr>
        <p:blipFill>
          <a:blip r:embed="rId5"/>
          <a:stretch>
            <a:fillRect/>
          </a:stretch>
        </p:blipFill>
        <p:spPr>
          <a:xfrm>
            <a:off x="5031412" y="2717961"/>
            <a:ext cx="4264428" cy="3785535"/>
          </a:xfrm>
          <a:prstGeom prst="rect">
            <a:avLst/>
          </a:prstGeom>
        </p:spPr>
      </p:pic>
      <p:pic>
        <p:nvPicPr>
          <p:cNvPr id="9" name="Picture 8"/>
          <p:cNvPicPr>
            <a:picLocks noChangeAspect="1"/>
          </p:cNvPicPr>
          <p:nvPr/>
        </p:nvPicPr>
        <p:blipFill>
          <a:blip r:embed="rId6"/>
          <a:stretch>
            <a:fillRect/>
          </a:stretch>
        </p:blipFill>
        <p:spPr>
          <a:xfrm>
            <a:off x="7672884" y="3883140"/>
            <a:ext cx="4444402" cy="1962615"/>
          </a:xfrm>
          <a:prstGeom prst="rect">
            <a:avLst/>
          </a:prstGeom>
          <a:effectLst>
            <a:outerShdw blurRad="63500" sx="102000" sy="102000" algn="ctr" rotWithShape="0">
              <a:prstClr val="black">
                <a:alpha val="40000"/>
              </a:prstClr>
            </a:outerShdw>
          </a:effectLst>
        </p:spPr>
      </p:pic>
      <p:pic>
        <p:nvPicPr>
          <p:cNvPr id="10" name="Picture 9"/>
          <p:cNvPicPr>
            <a:picLocks noChangeAspect="1"/>
          </p:cNvPicPr>
          <p:nvPr/>
        </p:nvPicPr>
        <p:blipFill>
          <a:blip r:embed="rId7"/>
          <a:stretch>
            <a:fillRect/>
          </a:stretch>
        </p:blipFill>
        <p:spPr>
          <a:xfrm>
            <a:off x="136639" y="4846246"/>
            <a:ext cx="6690483" cy="1859497"/>
          </a:xfrm>
          <a:prstGeom prst="rect">
            <a:avLst/>
          </a:prstGeom>
          <a:effectLst>
            <a:outerShdw blurRad="63500" sx="102000" sy="102000" algn="ctr" rotWithShape="0">
              <a:prstClr val="black">
                <a:alpha val="40000"/>
              </a:prstClr>
            </a:outerShdw>
          </a:effectLst>
        </p:spPr>
      </p:pic>
      <p:pic>
        <p:nvPicPr>
          <p:cNvPr id="7" name="Picture 6"/>
          <p:cNvPicPr>
            <a:picLocks noChangeAspect="1"/>
          </p:cNvPicPr>
          <p:nvPr/>
        </p:nvPicPr>
        <p:blipFill>
          <a:blip r:embed="rId8"/>
          <a:stretch>
            <a:fillRect/>
          </a:stretch>
        </p:blipFill>
        <p:spPr>
          <a:xfrm>
            <a:off x="6707270" y="1059629"/>
            <a:ext cx="5348931" cy="2038152"/>
          </a:xfrm>
          <a:prstGeom prst="rect">
            <a:avLst/>
          </a:prstGeom>
        </p:spPr>
      </p:pic>
    </p:spTree>
    <p:extLst>
      <p:ext uri="{BB962C8B-B14F-4D97-AF65-F5344CB8AC3E}">
        <p14:creationId xmlns:p14="http://schemas.microsoft.com/office/powerpoint/2010/main" val="3042185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Approach</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Data Minimization</a:t>
            </a:r>
          </a:p>
          <a:p>
            <a:pPr lvl="1"/>
            <a:r>
              <a:rPr lang="en-US" dirty="0"/>
              <a:t>Store the bare minimum long term</a:t>
            </a:r>
          </a:p>
          <a:p>
            <a:pPr lvl="1"/>
            <a:r>
              <a:rPr lang="en-US" dirty="0"/>
              <a:t>Aggregate what we can</a:t>
            </a:r>
          </a:p>
          <a:p>
            <a:pPr lvl="1"/>
            <a:r>
              <a:rPr lang="en-US" dirty="0"/>
              <a:t>Avoid patron details as much as possible</a:t>
            </a:r>
          </a:p>
          <a:p>
            <a:r>
              <a:rPr lang="en-US" dirty="0"/>
              <a:t>Access Minimization</a:t>
            </a:r>
          </a:p>
          <a:p>
            <a:pPr lvl="1"/>
            <a:r>
              <a:rPr lang="en-US" dirty="0"/>
              <a:t>Report tools separate user access from raw data</a:t>
            </a:r>
          </a:p>
          <a:p>
            <a:pPr lvl="1"/>
            <a:r>
              <a:rPr lang="en-US" dirty="0"/>
              <a:t>Limit third party access to everything</a:t>
            </a:r>
          </a:p>
          <a:p>
            <a:endParaRPr lang="en-US" dirty="0"/>
          </a:p>
        </p:txBody>
      </p:sp>
    </p:spTree>
    <p:extLst>
      <p:ext uri="{BB962C8B-B14F-4D97-AF65-F5344CB8AC3E}">
        <p14:creationId xmlns:p14="http://schemas.microsoft.com/office/powerpoint/2010/main" val="415915072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What We </a:t>
            </a:r>
            <a:r>
              <a:rPr lang="en-US" dirty="0" smtClean="0"/>
              <a:t>Can</a:t>
            </a:r>
            <a:r>
              <a:rPr lang="en-US" dirty="0" smtClean="0">
                <a:latin typeface="Bahnschrift Condensed" panose="020B0502040204020203" pitchFamily="34" charset="0"/>
              </a:rPr>
              <a:t>’</a:t>
            </a:r>
            <a:r>
              <a:rPr lang="en-US" dirty="0" smtClean="0"/>
              <a:t>t </a:t>
            </a:r>
            <a:r>
              <a:rPr lang="en-US" dirty="0"/>
              <a:t>Answer</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How many times did a patron come to the library in the last year?</a:t>
            </a:r>
          </a:p>
          <a:p>
            <a:r>
              <a:rPr lang="en-US" dirty="0"/>
              <a:t>Which patrons have been the heaviest users of our hotspots?</a:t>
            </a:r>
          </a:p>
          <a:p>
            <a:r>
              <a:rPr lang="en-US" dirty="0"/>
              <a:t>Which patron checked out a particular item, 2 checkouts ago? </a:t>
            </a:r>
          </a:p>
          <a:p>
            <a:r>
              <a:rPr lang="en-US" dirty="0" smtClean="0"/>
              <a:t>* What </a:t>
            </a:r>
            <a:r>
              <a:rPr lang="en-US" dirty="0"/>
              <a:t>was the most checked out title of 2025</a:t>
            </a:r>
            <a:r>
              <a:rPr lang="en-US" dirty="0" smtClean="0"/>
              <a:t>?</a:t>
            </a:r>
            <a:endParaRPr lang="en-US" dirty="0"/>
          </a:p>
          <a:p>
            <a:endParaRPr lang="en-US" dirty="0"/>
          </a:p>
        </p:txBody>
      </p:sp>
    </p:spTree>
    <p:extLst>
      <p:ext uri="{BB962C8B-B14F-4D97-AF65-F5344CB8AC3E}">
        <p14:creationId xmlns:p14="http://schemas.microsoft.com/office/powerpoint/2010/main" val="207710097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normAutofit fontScale="90000"/>
          </a:bodyPr>
          <a:lstStyle/>
          <a:p>
            <a:r>
              <a:rPr lang="en-US" dirty="0"/>
              <a:t>How many times did a patron come to the library in the last year?</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Lack the transaction history to pick out individual days when the patron recorded a transaction</a:t>
            </a:r>
          </a:p>
          <a:p>
            <a:r>
              <a:rPr lang="en-US" dirty="0"/>
              <a:t>Transaction aren</a:t>
            </a:r>
            <a:r>
              <a:rPr lang="en-US" dirty="0">
                <a:latin typeface="Bahnschrift Condensed" panose="020B0502040204020203" pitchFamily="34" charset="0"/>
              </a:rPr>
              <a:t>’</a:t>
            </a:r>
            <a:r>
              <a:rPr lang="en-US" dirty="0"/>
              <a:t>t everything, system never records online use, program attendance, etc.</a:t>
            </a:r>
          </a:p>
          <a:p>
            <a:endParaRPr lang="en-US" dirty="0"/>
          </a:p>
        </p:txBody>
      </p:sp>
    </p:spTree>
    <p:extLst>
      <p:ext uri="{BB962C8B-B14F-4D97-AF65-F5344CB8AC3E}">
        <p14:creationId xmlns:p14="http://schemas.microsoft.com/office/powerpoint/2010/main" val="391830133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What We Can Answer Instead</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pPr marL="0" indent="0">
              <a:buNone/>
            </a:pPr>
            <a:r>
              <a:rPr lang="en-US" dirty="0"/>
              <a:t>Which communities are we succeeding/failing to serve?</a:t>
            </a:r>
          </a:p>
          <a:p>
            <a:pPr marL="0" indent="0">
              <a:buNone/>
            </a:pPr>
            <a:endParaRPr lang="en-US" dirty="0"/>
          </a:p>
        </p:txBody>
      </p:sp>
      <p:pic>
        <p:nvPicPr>
          <p:cNvPr id="6" name="Picture 5"/>
          <p:cNvPicPr>
            <a:picLocks noChangeAspect="1"/>
          </p:cNvPicPr>
          <p:nvPr/>
        </p:nvPicPr>
        <p:blipFill>
          <a:blip r:embed="rId4"/>
          <a:stretch>
            <a:fillRect/>
          </a:stretch>
        </p:blipFill>
        <p:spPr>
          <a:xfrm>
            <a:off x="5214613" y="3017334"/>
            <a:ext cx="6902673" cy="2648852"/>
          </a:xfrm>
          <a:prstGeom prst="rect">
            <a:avLst/>
          </a:prstGeom>
          <a:effectLst>
            <a:outerShdw blurRad="50800" dist="38100" dir="2700000" algn="tl" rotWithShape="0">
              <a:prstClr val="black">
                <a:alpha val="40000"/>
              </a:prstClr>
            </a:outerShdw>
          </a:effectLst>
        </p:spPr>
      </p:pic>
      <p:pic>
        <p:nvPicPr>
          <p:cNvPr id="7" name="Picture 6"/>
          <p:cNvPicPr>
            <a:picLocks noChangeAspect="1"/>
          </p:cNvPicPr>
          <p:nvPr/>
        </p:nvPicPr>
        <p:blipFill>
          <a:blip r:embed="rId5"/>
          <a:stretch>
            <a:fillRect/>
          </a:stretch>
        </p:blipFill>
        <p:spPr>
          <a:xfrm>
            <a:off x="74714" y="2810001"/>
            <a:ext cx="5067015" cy="3235195"/>
          </a:xfrm>
          <a:prstGeom prst="rect">
            <a:avLst/>
          </a:prstGeom>
        </p:spPr>
      </p:pic>
    </p:spTree>
    <p:extLst>
      <p:ext uri="{BB962C8B-B14F-4D97-AF65-F5344CB8AC3E}">
        <p14:creationId xmlns:p14="http://schemas.microsoft.com/office/powerpoint/2010/main" val="283794852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What We Can Answer Instead</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pPr marL="0" indent="0">
              <a:buNone/>
            </a:pPr>
            <a:r>
              <a:rPr lang="en-US" dirty="0"/>
              <a:t>How many individuals checked out at the library each day?</a:t>
            </a:r>
          </a:p>
          <a:p>
            <a:pPr marL="0" indent="0">
              <a:buNone/>
            </a:pPr>
            <a:endParaRPr lang="en-US" dirty="0"/>
          </a:p>
        </p:txBody>
      </p:sp>
      <p:pic>
        <p:nvPicPr>
          <p:cNvPr id="6" name="Picture 5"/>
          <p:cNvPicPr>
            <a:picLocks noChangeAspect="1"/>
          </p:cNvPicPr>
          <p:nvPr/>
        </p:nvPicPr>
        <p:blipFill>
          <a:blip r:embed="rId4"/>
          <a:stretch>
            <a:fillRect/>
          </a:stretch>
        </p:blipFill>
        <p:spPr>
          <a:xfrm>
            <a:off x="211015" y="2770299"/>
            <a:ext cx="5181600" cy="3941199"/>
          </a:xfrm>
          <a:prstGeom prst="rect">
            <a:avLst/>
          </a:prstGeom>
          <a:effectLst>
            <a:outerShdw blurRad="50800" dist="38100" dir="16200000" rotWithShape="0">
              <a:prstClr val="black">
                <a:alpha val="40000"/>
              </a:prstClr>
            </a:outerShdw>
          </a:effectLst>
        </p:spPr>
      </p:pic>
      <p:pic>
        <p:nvPicPr>
          <p:cNvPr id="7" name="Picture 6"/>
          <p:cNvPicPr>
            <a:picLocks noChangeAspect="1"/>
          </p:cNvPicPr>
          <p:nvPr/>
        </p:nvPicPr>
        <p:blipFill>
          <a:blip r:embed="rId5"/>
          <a:stretch>
            <a:fillRect/>
          </a:stretch>
        </p:blipFill>
        <p:spPr>
          <a:xfrm>
            <a:off x="5511914" y="2771435"/>
            <a:ext cx="6469071" cy="2967147"/>
          </a:xfrm>
          <a:prstGeom prst="rect">
            <a:avLst/>
          </a:prstGeom>
        </p:spPr>
      </p:pic>
    </p:spTree>
    <p:extLst>
      <p:ext uri="{BB962C8B-B14F-4D97-AF65-F5344CB8AC3E}">
        <p14:creationId xmlns:p14="http://schemas.microsoft.com/office/powerpoint/2010/main" val="154364114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Which Patrons Are the Heaviest Users of Our Hotspots?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a:xfrm>
            <a:off x="1099537" y="1690688"/>
            <a:ext cx="9992926" cy="4351338"/>
          </a:xfrm>
        </p:spPr>
        <p:txBody>
          <a:bodyPr/>
          <a:lstStyle/>
          <a:p>
            <a:r>
              <a:rPr lang="en-US" sz="2400" dirty="0" smtClean="0"/>
              <a:t>Which locations should have the most inventory given hotspots are not placed in delivery?</a:t>
            </a:r>
            <a:endParaRPr lang="en-US" sz="2400" dirty="0"/>
          </a:p>
          <a:p>
            <a:r>
              <a:rPr lang="en-US" sz="2400" dirty="0" smtClean="0"/>
              <a:t>How can we track usage patterns without storing reading history?</a:t>
            </a:r>
            <a:endParaRPr lang="en-US" sz="2400" dirty="0"/>
          </a:p>
          <a:p>
            <a:endParaRPr lang="en-US" dirty="0"/>
          </a:p>
        </p:txBody>
      </p:sp>
      <p:pic>
        <p:nvPicPr>
          <p:cNvPr id="6" name="Picture 5"/>
          <p:cNvPicPr>
            <a:picLocks noChangeAspect="1"/>
          </p:cNvPicPr>
          <p:nvPr/>
        </p:nvPicPr>
        <p:blipFill>
          <a:blip r:embed="rId4"/>
          <a:stretch>
            <a:fillRect/>
          </a:stretch>
        </p:blipFill>
        <p:spPr>
          <a:xfrm>
            <a:off x="3491336" y="3589507"/>
            <a:ext cx="6033664" cy="3268494"/>
          </a:xfrm>
          <a:prstGeom prst="rect">
            <a:avLst/>
          </a:prstGeom>
        </p:spPr>
      </p:pic>
    </p:spTree>
    <p:extLst>
      <p:ext uri="{BB962C8B-B14F-4D97-AF65-F5344CB8AC3E}">
        <p14:creationId xmlns:p14="http://schemas.microsoft.com/office/powerpoint/2010/main" val="288621819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Which Patrons Are the Heaviest Users of Our Hotspots?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p:cNvPicPr>
            <a:picLocks noChangeAspect="1"/>
          </p:cNvPicPr>
          <p:nvPr/>
        </p:nvPicPr>
        <p:blipFill>
          <a:blip r:embed="rId4"/>
          <a:stretch>
            <a:fillRect/>
          </a:stretch>
        </p:blipFill>
        <p:spPr>
          <a:xfrm>
            <a:off x="128954" y="2241800"/>
            <a:ext cx="6226655" cy="3282462"/>
          </a:xfrm>
          <a:prstGeom prst="rect">
            <a:avLst/>
          </a:prstGeom>
        </p:spPr>
      </p:pic>
      <p:pic>
        <p:nvPicPr>
          <p:cNvPr id="7" name="Picture 6"/>
          <p:cNvPicPr>
            <a:picLocks noChangeAspect="1"/>
          </p:cNvPicPr>
          <p:nvPr/>
        </p:nvPicPr>
        <p:blipFill>
          <a:blip r:embed="rId5"/>
          <a:stretch>
            <a:fillRect/>
          </a:stretch>
        </p:blipFill>
        <p:spPr>
          <a:xfrm>
            <a:off x="6647075" y="1949137"/>
            <a:ext cx="5310464" cy="3867788"/>
          </a:xfrm>
          <a:prstGeom prst="rect">
            <a:avLst/>
          </a:prstGeom>
        </p:spPr>
      </p:pic>
    </p:spTree>
    <p:extLst>
      <p:ext uri="{BB962C8B-B14F-4D97-AF65-F5344CB8AC3E}">
        <p14:creationId xmlns:p14="http://schemas.microsoft.com/office/powerpoint/2010/main" val="62368217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Which Patrons Are the Heaviest Users of Our Hotspots?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7" name="TextBox 6"/>
          <p:cNvSpPr txBox="1"/>
          <p:nvPr/>
        </p:nvSpPr>
        <p:spPr>
          <a:xfrm>
            <a:off x="1151790" y="5161939"/>
            <a:ext cx="3351335" cy="369332"/>
          </a:xfrm>
          <a:prstGeom prst="rect">
            <a:avLst/>
          </a:prstGeom>
          <a:noFill/>
        </p:spPr>
        <p:txBody>
          <a:bodyPr wrap="square" rtlCol="0">
            <a:spAutoFit/>
          </a:bodyPr>
          <a:lstStyle/>
          <a:p>
            <a:pPr algn="ctr"/>
            <a:r>
              <a:rPr lang="en-US" sz="1800" dirty="0" smtClean="0"/>
              <a:t>Geocoding Script</a:t>
            </a:r>
            <a:endParaRPr lang="en-US" sz="1800" dirty="0"/>
          </a:p>
        </p:txBody>
      </p:sp>
      <p:sp>
        <p:nvSpPr>
          <p:cNvPr id="9" name="TextBox 8"/>
          <p:cNvSpPr txBox="1"/>
          <p:nvPr/>
        </p:nvSpPr>
        <p:spPr>
          <a:xfrm>
            <a:off x="7327471" y="5161939"/>
            <a:ext cx="3313601" cy="646331"/>
          </a:xfrm>
          <a:prstGeom prst="rect">
            <a:avLst/>
          </a:prstGeom>
          <a:noFill/>
        </p:spPr>
        <p:txBody>
          <a:bodyPr wrap="square" rtlCol="0">
            <a:spAutoFit/>
          </a:bodyPr>
          <a:lstStyle/>
          <a:p>
            <a:pPr algn="ctr"/>
            <a:r>
              <a:rPr lang="en-US" dirty="0" smtClean="0"/>
              <a:t>Transactions by Geography Query</a:t>
            </a:r>
            <a:endParaRPr lang="en-US" dirty="0"/>
          </a:p>
        </p:txBody>
      </p:sp>
      <p:pic>
        <p:nvPicPr>
          <p:cNvPr id="3" name="Picture 2"/>
          <p:cNvPicPr>
            <a:picLocks noChangeAspect="1"/>
          </p:cNvPicPr>
          <p:nvPr/>
        </p:nvPicPr>
        <p:blipFill>
          <a:blip r:embed="rId4"/>
          <a:stretch>
            <a:fillRect/>
          </a:stretch>
        </p:blipFill>
        <p:spPr>
          <a:xfrm>
            <a:off x="1364272" y="2110853"/>
            <a:ext cx="2926373" cy="2926373"/>
          </a:xfrm>
          <a:prstGeom prst="rect">
            <a:avLst/>
          </a:prstGeom>
        </p:spPr>
      </p:pic>
      <p:pic>
        <p:nvPicPr>
          <p:cNvPr id="4" name="Picture 3"/>
          <p:cNvPicPr>
            <a:picLocks noChangeAspect="1"/>
          </p:cNvPicPr>
          <p:nvPr/>
        </p:nvPicPr>
        <p:blipFill>
          <a:blip r:embed="rId5"/>
          <a:stretch>
            <a:fillRect/>
          </a:stretch>
        </p:blipFill>
        <p:spPr>
          <a:xfrm>
            <a:off x="7528636" y="2110853"/>
            <a:ext cx="2911272" cy="2911272"/>
          </a:xfrm>
          <a:prstGeom prst="rect">
            <a:avLst/>
          </a:prstGeom>
        </p:spPr>
      </p:pic>
    </p:spTree>
    <p:extLst>
      <p:ext uri="{BB962C8B-B14F-4D97-AF65-F5344CB8AC3E}">
        <p14:creationId xmlns:p14="http://schemas.microsoft.com/office/powerpoint/2010/main" val="10358551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normAutofit fontScale="90000"/>
          </a:bodyPr>
          <a:lstStyle/>
          <a:p>
            <a:r>
              <a:rPr lang="en-US" dirty="0"/>
              <a:t>Which patron checked out a particular item, 2 checkouts ago?</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p:txBody>
          <a:bodyPr/>
          <a:lstStyle/>
          <a:p>
            <a:r>
              <a:rPr lang="en-US" dirty="0"/>
              <a:t>Staff check in an item and are then informed the item was damaged by the prior patron</a:t>
            </a:r>
          </a:p>
          <a:p>
            <a:r>
              <a:rPr lang="en-US" dirty="0"/>
              <a:t>If 5 weeks have elapsed since that check in, that data is gone and the </a:t>
            </a:r>
            <a:r>
              <a:rPr lang="en-US" dirty="0" err="1"/>
              <a:t>lpatron</a:t>
            </a:r>
            <a:r>
              <a:rPr lang="en-US" dirty="0"/>
              <a:t> field now reflects this most recent transaction instead</a:t>
            </a:r>
          </a:p>
          <a:p>
            <a:pPr marL="0" indent="0">
              <a:buNone/>
            </a:pPr>
            <a:endParaRPr lang="en-US" dirty="0"/>
          </a:p>
        </p:txBody>
      </p:sp>
    </p:spTree>
    <p:extLst>
      <p:ext uri="{BB962C8B-B14F-4D97-AF65-F5344CB8AC3E}">
        <p14:creationId xmlns:p14="http://schemas.microsoft.com/office/powerpoint/2010/main" val="193682402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What was the most checked out title of 2025?</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a:xfrm>
            <a:off x="335901" y="2090057"/>
            <a:ext cx="11327363" cy="4086906"/>
          </a:xfrm>
        </p:spPr>
        <p:txBody>
          <a:bodyPr/>
          <a:lstStyle/>
          <a:p>
            <a:r>
              <a:rPr lang="en-US" dirty="0"/>
              <a:t>Our YTD and LYTD </a:t>
            </a:r>
            <a:r>
              <a:rPr lang="en-US" dirty="0" err="1"/>
              <a:t>circ</a:t>
            </a:r>
            <a:r>
              <a:rPr lang="en-US" dirty="0"/>
              <a:t> fields are fiscal year </a:t>
            </a:r>
            <a:r>
              <a:rPr lang="en-US" dirty="0" smtClean="0"/>
              <a:t>based</a:t>
            </a:r>
            <a:endParaRPr lang="en-US" dirty="0"/>
          </a:p>
        </p:txBody>
      </p:sp>
      <p:pic>
        <p:nvPicPr>
          <p:cNvPr id="2" name="Picture 1"/>
          <p:cNvPicPr>
            <a:picLocks noChangeAspect="1"/>
          </p:cNvPicPr>
          <p:nvPr/>
        </p:nvPicPr>
        <p:blipFill>
          <a:blip r:embed="rId4"/>
          <a:stretch>
            <a:fillRect/>
          </a:stretch>
        </p:blipFill>
        <p:spPr>
          <a:xfrm>
            <a:off x="2206201" y="2597464"/>
            <a:ext cx="7778755" cy="3978868"/>
          </a:xfrm>
          <a:prstGeom prst="rect">
            <a:avLst/>
          </a:prstGeom>
        </p:spPr>
      </p:pic>
    </p:spTree>
    <p:extLst>
      <p:ext uri="{BB962C8B-B14F-4D97-AF65-F5344CB8AC3E}">
        <p14:creationId xmlns:p14="http://schemas.microsoft.com/office/powerpoint/2010/main" val="259958397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Imperfect Option</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a:xfrm>
            <a:off x="7898295" y="1675835"/>
            <a:ext cx="4107024" cy="2774367"/>
          </a:xfrm>
        </p:spPr>
        <p:txBody>
          <a:bodyPr>
            <a:normAutofit/>
          </a:bodyPr>
          <a:lstStyle/>
          <a:p>
            <a:r>
              <a:rPr lang="en-US" dirty="0"/>
              <a:t>DC stores 3 years of data</a:t>
            </a:r>
          </a:p>
          <a:p>
            <a:pPr lvl="1"/>
            <a:r>
              <a:rPr lang="en-US" dirty="0" smtClean="0"/>
              <a:t>It</a:t>
            </a:r>
            <a:r>
              <a:rPr lang="en-US" dirty="0" smtClean="0">
                <a:latin typeface="Bahnschrift Condensed" panose="020B0502040204020203" pitchFamily="34" charset="0"/>
              </a:rPr>
              <a:t>’</a:t>
            </a:r>
            <a:r>
              <a:rPr lang="en-US" dirty="0" smtClean="0"/>
              <a:t>s </a:t>
            </a:r>
            <a:r>
              <a:rPr lang="en-US" dirty="0"/>
              <a:t>slow</a:t>
            </a:r>
          </a:p>
          <a:p>
            <a:pPr lvl="1"/>
            <a:r>
              <a:rPr lang="en-US" dirty="0"/>
              <a:t>It times out</a:t>
            </a:r>
          </a:p>
          <a:p>
            <a:pPr lvl="1"/>
            <a:r>
              <a:rPr lang="en-US" dirty="0"/>
              <a:t>It only returns the top 100</a:t>
            </a:r>
          </a:p>
          <a:p>
            <a:endParaRPr lang="en-US" dirty="0"/>
          </a:p>
        </p:txBody>
      </p:sp>
      <p:pic>
        <p:nvPicPr>
          <p:cNvPr id="6" name="Picture 5"/>
          <p:cNvPicPr>
            <a:picLocks noChangeAspect="1"/>
          </p:cNvPicPr>
          <p:nvPr/>
        </p:nvPicPr>
        <p:blipFill>
          <a:blip r:embed="rId4"/>
          <a:stretch>
            <a:fillRect/>
          </a:stretch>
        </p:blipFill>
        <p:spPr>
          <a:xfrm>
            <a:off x="74714" y="1372005"/>
            <a:ext cx="5112071" cy="3689081"/>
          </a:xfrm>
          <a:prstGeom prst="rect">
            <a:avLst/>
          </a:prstGeom>
        </p:spPr>
      </p:pic>
      <p:pic>
        <p:nvPicPr>
          <p:cNvPr id="7" name="Picture 6"/>
          <p:cNvPicPr>
            <a:picLocks noChangeAspect="1"/>
          </p:cNvPicPr>
          <p:nvPr/>
        </p:nvPicPr>
        <p:blipFill>
          <a:blip r:embed="rId5"/>
          <a:stretch>
            <a:fillRect/>
          </a:stretch>
        </p:blipFill>
        <p:spPr>
          <a:xfrm>
            <a:off x="3052159" y="3356637"/>
            <a:ext cx="5321560" cy="3303037"/>
          </a:xfrm>
          <a:prstGeom prst="rect">
            <a:avLst/>
          </a:prstGeom>
        </p:spPr>
      </p:pic>
    </p:spTree>
    <p:extLst>
      <p:ext uri="{BB962C8B-B14F-4D97-AF65-F5344CB8AC3E}">
        <p14:creationId xmlns:p14="http://schemas.microsoft.com/office/powerpoint/2010/main" val="70842528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t>More Options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sp>
        <p:nvSpPr>
          <p:cNvPr id="24" name="Content Placeholder 23">
            <a:extLst>
              <a:ext uri="{FF2B5EF4-FFF2-40B4-BE49-F238E27FC236}">
                <a16:creationId xmlns:a16="http://schemas.microsoft.com/office/drawing/2014/main" id="{295C7490-2FDB-B74A-C31E-269BB0BEE80A}"/>
              </a:ext>
            </a:extLst>
          </p:cNvPr>
          <p:cNvSpPr>
            <a:spLocks noGrp="1"/>
          </p:cNvSpPr>
          <p:nvPr>
            <p:ph idx="1"/>
          </p:nvPr>
        </p:nvSpPr>
        <p:spPr>
          <a:xfrm>
            <a:off x="7268547" y="1690688"/>
            <a:ext cx="4470918" cy="2186538"/>
          </a:xfrm>
        </p:spPr>
        <p:txBody>
          <a:bodyPr/>
          <a:lstStyle/>
          <a:p>
            <a:pPr marL="0" indent="0">
              <a:buNone/>
            </a:pPr>
            <a:r>
              <a:rPr lang="en-US" dirty="0" err="1"/>
              <a:t>libraryIQ</a:t>
            </a:r>
            <a:r>
              <a:rPr lang="en-US" dirty="0"/>
              <a:t> Trending Titles</a:t>
            </a:r>
          </a:p>
          <a:p>
            <a:pPr marL="0" indent="0">
              <a:buNone/>
            </a:pPr>
            <a:r>
              <a:rPr lang="en-US" dirty="0"/>
              <a:t>Most circs of items in collection</a:t>
            </a:r>
          </a:p>
          <a:p>
            <a:pPr marL="0" indent="0">
              <a:buNone/>
            </a:pPr>
            <a:endParaRPr lang="en-US" dirty="0"/>
          </a:p>
        </p:txBody>
      </p:sp>
      <p:pic>
        <p:nvPicPr>
          <p:cNvPr id="6" name="Picture 5"/>
          <p:cNvPicPr>
            <a:picLocks noChangeAspect="1"/>
          </p:cNvPicPr>
          <p:nvPr/>
        </p:nvPicPr>
        <p:blipFill>
          <a:blip r:embed="rId4"/>
          <a:stretch>
            <a:fillRect/>
          </a:stretch>
        </p:blipFill>
        <p:spPr>
          <a:xfrm>
            <a:off x="1670181" y="1511762"/>
            <a:ext cx="4441371" cy="2510340"/>
          </a:xfrm>
          <a:prstGeom prst="rect">
            <a:avLst/>
          </a:prstGeom>
        </p:spPr>
      </p:pic>
      <p:pic>
        <p:nvPicPr>
          <p:cNvPr id="7" name="Picture 6"/>
          <p:cNvPicPr>
            <a:picLocks noChangeAspect="1"/>
          </p:cNvPicPr>
          <p:nvPr/>
        </p:nvPicPr>
        <p:blipFill>
          <a:blip r:embed="rId5"/>
          <a:stretch>
            <a:fillRect/>
          </a:stretch>
        </p:blipFill>
        <p:spPr>
          <a:xfrm>
            <a:off x="5618584" y="4179222"/>
            <a:ext cx="5380495" cy="2522259"/>
          </a:xfrm>
          <a:prstGeom prst="rect">
            <a:avLst/>
          </a:prstGeom>
        </p:spPr>
      </p:pic>
      <p:sp>
        <p:nvSpPr>
          <p:cNvPr id="8" name="Content Placeholder 23">
            <a:extLst>
              <a:ext uri="{FF2B5EF4-FFF2-40B4-BE49-F238E27FC236}">
                <a16:creationId xmlns:a16="http://schemas.microsoft.com/office/drawing/2014/main" id="{295C7490-2FDB-B74A-C31E-269BB0BEE80A}"/>
              </a:ext>
            </a:extLst>
          </p:cNvPr>
          <p:cNvSpPr txBox="1">
            <a:spLocks/>
          </p:cNvSpPr>
          <p:nvPr/>
        </p:nvSpPr>
        <p:spPr>
          <a:xfrm>
            <a:off x="663834" y="4179222"/>
            <a:ext cx="4470918" cy="21865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Minuteman Purchase Alert</a:t>
            </a:r>
          </a:p>
          <a:p>
            <a:pPr marL="0" indent="0">
              <a:buNone/>
            </a:pPr>
            <a:r>
              <a:rPr lang="en-US" dirty="0"/>
              <a:t>Outstanding holds for pickup location</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18774656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a:t>Even More Options</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p:cNvPicPr>
            <a:picLocks noChangeAspect="1"/>
          </p:cNvPicPr>
          <p:nvPr/>
        </p:nvPicPr>
        <p:blipFill>
          <a:blip r:embed="rId4"/>
          <a:stretch>
            <a:fillRect/>
          </a:stretch>
        </p:blipFill>
        <p:spPr>
          <a:xfrm>
            <a:off x="597616" y="1485123"/>
            <a:ext cx="4789367" cy="3657600"/>
          </a:xfrm>
          <a:prstGeom prst="rect">
            <a:avLst/>
          </a:prstGeom>
        </p:spPr>
      </p:pic>
      <p:pic>
        <p:nvPicPr>
          <p:cNvPr id="7" name="Picture 6"/>
          <p:cNvPicPr>
            <a:picLocks noChangeAspect="1"/>
          </p:cNvPicPr>
          <p:nvPr/>
        </p:nvPicPr>
        <p:blipFill>
          <a:blip r:embed="rId5"/>
          <a:stretch>
            <a:fillRect/>
          </a:stretch>
        </p:blipFill>
        <p:spPr>
          <a:xfrm>
            <a:off x="6820088" y="1485123"/>
            <a:ext cx="4200525" cy="1745288"/>
          </a:xfrm>
          <a:prstGeom prst="rect">
            <a:avLst/>
          </a:prstGeom>
        </p:spPr>
      </p:pic>
      <p:pic>
        <p:nvPicPr>
          <p:cNvPr id="8" name="Picture 7"/>
          <p:cNvPicPr>
            <a:picLocks noChangeAspect="1"/>
          </p:cNvPicPr>
          <p:nvPr/>
        </p:nvPicPr>
        <p:blipFill>
          <a:blip r:embed="rId6"/>
          <a:stretch>
            <a:fillRect/>
          </a:stretch>
        </p:blipFill>
        <p:spPr>
          <a:xfrm>
            <a:off x="6820088" y="3230411"/>
            <a:ext cx="4171858" cy="3178358"/>
          </a:xfrm>
          <a:prstGeom prst="rect">
            <a:avLst/>
          </a:prstGeom>
        </p:spPr>
      </p:pic>
      <p:pic>
        <p:nvPicPr>
          <p:cNvPr id="2" name="Picture 1"/>
          <p:cNvPicPr>
            <a:picLocks noChangeAspect="1"/>
          </p:cNvPicPr>
          <p:nvPr/>
        </p:nvPicPr>
        <p:blipFill>
          <a:blip r:embed="rId7"/>
          <a:stretch>
            <a:fillRect/>
          </a:stretch>
        </p:blipFill>
        <p:spPr>
          <a:xfrm>
            <a:off x="3881535" y="4171776"/>
            <a:ext cx="2588906" cy="2588906"/>
          </a:xfrm>
          <a:prstGeom prst="rect">
            <a:avLst/>
          </a:prstGeom>
        </p:spPr>
      </p:pic>
    </p:spTree>
    <p:extLst>
      <p:ext uri="{BB962C8B-B14F-4D97-AF65-F5344CB8AC3E}">
        <p14:creationId xmlns:p14="http://schemas.microsoft.com/office/powerpoint/2010/main" val="275189413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71898F-4D0F-919F-D69B-72879BA74619}"/>
              </a:ext>
            </a:extLst>
          </p:cNvPr>
          <p:cNvSpPr/>
          <p:nvPr/>
        </p:nvSpPr>
        <p:spPr>
          <a:xfrm>
            <a:off x="3357250" y="0"/>
            <a:ext cx="8834750" cy="6858000"/>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81F9501-4654-8CF0-CEF7-2697A05CB704}"/>
              </a:ext>
            </a:extLst>
          </p:cNvPr>
          <p:cNvPicPr>
            <a:picLocks noChangeAspect="1"/>
          </p:cNvPicPr>
          <p:nvPr/>
        </p:nvPicPr>
        <p:blipFill>
          <a:blip r:embed="rId2"/>
          <a:stretch>
            <a:fillRect/>
          </a:stretch>
        </p:blipFill>
        <p:spPr>
          <a:xfrm>
            <a:off x="237500" y="2004002"/>
            <a:ext cx="2849993" cy="2849993"/>
          </a:xfrm>
          <a:prstGeom prst="rect">
            <a:avLst/>
          </a:prstGeom>
        </p:spPr>
      </p:pic>
      <p:sp>
        <p:nvSpPr>
          <p:cNvPr id="2" name="Title 1">
            <a:extLst>
              <a:ext uri="{FF2B5EF4-FFF2-40B4-BE49-F238E27FC236}">
                <a16:creationId xmlns:a16="http://schemas.microsoft.com/office/drawing/2014/main" id="{01BD3775-4F06-3D6F-F872-CC0186454DBE}"/>
              </a:ext>
            </a:extLst>
          </p:cNvPr>
          <p:cNvSpPr>
            <a:spLocks noGrp="1"/>
          </p:cNvSpPr>
          <p:nvPr>
            <p:ph type="ctrTitle"/>
          </p:nvPr>
        </p:nvSpPr>
        <p:spPr>
          <a:xfrm>
            <a:off x="4377539" y="1356766"/>
            <a:ext cx="7190509" cy="1437719"/>
          </a:xfrm>
        </p:spPr>
        <p:txBody>
          <a:bodyPr>
            <a:normAutofit/>
          </a:bodyPr>
          <a:lstStyle/>
          <a:p>
            <a:r>
              <a:rPr lang="en-US" sz="7200" dirty="0" smtClean="0">
                <a:solidFill>
                  <a:srgbClr val="00223D"/>
                </a:solidFill>
              </a:rPr>
              <a:t>Thank You!</a:t>
            </a:r>
            <a:endParaRPr lang="en-US" sz="7200" dirty="0">
              <a:solidFill>
                <a:srgbClr val="00223D"/>
              </a:solidFill>
            </a:endParaRPr>
          </a:p>
        </p:txBody>
      </p:sp>
      <p:sp>
        <p:nvSpPr>
          <p:cNvPr id="6" name="Subtitle 5">
            <a:extLst>
              <a:ext uri="{FF2B5EF4-FFF2-40B4-BE49-F238E27FC236}">
                <a16:creationId xmlns:a16="http://schemas.microsoft.com/office/drawing/2014/main" id="{D6138A63-B70F-BF2F-B517-91379908FA8D}"/>
              </a:ext>
            </a:extLst>
          </p:cNvPr>
          <p:cNvSpPr>
            <a:spLocks noGrp="1"/>
          </p:cNvSpPr>
          <p:nvPr>
            <p:ph type="subTitle" idx="1"/>
          </p:nvPr>
        </p:nvSpPr>
        <p:spPr>
          <a:xfrm>
            <a:off x="5111785" y="3192928"/>
            <a:ext cx="5722018" cy="1036122"/>
          </a:xfrm>
        </p:spPr>
        <p:txBody>
          <a:bodyPr>
            <a:normAutofit fontScale="85000" lnSpcReduction="20000"/>
          </a:bodyPr>
          <a:lstStyle/>
          <a:p>
            <a:r>
              <a:rPr lang="en-US" dirty="0" smtClean="0">
                <a:solidFill>
                  <a:srgbClr val="00223D"/>
                </a:solidFill>
              </a:rPr>
              <a:t>Jeremy Goldstein</a:t>
            </a:r>
          </a:p>
          <a:p>
            <a:r>
              <a:rPr lang="en-US" dirty="0" smtClean="0">
                <a:solidFill>
                  <a:srgbClr val="00223D"/>
                </a:solidFill>
              </a:rPr>
              <a:t>Minuteman Library Network</a:t>
            </a:r>
          </a:p>
          <a:p>
            <a:r>
              <a:rPr lang="en-US" dirty="0" smtClean="0">
                <a:solidFill>
                  <a:srgbClr val="00223D"/>
                </a:solidFill>
              </a:rPr>
              <a:t>jgoldstein@minlib.net</a:t>
            </a:r>
            <a:endParaRPr lang="en-US" dirty="0">
              <a:solidFill>
                <a:srgbClr val="00223D"/>
              </a:solidFill>
            </a:endParaRPr>
          </a:p>
        </p:txBody>
      </p:sp>
    </p:spTree>
    <p:extLst>
      <p:ext uri="{BB962C8B-B14F-4D97-AF65-F5344CB8AC3E}">
        <p14:creationId xmlns:p14="http://schemas.microsoft.com/office/powerpoint/2010/main" val="386700595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A71898F-4D0F-919F-D69B-72879BA74619}"/>
              </a:ext>
            </a:extLst>
          </p:cNvPr>
          <p:cNvSpPr/>
          <p:nvPr/>
        </p:nvSpPr>
        <p:spPr>
          <a:xfrm>
            <a:off x="3357249" y="-2"/>
            <a:ext cx="8834750" cy="6858000"/>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81F9501-4654-8CF0-CEF7-2697A05CB704}"/>
              </a:ext>
            </a:extLst>
          </p:cNvPr>
          <p:cNvPicPr>
            <a:picLocks noChangeAspect="1"/>
          </p:cNvPicPr>
          <p:nvPr/>
        </p:nvPicPr>
        <p:blipFill>
          <a:blip r:embed="rId3"/>
          <a:stretch>
            <a:fillRect/>
          </a:stretch>
        </p:blipFill>
        <p:spPr>
          <a:xfrm>
            <a:off x="237500" y="2004002"/>
            <a:ext cx="2849993" cy="2849993"/>
          </a:xfrm>
          <a:prstGeom prst="rect">
            <a:avLst/>
          </a:prstGeom>
        </p:spPr>
      </p:pic>
      <p:sp>
        <p:nvSpPr>
          <p:cNvPr id="2" name="Title 1">
            <a:extLst>
              <a:ext uri="{FF2B5EF4-FFF2-40B4-BE49-F238E27FC236}">
                <a16:creationId xmlns:a16="http://schemas.microsoft.com/office/drawing/2014/main" id="{01BD3775-4F06-3D6F-F872-CC0186454DBE}"/>
              </a:ext>
            </a:extLst>
          </p:cNvPr>
          <p:cNvSpPr>
            <a:spLocks noGrp="1"/>
          </p:cNvSpPr>
          <p:nvPr>
            <p:ph type="ctrTitle"/>
          </p:nvPr>
        </p:nvSpPr>
        <p:spPr>
          <a:xfrm>
            <a:off x="3357250" y="158745"/>
            <a:ext cx="8834749" cy="1437719"/>
          </a:xfrm>
        </p:spPr>
        <p:txBody>
          <a:bodyPr>
            <a:normAutofit/>
          </a:bodyPr>
          <a:lstStyle/>
          <a:p>
            <a:r>
              <a:rPr lang="en-US" sz="7200" dirty="0" smtClean="0">
                <a:solidFill>
                  <a:srgbClr val="00223D"/>
                </a:solidFill>
              </a:rPr>
              <a:t>Today</a:t>
            </a:r>
            <a:r>
              <a:rPr lang="en-US" sz="7200" dirty="0" smtClean="0">
                <a:solidFill>
                  <a:srgbClr val="00223D"/>
                </a:solidFill>
                <a:latin typeface="Bahnschrift Condensed" panose="020B0502040204020203" pitchFamily="34" charset="0"/>
              </a:rPr>
              <a:t>’</a:t>
            </a:r>
            <a:r>
              <a:rPr lang="en-US" sz="7200" dirty="0" smtClean="0">
                <a:solidFill>
                  <a:srgbClr val="00223D"/>
                </a:solidFill>
              </a:rPr>
              <a:t>s Speakers</a:t>
            </a:r>
            <a:endParaRPr lang="en-US" sz="7200" dirty="0">
              <a:solidFill>
                <a:srgbClr val="00223D"/>
              </a:solidFill>
            </a:endParaRPr>
          </a:p>
        </p:txBody>
      </p:sp>
      <p:sp>
        <p:nvSpPr>
          <p:cNvPr id="6" name="Subtitle 5">
            <a:extLst>
              <a:ext uri="{FF2B5EF4-FFF2-40B4-BE49-F238E27FC236}">
                <a16:creationId xmlns:a16="http://schemas.microsoft.com/office/drawing/2014/main" id="{D6138A63-B70F-BF2F-B517-91379908FA8D}"/>
              </a:ext>
            </a:extLst>
          </p:cNvPr>
          <p:cNvSpPr>
            <a:spLocks noGrp="1"/>
          </p:cNvSpPr>
          <p:nvPr>
            <p:ph type="subTitle" idx="1"/>
          </p:nvPr>
        </p:nvSpPr>
        <p:spPr>
          <a:xfrm>
            <a:off x="3172862" y="1821565"/>
            <a:ext cx="4601762" cy="4878052"/>
          </a:xfrm>
        </p:spPr>
        <p:txBody>
          <a:bodyPr>
            <a:normAutofit lnSpcReduction="10000"/>
          </a:bodyPr>
          <a:lstStyle/>
          <a:p>
            <a:pPr>
              <a:spcBef>
                <a:spcPts val="400"/>
              </a:spcBef>
            </a:pPr>
            <a:r>
              <a:rPr lang="en-US" sz="2000" dirty="0" smtClean="0">
                <a:solidFill>
                  <a:srgbClr val="263842"/>
                </a:solidFill>
              </a:rPr>
              <a:t>Derek Brown</a:t>
            </a:r>
          </a:p>
          <a:p>
            <a:pPr>
              <a:spcBef>
                <a:spcPts val="400"/>
              </a:spcBef>
            </a:pPr>
            <a:r>
              <a:rPr lang="en-US" sz="2000" dirty="0" smtClean="0">
                <a:solidFill>
                  <a:srgbClr val="263842"/>
                </a:solidFill>
              </a:rPr>
              <a:t>Rochester Hills Public Library</a:t>
            </a:r>
          </a:p>
          <a:p>
            <a:pPr>
              <a:spcBef>
                <a:spcPts val="400"/>
              </a:spcBef>
            </a:pPr>
            <a:r>
              <a:rPr lang="en-US" sz="2000" dirty="0" smtClean="0">
                <a:solidFill>
                  <a:srgbClr val="263842"/>
                </a:solidFill>
              </a:rPr>
              <a:t>derek.brown@rhpl.org</a:t>
            </a:r>
          </a:p>
          <a:p>
            <a:pPr>
              <a:spcBef>
                <a:spcPts val="400"/>
              </a:spcBef>
            </a:pPr>
            <a:endParaRPr lang="en-US" sz="2000" dirty="0" smtClean="0">
              <a:solidFill>
                <a:srgbClr val="263842"/>
              </a:solidFill>
            </a:endParaRPr>
          </a:p>
          <a:p>
            <a:pPr>
              <a:spcBef>
                <a:spcPts val="400"/>
              </a:spcBef>
            </a:pPr>
            <a:r>
              <a:rPr lang="en-US" sz="2000" dirty="0" smtClean="0">
                <a:solidFill>
                  <a:srgbClr val="263842"/>
                </a:solidFill>
              </a:rPr>
              <a:t>Jeremy Goldstein</a:t>
            </a:r>
          </a:p>
          <a:p>
            <a:pPr>
              <a:spcBef>
                <a:spcPts val="400"/>
              </a:spcBef>
            </a:pPr>
            <a:r>
              <a:rPr lang="en-US" sz="2000" dirty="0" smtClean="0">
                <a:solidFill>
                  <a:srgbClr val="263842"/>
                </a:solidFill>
              </a:rPr>
              <a:t>Minuteman Library Network</a:t>
            </a:r>
          </a:p>
          <a:p>
            <a:pPr>
              <a:spcBef>
                <a:spcPts val="400"/>
              </a:spcBef>
            </a:pPr>
            <a:r>
              <a:rPr lang="en-US" sz="2000" dirty="0" smtClean="0">
                <a:solidFill>
                  <a:srgbClr val="263842"/>
                </a:solidFill>
              </a:rPr>
              <a:t>jgoldstein@minlib.net</a:t>
            </a:r>
          </a:p>
          <a:p>
            <a:pPr>
              <a:spcBef>
                <a:spcPts val="400"/>
              </a:spcBef>
            </a:pPr>
            <a:endParaRPr lang="en-US" sz="2000" dirty="0" smtClean="0">
              <a:solidFill>
                <a:srgbClr val="263842"/>
              </a:solidFill>
            </a:endParaRPr>
          </a:p>
          <a:p>
            <a:pPr>
              <a:spcBef>
                <a:spcPts val="400"/>
              </a:spcBef>
            </a:pPr>
            <a:r>
              <a:rPr lang="en-US" sz="2000" dirty="0" smtClean="0">
                <a:solidFill>
                  <a:srgbClr val="263842"/>
                </a:solidFill>
              </a:rPr>
              <a:t>Wes Osborn</a:t>
            </a:r>
          </a:p>
          <a:p>
            <a:pPr>
              <a:spcBef>
                <a:spcPts val="400"/>
              </a:spcBef>
            </a:pPr>
            <a:r>
              <a:rPr lang="en-US" sz="2000" dirty="0" smtClean="0">
                <a:solidFill>
                  <a:srgbClr val="263842"/>
                </a:solidFill>
              </a:rPr>
              <a:t>Central Library Consortium</a:t>
            </a:r>
          </a:p>
          <a:p>
            <a:pPr>
              <a:spcBef>
                <a:spcPts val="400"/>
              </a:spcBef>
            </a:pPr>
            <a:r>
              <a:rPr lang="en-US" sz="2000" dirty="0" smtClean="0">
                <a:solidFill>
                  <a:srgbClr val="263842"/>
                </a:solidFill>
              </a:rPr>
              <a:t>wosborn@clcohio.org</a:t>
            </a:r>
          </a:p>
          <a:p>
            <a:pPr>
              <a:spcBef>
                <a:spcPts val="400"/>
              </a:spcBef>
            </a:pPr>
            <a:endParaRPr lang="en-US" sz="2000" dirty="0" smtClean="0">
              <a:solidFill>
                <a:srgbClr val="263842"/>
              </a:solidFill>
            </a:endParaRPr>
          </a:p>
          <a:p>
            <a:pPr>
              <a:spcBef>
                <a:spcPts val="400"/>
              </a:spcBef>
            </a:pPr>
            <a:r>
              <a:rPr lang="en-US" sz="2000" dirty="0">
                <a:solidFill>
                  <a:srgbClr val="263842"/>
                </a:solidFill>
              </a:rPr>
              <a:t>Victor Zuniga</a:t>
            </a:r>
          </a:p>
          <a:p>
            <a:pPr>
              <a:spcBef>
                <a:spcPts val="400"/>
              </a:spcBef>
            </a:pPr>
            <a:r>
              <a:rPr lang="en-US" sz="2000" dirty="0">
                <a:solidFill>
                  <a:srgbClr val="263842"/>
                </a:solidFill>
              </a:rPr>
              <a:t>Poudre Libraries</a:t>
            </a:r>
          </a:p>
          <a:p>
            <a:pPr>
              <a:spcBef>
                <a:spcPts val="400"/>
              </a:spcBef>
            </a:pPr>
            <a:r>
              <a:rPr lang="en-US" sz="2000" dirty="0">
                <a:solidFill>
                  <a:srgbClr val="263842"/>
                </a:solidFill>
              </a:rPr>
              <a:t>VZuniga@poudrelibraries.org</a:t>
            </a:r>
          </a:p>
          <a:p>
            <a:pPr>
              <a:spcBef>
                <a:spcPts val="400"/>
              </a:spcBef>
            </a:pPr>
            <a:endParaRPr lang="en-US" sz="2000" dirty="0">
              <a:solidFill>
                <a:srgbClr val="263842"/>
              </a:solidFill>
            </a:endParaRPr>
          </a:p>
        </p:txBody>
      </p:sp>
      <p:sp>
        <p:nvSpPr>
          <p:cNvPr id="7" name="Subtitle 5">
            <a:extLst>
              <a:ext uri="{FF2B5EF4-FFF2-40B4-BE49-F238E27FC236}">
                <a16:creationId xmlns:a16="http://schemas.microsoft.com/office/drawing/2014/main" id="{D6138A63-B70F-BF2F-B517-91379908FA8D}"/>
              </a:ext>
            </a:extLst>
          </p:cNvPr>
          <p:cNvSpPr txBox="1">
            <a:spLocks/>
          </p:cNvSpPr>
          <p:nvPr/>
        </p:nvSpPr>
        <p:spPr>
          <a:xfrm>
            <a:off x="7408506" y="1821565"/>
            <a:ext cx="4783494" cy="501076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400"/>
              </a:spcBef>
            </a:pPr>
            <a:r>
              <a:rPr lang="en-US" sz="2000" dirty="0" smtClean="0">
                <a:solidFill>
                  <a:srgbClr val="263842"/>
                </a:solidFill>
              </a:rPr>
              <a:t>Bob </a:t>
            </a:r>
            <a:r>
              <a:rPr lang="en-US" sz="2000" dirty="0" err="1" smtClean="0">
                <a:solidFill>
                  <a:srgbClr val="263842"/>
                </a:solidFill>
              </a:rPr>
              <a:t>Gaydos</a:t>
            </a:r>
            <a:endParaRPr lang="en-US" sz="2000" dirty="0" smtClean="0">
              <a:solidFill>
                <a:srgbClr val="263842"/>
              </a:solidFill>
            </a:endParaRPr>
          </a:p>
          <a:p>
            <a:pPr>
              <a:spcBef>
                <a:spcPts val="400"/>
              </a:spcBef>
            </a:pPr>
            <a:r>
              <a:rPr lang="en-US" sz="2000" dirty="0" smtClean="0">
                <a:solidFill>
                  <a:srgbClr val="263842"/>
                </a:solidFill>
              </a:rPr>
              <a:t>Stark County District Library</a:t>
            </a:r>
          </a:p>
          <a:p>
            <a:pPr>
              <a:spcBef>
                <a:spcPts val="400"/>
              </a:spcBef>
            </a:pPr>
            <a:r>
              <a:rPr lang="en-US" sz="2000" dirty="0" smtClean="0">
                <a:solidFill>
                  <a:srgbClr val="263842"/>
                </a:solidFill>
              </a:rPr>
              <a:t>bgaydos@starklibrary.org</a:t>
            </a:r>
          </a:p>
          <a:p>
            <a:pPr>
              <a:spcBef>
                <a:spcPts val="400"/>
              </a:spcBef>
            </a:pPr>
            <a:endParaRPr lang="en-US" sz="2000" dirty="0" smtClean="0">
              <a:solidFill>
                <a:srgbClr val="263842"/>
              </a:solidFill>
            </a:endParaRPr>
          </a:p>
          <a:p>
            <a:pPr>
              <a:spcBef>
                <a:spcPts val="400"/>
              </a:spcBef>
            </a:pPr>
            <a:r>
              <a:rPr lang="en-US" sz="2000" dirty="0" smtClean="0">
                <a:solidFill>
                  <a:srgbClr val="263842"/>
                </a:solidFill>
              </a:rPr>
              <a:t>Daniel Messer</a:t>
            </a:r>
          </a:p>
          <a:p>
            <a:pPr>
              <a:spcBef>
                <a:spcPts val="400"/>
              </a:spcBef>
            </a:pPr>
            <a:r>
              <a:rPr lang="en-US" sz="2000" dirty="0" smtClean="0">
                <a:solidFill>
                  <a:srgbClr val="263842"/>
                </a:solidFill>
              </a:rPr>
              <a:t>Library Systems and Services</a:t>
            </a:r>
          </a:p>
          <a:p>
            <a:pPr>
              <a:spcBef>
                <a:spcPts val="400"/>
              </a:spcBef>
            </a:pPr>
            <a:r>
              <a:rPr lang="en-US" sz="2000" dirty="0">
                <a:solidFill>
                  <a:srgbClr val="263842"/>
                </a:solidFill>
              </a:rPr>
              <a:t>Daniel.Messer@lsslibraries.com</a:t>
            </a:r>
            <a:endParaRPr lang="en-US" sz="2000" dirty="0" smtClean="0">
              <a:solidFill>
                <a:srgbClr val="263842"/>
              </a:solidFill>
            </a:endParaRPr>
          </a:p>
          <a:p>
            <a:pPr>
              <a:spcBef>
                <a:spcPts val="400"/>
              </a:spcBef>
            </a:pPr>
            <a:endParaRPr lang="en-US" sz="2000" dirty="0" smtClean="0">
              <a:solidFill>
                <a:srgbClr val="263842"/>
              </a:solidFill>
            </a:endParaRPr>
          </a:p>
          <a:p>
            <a:pPr>
              <a:spcBef>
                <a:spcPts val="400"/>
              </a:spcBef>
            </a:pPr>
            <a:r>
              <a:rPr lang="en-US" sz="2000" dirty="0" smtClean="0">
                <a:solidFill>
                  <a:srgbClr val="263842"/>
                </a:solidFill>
              </a:rPr>
              <a:t>Ray </a:t>
            </a:r>
            <a:r>
              <a:rPr lang="en-US" sz="2000" dirty="0" err="1" smtClean="0">
                <a:solidFill>
                  <a:srgbClr val="263842"/>
                </a:solidFill>
              </a:rPr>
              <a:t>Voelker</a:t>
            </a:r>
            <a:endParaRPr lang="en-US" sz="2000" dirty="0" smtClean="0">
              <a:solidFill>
                <a:srgbClr val="263842"/>
              </a:solidFill>
            </a:endParaRPr>
          </a:p>
          <a:p>
            <a:pPr>
              <a:spcBef>
                <a:spcPts val="400"/>
              </a:spcBef>
            </a:pPr>
            <a:r>
              <a:rPr lang="en-US" sz="2000" dirty="0">
                <a:solidFill>
                  <a:srgbClr val="263842"/>
                </a:solidFill>
              </a:rPr>
              <a:t>Cincinnati &amp; Hamilton County Public Library</a:t>
            </a:r>
            <a:endParaRPr lang="en-US" sz="2000" dirty="0" smtClean="0">
              <a:solidFill>
                <a:srgbClr val="263842"/>
              </a:solidFill>
            </a:endParaRPr>
          </a:p>
          <a:p>
            <a:pPr>
              <a:spcBef>
                <a:spcPts val="400"/>
              </a:spcBef>
            </a:pPr>
            <a:r>
              <a:rPr lang="en-US" sz="2000" dirty="0">
                <a:solidFill>
                  <a:srgbClr val="263842"/>
                </a:solidFill>
              </a:rPr>
              <a:t>Ray.Voelker@chpl.org</a:t>
            </a:r>
          </a:p>
        </p:txBody>
      </p:sp>
    </p:spTree>
    <p:extLst>
      <p:ext uri="{BB962C8B-B14F-4D97-AF65-F5344CB8AC3E}">
        <p14:creationId xmlns:p14="http://schemas.microsoft.com/office/powerpoint/2010/main" val="209276069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t>Up Next</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2" name="Picture 1"/>
          <p:cNvPicPr>
            <a:picLocks noChangeAspect="1"/>
          </p:cNvPicPr>
          <p:nvPr/>
        </p:nvPicPr>
        <p:blipFill>
          <a:blip r:embed="rId4"/>
          <a:stretch>
            <a:fillRect/>
          </a:stretch>
        </p:blipFill>
        <p:spPr>
          <a:xfrm>
            <a:off x="494522" y="2034465"/>
            <a:ext cx="11198678" cy="2791827"/>
          </a:xfrm>
          <a:prstGeom prst="rect">
            <a:avLst/>
          </a:prstGeom>
        </p:spPr>
      </p:pic>
    </p:spTree>
    <p:extLst>
      <p:ext uri="{BB962C8B-B14F-4D97-AF65-F5344CB8AC3E}">
        <p14:creationId xmlns:p14="http://schemas.microsoft.com/office/powerpoint/2010/main" val="302401400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t>Tuesday Apr 14: There</a:t>
            </a:r>
            <a:r>
              <a:rPr lang="en-US" dirty="0" smtClean="0">
                <a:latin typeface="Bahnschrift Condensed" panose="020B0502040204020203" pitchFamily="34" charset="0"/>
              </a:rPr>
              <a:t>’</a:t>
            </a:r>
            <a:r>
              <a:rPr lang="en-US" dirty="0" smtClean="0"/>
              <a:t>s More!</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4" name="Picture 3"/>
          <p:cNvPicPr>
            <a:picLocks noChangeAspect="1"/>
          </p:cNvPicPr>
          <p:nvPr/>
        </p:nvPicPr>
        <p:blipFill>
          <a:blip r:embed="rId4"/>
          <a:stretch>
            <a:fillRect/>
          </a:stretch>
        </p:blipFill>
        <p:spPr>
          <a:xfrm>
            <a:off x="849151" y="1690688"/>
            <a:ext cx="10493698" cy="4086171"/>
          </a:xfrm>
          <a:prstGeom prst="rect">
            <a:avLst/>
          </a:prstGeom>
        </p:spPr>
      </p:pic>
    </p:spTree>
    <p:extLst>
      <p:ext uri="{BB962C8B-B14F-4D97-AF65-F5344CB8AC3E}">
        <p14:creationId xmlns:p14="http://schemas.microsoft.com/office/powerpoint/2010/main" val="404985131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t>Tuesday Apr 14</a:t>
            </a:r>
            <a:r>
              <a:rPr lang="en-US" dirty="0"/>
              <a:t>: There</a:t>
            </a:r>
            <a:r>
              <a:rPr lang="en-US" dirty="0">
                <a:latin typeface="Bahnschrift Condensed" panose="020B0502040204020203" pitchFamily="34" charset="0"/>
              </a:rPr>
              <a:t>’</a:t>
            </a:r>
            <a:r>
              <a:rPr lang="en-US" dirty="0"/>
              <a:t>s More!</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2" name="Picture 1"/>
          <p:cNvPicPr>
            <a:picLocks noChangeAspect="1"/>
          </p:cNvPicPr>
          <p:nvPr/>
        </p:nvPicPr>
        <p:blipFill>
          <a:blip r:embed="rId4"/>
          <a:stretch>
            <a:fillRect/>
          </a:stretch>
        </p:blipFill>
        <p:spPr>
          <a:xfrm>
            <a:off x="1215660" y="1690688"/>
            <a:ext cx="9760680" cy="4523242"/>
          </a:xfrm>
          <a:prstGeom prst="rect">
            <a:avLst/>
          </a:prstGeom>
        </p:spPr>
      </p:pic>
    </p:spTree>
    <p:extLst>
      <p:ext uri="{BB962C8B-B14F-4D97-AF65-F5344CB8AC3E}">
        <p14:creationId xmlns:p14="http://schemas.microsoft.com/office/powerpoint/2010/main" val="362249110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t>Tuesday Apr 14</a:t>
            </a:r>
            <a:r>
              <a:rPr lang="en-US" dirty="0"/>
              <a:t>: There</a:t>
            </a:r>
            <a:r>
              <a:rPr lang="en-US" dirty="0">
                <a:latin typeface="Bahnschrift Condensed" panose="020B0502040204020203" pitchFamily="34" charset="0"/>
              </a:rPr>
              <a:t>’</a:t>
            </a:r>
            <a:r>
              <a:rPr lang="en-US" dirty="0"/>
              <a:t>s More!</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3" name="Picture 2"/>
          <p:cNvPicPr>
            <a:picLocks noChangeAspect="1"/>
          </p:cNvPicPr>
          <p:nvPr/>
        </p:nvPicPr>
        <p:blipFill>
          <a:blip r:embed="rId4"/>
          <a:stretch>
            <a:fillRect/>
          </a:stretch>
        </p:blipFill>
        <p:spPr>
          <a:xfrm>
            <a:off x="1530220" y="1255061"/>
            <a:ext cx="9131899" cy="5602940"/>
          </a:xfrm>
          <a:prstGeom prst="rect">
            <a:avLst/>
          </a:prstGeom>
        </p:spPr>
      </p:pic>
    </p:spTree>
    <p:extLst>
      <p:ext uri="{BB962C8B-B14F-4D97-AF65-F5344CB8AC3E}">
        <p14:creationId xmlns:p14="http://schemas.microsoft.com/office/powerpoint/2010/main" val="391986020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t>Tuesday Apr 14</a:t>
            </a:r>
            <a:r>
              <a:rPr lang="en-US" dirty="0"/>
              <a:t>: There</a:t>
            </a:r>
            <a:r>
              <a:rPr lang="en-US" dirty="0">
                <a:latin typeface="Bahnschrift Condensed" panose="020B0502040204020203" pitchFamily="34" charset="0"/>
              </a:rPr>
              <a:t>’</a:t>
            </a:r>
            <a:r>
              <a:rPr lang="en-US" dirty="0"/>
              <a:t>s More!</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6" name="Picture 5">
            <a:extLst>
              <a:ext uri="{FF2B5EF4-FFF2-40B4-BE49-F238E27FC236}">
                <a16:creationId xmlns:a16="http://schemas.microsoft.com/office/drawing/2014/main" id="{15EDB525-58E6-2469-CD06-437DE317BA91}"/>
              </a:ext>
            </a:extLst>
          </p:cNvPr>
          <p:cNvPicPr>
            <a:picLocks noChangeAspect="1"/>
          </p:cNvPicPr>
          <p:nvPr/>
        </p:nvPicPr>
        <p:blipFill>
          <a:blip r:embed="rId4"/>
          <a:stretch>
            <a:fillRect/>
          </a:stretch>
        </p:blipFill>
        <p:spPr>
          <a:xfrm>
            <a:off x="1037519" y="1563624"/>
            <a:ext cx="10116962" cy="4191585"/>
          </a:xfrm>
          <a:prstGeom prst="rect">
            <a:avLst/>
          </a:prstGeom>
        </p:spPr>
      </p:pic>
    </p:spTree>
    <p:extLst>
      <p:ext uri="{BB962C8B-B14F-4D97-AF65-F5344CB8AC3E}">
        <p14:creationId xmlns:p14="http://schemas.microsoft.com/office/powerpoint/2010/main" val="63667796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t>Tuesday Apr 14</a:t>
            </a:r>
            <a:r>
              <a:rPr lang="en-US" dirty="0"/>
              <a:t>: There</a:t>
            </a:r>
            <a:r>
              <a:rPr lang="en-US" dirty="0">
                <a:latin typeface="Bahnschrift Condensed" panose="020B0502040204020203" pitchFamily="34" charset="0"/>
              </a:rPr>
              <a:t>’</a:t>
            </a:r>
            <a:r>
              <a:rPr lang="en-US" dirty="0"/>
              <a:t>s More!</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4" name="Picture 3"/>
          <p:cNvPicPr>
            <a:picLocks noChangeAspect="1"/>
          </p:cNvPicPr>
          <p:nvPr/>
        </p:nvPicPr>
        <p:blipFill>
          <a:blip r:embed="rId4"/>
          <a:stretch>
            <a:fillRect/>
          </a:stretch>
        </p:blipFill>
        <p:spPr>
          <a:xfrm>
            <a:off x="854075" y="1690689"/>
            <a:ext cx="10338160" cy="4690662"/>
          </a:xfrm>
          <a:prstGeom prst="rect">
            <a:avLst/>
          </a:prstGeom>
        </p:spPr>
      </p:pic>
    </p:spTree>
    <p:extLst>
      <p:ext uri="{BB962C8B-B14F-4D97-AF65-F5344CB8AC3E}">
        <p14:creationId xmlns:p14="http://schemas.microsoft.com/office/powerpoint/2010/main" val="853561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t>Tuesday Apr 14</a:t>
            </a:r>
            <a:r>
              <a:rPr lang="en-US" dirty="0"/>
              <a:t>: There</a:t>
            </a:r>
            <a:r>
              <a:rPr lang="en-US" dirty="0">
                <a:latin typeface="Bahnschrift Condensed" panose="020B0502040204020203" pitchFamily="34" charset="0"/>
              </a:rPr>
              <a:t>’</a:t>
            </a:r>
            <a:r>
              <a:rPr lang="en-US" dirty="0"/>
              <a:t>s More!</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2" name="Picture 1"/>
          <p:cNvPicPr>
            <a:picLocks noChangeAspect="1"/>
          </p:cNvPicPr>
          <p:nvPr/>
        </p:nvPicPr>
        <p:blipFill>
          <a:blip r:embed="rId4"/>
          <a:stretch>
            <a:fillRect/>
          </a:stretch>
        </p:blipFill>
        <p:spPr>
          <a:xfrm>
            <a:off x="1226635" y="1728945"/>
            <a:ext cx="9738729" cy="4144574"/>
          </a:xfrm>
          <a:prstGeom prst="rect">
            <a:avLst/>
          </a:prstGeom>
        </p:spPr>
      </p:pic>
    </p:spTree>
    <p:extLst>
      <p:ext uri="{BB962C8B-B14F-4D97-AF65-F5344CB8AC3E}">
        <p14:creationId xmlns:p14="http://schemas.microsoft.com/office/powerpoint/2010/main" val="269507416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E5AA96-A1E2-424B-B98F-DF321364C02F}"/>
              </a:ext>
            </a:extLst>
          </p:cNvPr>
          <p:cNvSpPr>
            <a:spLocks noGrp="1"/>
          </p:cNvSpPr>
          <p:nvPr>
            <p:ph type="title"/>
          </p:nvPr>
        </p:nvSpPr>
        <p:spPr/>
        <p:txBody>
          <a:bodyPr/>
          <a:lstStyle/>
          <a:p>
            <a:r>
              <a:rPr lang="en-US" dirty="0" smtClean="0">
                <a:solidFill>
                  <a:srgbClr val="00223D"/>
                </a:solidFill>
              </a:rPr>
              <a:t>Find Us Online</a:t>
            </a:r>
            <a:endParaRPr lang="en-US" dirty="0">
              <a:solidFill>
                <a:srgbClr val="00223D"/>
              </a:solidFill>
            </a:endParaRPr>
          </a:p>
        </p:txBody>
      </p:sp>
      <p:sp>
        <p:nvSpPr>
          <p:cNvPr id="5" name="Rectangle 4">
            <a:extLst>
              <a:ext uri="{FF2B5EF4-FFF2-40B4-BE49-F238E27FC236}">
                <a16:creationId xmlns:a16="http://schemas.microsoft.com/office/drawing/2014/main" id="{8B506853-5B7D-556D-60A7-9B2A966C3921}"/>
              </a:ext>
            </a:extLst>
          </p:cNvPr>
          <p:cNvSpPr/>
          <p:nvPr/>
        </p:nvSpPr>
        <p:spPr>
          <a:xfrm>
            <a:off x="0" y="5873519"/>
            <a:ext cx="12192000" cy="984482"/>
          </a:xfrm>
          <a:prstGeom prst="rect">
            <a:avLst/>
          </a:prstGeom>
          <a:solidFill>
            <a:srgbClr val="F3E4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23E69FC6-D07E-8774-63E8-736E5F5FCD55}"/>
              </a:ext>
            </a:extLst>
          </p:cNvPr>
          <p:cNvPicPr>
            <a:picLocks noChangeAspect="1"/>
          </p:cNvPicPr>
          <p:nvPr/>
        </p:nvPicPr>
        <p:blipFill>
          <a:blip r:embed="rId3"/>
          <a:stretch>
            <a:fillRect/>
          </a:stretch>
        </p:blipFill>
        <p:spPr>
          <a:xfrm>
            <a:off x="11266948" y="5945786"/>
            <a:ext cx="850338" cy="850338"/>
          </a:xfrm>
          <a:prstGeom prst="rect">
            <a:avLst/>
          </a:prstGeom>
        </p:spPr>
      </p:pic>
      <p:pic>
        <p:nvPicPr>
          <p:cNvPr id="3" name="Picture 2"/>
          <p:cNvPicPr>
            <a:picLocks noChangeAspect="1"/>
          </p:cNvPicPr>
          <p:nvPr/>
        </p:nvPicPr>
        <p:blipFill>
          <a:blip r:embed="rId4"/>
          <a:stretch>
            <a:fillRect/>
          </a:stretch>
        </p:blipFill>
        <p:spPr>
          <a:xfrm>
            <a:off x="1025590" y="1384043"/>
            <a:ext cx="3406062" cy="3406062"/>
          </a:xfrm>
          <a:prstGeom prst="rect">
            <a:avLst/>
          </a:prstGeom>
        </p:spPr>
      </p:pic>
      <p:sp>
        <p:nvSpPr>
          <p:cNvPr id="4" name="TextBox 3"/>
          <p:cNvSpPr txBox="1"/>
          <p:nvPr/>
        </p:nvSpPr>
        <p:spPr>
          <a:xfrm>
            <a:off x="330653" y="4811692"/>
            <a:ext cx="4795935" cy="707886"/>
          </a:xfrm>
          <a:prstGeom prst="rect">
            <a:avLst/>
          </a:prstGeom>
          <a:noFill/>
        </p:spPr>
        <p:txBody>
          <a:bodyPr wrap="square" rtlCol="0">
            <a:spAutoFit/>
          </a:bodyPr>
          <a:lstStyle/>
          <a:p>
            <a:pPr algn="ctr"/>
            <a:r>
              <a:rPr lang="en-US" sz="2000" dirty="0" smtClean="0"/>
              <a:t>IUG Discord</a:t>
            </a:r>
          </a:p>
          <a:p>
            <a:pPr algn="ctr"/>
            <a:r>
              <a:rPr lang="en-US" sz="2000" dirty="0"/>
              <a:t>https://discord.gg/HwZVjN5wAn</a:t>
            </a:r>
          </a:p>
        </p:txBody>
      </p:sp>
      <p:pic>
        <p:nvPicPr>
          <p:cNvPr id="7" name="Picture 6"/>
          <p:cNvPicPr>
            <a:picLocks noChangeAspect="1"/>
          </p:cNvPicPr>
          <p:nvPr/>
        </p:nvPicPr>
        <p:blipFill>
          <a:blip r:embed="rId5"/>
          <a:stretch>
            <a:fillRect/>
          </a:stretch>
        </p:blipFill>
        <p:spPr>
          <a:xfrm>
            <a:off x="7346072" y="1374712"/>
            <a:ext cx="3415393" cy="3415393"/>
          </a:xfrm>
          <a:prstGeom prst="rect">
            <a:avLst/>
          </a:prstGeom>
        </p:spPr>
      </p:pic>
      <p:sp>
        <p:nvSpPr>
          <p:cNvPr id="10" name="TextBox 9"/>
          <p:cNvSpPr txBox="1"/>
          <p:nvPr/>
        </p:nvSpPr>
        <p:spPr>
          <a:xfrm>
            <a:off x="5990253" y="4807048"/>
            <a:ext cx="6127033" cy="707886"/>
          </a:xfrm>
          <a:prstGeom prst="rect">
            <a:avLst/>
          </a:prstGeom>
          <a:noFill/>
        </p:spPr>
        <p:txBody>
          <a:bodyPr wrap="square" rtlCol="0">
            <a:spAutoFit/>
          </a:bodyPr>
          <a:lstStyle/>
          <a:p>
            <a:pPr algn="ctr"/>
            <a:r>
              <a:rPr lang="en-US" sz="2000" dirty="0" smtClean="0"/>
              <a:t>IUG Forum</a:t>
            </a:r>
          </a:p>
          <a:p>
            <a:pPr algn="ctr"/>
            <a:r>
              <a:rPr lang="en-US" sz="2000" dirty="0"/>
              <a:t>https://forum.innovativeusers.org/</a:t>
            </a:r>
          </a:p>
        </p:txBody>
      </p:sp>
    </p:spTree>
    <p:extLst>
      <p:ext uri="{BB962C8B-B14F-4D97-AF65-F5344CB8AC3E}">
        <p14:creationId xmlns:p14="http://schemas.microsoft.com/office/powerpoint/2010/main" val="411010895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UG 2026 PPT template" id="{BA4BCBE3-25E0-4778-AF3C-E513E8CEEA7C}" vid="{E1BE4A6A-C8DC-4AD0-BACA-A2C24286B452}"/>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UG 2026 PPT template" id="{BA4BCBE3-25E0-4778-AF3C-E513E8CEEA7C}" vid="{E1BE4A6A-C8DC-4AD0-BACA-A2C24286B45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IUG_2026_PPT_template</Template>
  <TotalTime>2469</TotalTime>
  <Words>5284</Words>
  <Application>Microsoft Office PowerPoint</Application>
  <PresentationFormat>Widescreen</PresentationFormat>
  <Paragraphs>496</Paragraphs>
  <Slides>74</Slides>
  <Notes>69</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74</vt:i4>
      </vt:variant>
    </vt:vector>
  </HeadingPairs>
  <TitlesOfParts>
    <vt:vector size="83" baseType="lpstr">
      <vt:lpstr>Aptos</vt:lpstr>
      <vt:lpstr>Aptos Display</vt:lpstr>
      <vt:lpstr>Arial</vt:lpstr>
      <vt:lpstr>Bahnschrift</vt:lpstr>
      <vt:lpstr>Bahnschrift Condensed</vt:lpstr>
      <vt:lpstr>Times New Roman</vt:lpstr>
      <vt:lpstr>Wingdings</vt:lpstr>
      <vt:lpstr>Office Theme</vt:lpstr>
      <vt:lpstr>1_Office Theme</vt:lpstr>
      <vt:lpstr>The Great  ILS-Data Pre-Conference </vt:lpstr>
      <vt:lpstr>Today’s Agenda</vt:lpstr>
      <vt:lpstr>A Brief Guide To Speed Geeking</vt:lpstr>
      <vt:lpstr>Speed Geeking: Presentations</vt:lpstr>
      <vt:lpstr>Speed Geeking: Presentations</vt:lpstr>
      <vt:lpstr>Thousands of Tables and Four Farthings</vt:lpstr>
      <vt:lpstr>Hello, I’m Dan</vt:lpstr>
      <vt:lpstr>Hello, I’m Dan</vt:lpstr>
      <vt:lpstr>PowerPoint Presentation</vt:lpstr>
      <vt:lpstr>Beginning at the Beginning – WTF is Four Farthings?</vt:lpstr>
      <vt:lpstr>Okay, sure but why Four Farthings?</vt:lpstr>
      <vt:lpstr>The Problem</vt:lpstr>
      <vt:lpstr>The Problem – Continued </vt:lpstr>
      <vt:lpstr>PowerPoint Presentation</vt:lpstr>
      <vt:lpstr>Analysis</vt:lpstr>
      <vt:lpstr>Solution</vt:lpstr>
      <vt:lpstr>Where’s the Call Coming From?</vt:lpstr>
      <vt:lpstr>SQL Server Profiler</vt:lpstr>
      <vt:lpstr>Interesting Finds</vt:lpstr>
      <vt:lpstr>SQL Server Extended Events</vt:lpstr>
      <vt:lpstr>More Interesting Finds</vt:lpstr>
      <vt:lpstr>So what did we discover?</vt:lpstr>
      <vt:lpstr>Know the Process, Hack the Process</vt:lpstr>
      <vt:lpstr>PowerPoint Presentation</vt:lpstr>
      <vt:lpstr>Thank you!</vt:lpstr>
      <vt:lpstr>AMH Insights:  Turning Log Files Into Actionable Data</vt:lpstr>
      <vt:lpstr>The Problem</vt:lpstr>
      <vt:lpstr>The Environment</vt:lpstr>
      <vt:lpstr>The Black Box</vt:lpstr>
      <vt:lpstr>The Hidden Data (Logs)</vt:lpstr>
      <vt:lpstr>What Does a Log Look Like?</vt:lpstr>
      <vt:lpstr>The Key Insight</vt:lpstr>
      <vt:lpstr>Sorting Matrix</vt:lpstr>
      <vt:lpstr>Reconstructing the Workflow</vt:lpstr>
      <vt:lpstr>What This Enables</vt:lpstr>
      <vt:lpstr>Existing Data</vt:lpstr>
      <vt:lpstr>The Gap</vt:lpstr>
      <vt:lpstr>Why This Matters</vt:lpstr>
      <vt:lpstr>Demo</vt:lpstr>
      <vt:lpstr>Demo</vt:lpstr>
      <vt:lpstr>Demo</vt:lpstr>
      <vt:lpstr>Demo</vt:lpstr>
      <vt:lpstr>Demo</vt:lpstr>
      <vt:lpstr>Thank You!</vt:lpstr>
      <vt:lpstr>Building a Data Lake for Your Library</vt:lpstr>
      <vt:lpstr>Putting Privacy First: Making Due with Less Data </vt:lpstr>
      <vt:lpstr>Massachusetts Law</vt:lpstr>
      <vt:lpstr>Policy Interpretation</vt:lpstr>
      <vt:lpstr>Massachusetts Data Privacy Act</vt:lpstr>
      <vt:lpstr>Minuteman Standards</vt:lpstr>
      <vt:lpstr>And Yet...Data</vt:lpstr>
      <vt:lpstr>Approach</vt:lpstr>
      <vt:lpstr>What We Can’t Answer</vt:lpstr>
      <vt:lpstr>How many times did a patron come to the library in the last year?</vt:lpstr>
      <vt:lpstr>What We Can Answer Instead</vt:lpstr>
      <vt:lpstr>What We Can Answer Instead</vt:lpstr>
      <vt:lpstr>Which Patrons Are the Heaviest Users of Our Hotspots?</vt:lpstr>
      <vt:lpstr>Which Patrons Are the Heaviest Users of Our Hotspots?</vt:lpstr>
      <vt:lpstr>Which Patrons Are the Heaviest Users of Our Hotspots?</vt:lpstr>
      <vt:lpstr>Which patron checked out a particular item, 2 checkouts ago?</vt:lpstr>
      <vt:lpstr>What was the most checked out title of 2025?</vt:lpstr>
      <vt:lpstr>Imperfect Option</vt:lpstr>
      <vt:lpstr>More Options</vt:lpstr>
      <vt:lpstr>Even More Options</vt:lpstr>
      <vt:lpstr>Thank You!</vt:lpstr>
      <vt:lpstr>Today’s Speakers</vt:lpstr>
      <vt:lpstr>Up Next</vt:lpstr>
      <vt:lpstr>Tuesday Apr 14: There’s More!</vt:lpstr>
      <vt:lpstr>Tuesday Apr 14: There’s More!</vt:lpstr>
      <vt:lpstr>Tuesday Apr 14: There’s More!</vt:lpstr>
      <vt:lpstr>Tuesday Apr 14: There’s More!</vt:lpstr>
      <vt:lpstr>Tuesday Apr 14: There’s More!</vt:lpstr>
      <vt:lpstr>Tuesday Apr 14: There’s More!</vt:lpstr>
      <vt:lpstr>Find Us Online</vt:lpstr>
    </vt:vector>
  </TitlesOfParts>
  <Company>Minuteman Library Network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Jeremy Goldstein</dc:creator>
  <cp:lastModifiedBy>Jeremy Goldstein</cp:lastModifiedBy>
  <cp:revision>63</cp:revision>
  <dcterms:created xsi:type="dcterms:W3CDTF">2026-03-03T14:46:33Z</dcterms:created>
  <dcterms:modified xsi:type="dcterms:W3CDTF">2026-04-08T19:40:05Z</dcterms:modified>
</cp:coreProperties>
</file>