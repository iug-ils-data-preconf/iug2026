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hyperlink" Target="http://www.youtube.com/watch?v=2mX_qP4zoHA" TargetMode="External"/><Relationship Id="rId5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hyperlink" Target="http://www.youtube.com/watch?v=wC3gn_S3TzE" TargetMode="External"/><Relationship Id="rId5" Type="http://schemas.openxmlformats.org/officeDocument/2006/relationships/image" Target="../media/image8.jpg"/><Relationship Id="rId6" Type="http://schemas.openxmlformats.org/officeDocument/2006/relationships/hyperlink" Target="http://www.youtube.com/watch?v=2Qnf5q_DchI" TargetMode="External"/><Relationship Id="rId7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10" Type="http://schemas.openxmlformats.org/officeDocument/2006/relationships/image" Target="../media/image9.png"/><Relationship Id="rId9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F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06980">
              <a:alpha val="74901"/>
            </a:srgbClr>
          </a:solidFill>
          <a:ln cap="flat" cmpd="sng" w="12700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F263D"/>
          </a:solidFill>
          <a:ln cap="flat" cmpd="sng" w="12700">
            <a:solidFill>
              <a:srgbClr val="6F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11480" y="1325880"/>
            <a:ext cx="5852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Vega Kiosks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11480" y="2331720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Creating, Deploying &amp; Managing Through Google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411480" y="2907792"/>
            <a:ext cx="5669280" cy="0"/>
          </a:xfrm>
          <a:prstGeom prst="straightConnector1">
            <a:avLst/>
          </a:prstGeom>
          <a:noFill/>
          <a:ln cap="flat" cmpd="sng" w="25400">
            <a:solidFill>
              <a:srgbClr val="6F2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411480" y="3017520"/>
            <a:ext cx="5669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Derek Brown  |  Director of 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11480" y="3364992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Rochester Hills Public Library  |  Rochester, MI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11480" y="3822192"/>
            <a:ext cx="1828800" cy="292608"/>
          </a:xfrm>
          <a:prstGeom prst="rect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11480" y="382219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F6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4F61"/>
                </a:solidFill>
                <a:latin typeface="Calibri"/>
                <a:ea typeface="Calibri"/>
                <a:cs typeface="Calibri"/>
                <a:sym typeface="Calibri"/>
              </a:rPr>
              <a:t>SPEED GEEKING  |  15 min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91440" y="4700016"/>
            <a:ext cx="8961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0E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E0EB"/>
                </a:solidFill>
                <a:latin typeface="Calibri"/>
                <a:ea typeface="Calibri"/>
                <a:cs typeface="Calibri"/>
                <a:sym typeface="Calibri"/>
              </a:rPr>
              <a:t>IUG 2026 Pre-Conference  |  The Great ILS-Data Pre-Conference: Quick Lessons With Your Peers  |  April 12,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9432" y="1556163"/>
            <a:ext cx="2145931" cy="2376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0875" y="1021149"/>
            <a:ext cx="2623049" cy="55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B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980"/>
          </a:solidFill>
          <a:ln cap="flat" cmpd="sng" w="12700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65760" y="64008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Google Kiosks?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56025" y="749800"/>
            <a:ext cx="8522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F61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04F61"/>
                </a:solidFill>
                <a:latin typeface="Calibri"/>
                <a:ea typeface="Calibri"/>
                <a:cs typeface="Calibri"/>
                <a:sym typeface="Calibri"/>
              </a:rPr>
              <a:t>Built for Flexibility.  Private by Design.  Simple by Default.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56032" y="1234440"/>
            <a:ext cx="2697480" cy="32186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256032" y="1234440"/>
            <a:ext cx="2697480" cy="64008"/>
          </a:xfrm>
          <a:prstGeom prst="rect">
            <a:avLst/>
          </a:prstGeom>
          <a:solidFill>
            <a:srgbClr val="006980"/>
          </a:solidFill>
          <a:ln cap="flat" cmpd="sng" w="12700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289426" y="1365889"/>
            <a:ext cx="630600" cy="630600"/>
          </a:xfrm>
          <a:prstGeom prst="ellipse">
            <a:avLst/>
          </a:prstGeom>
          <a:solidFill>
            <a:srgbClr val="006980"/>
          </a:solidFill>
          <a:ln cap="flat" cmpd="sng" w="15925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675" lIns="114675" spcFirstLastPara="1" rIns="114675" wrap="square" tIns="114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6"/>
              <a:buFont typeface="Arial"/>
              <a:buNone/>
            </a:pPr>
            <a:r>
              <a:t/>
            </a:r>
            <a:endParaRPr b="0" i="0" sz="17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289504" y="1365811"/>
            <a:ext cx="630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325" lIns="114675" spcFirstLastPara="1" rIns="114675" wrap="square" tIns="57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8"/>
              <a:buFont typeface="Calibri"/>
              <a:buNone/>
            </a:pPr>
            <a:r>
              <a:rPr b="1" i="0" lang="en-US" sz="87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SWAP</a:t>
            </a:r>
            <a:endParaRPr b="0" i="0" sz="8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47472" y="1929384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80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6980"/>
                </a:solidFill>
                <a:latin typeface="Calibri"/>
                <a:ea typeface="Calibri"/>
                <a:cs typeface="Calibri"/>
                <a:sym typeface="Calibri"/>
              </a:rPr>
              <a:t>Instantly Swappable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347472" y="2331720"/>
            <a:ext cx="2496312" cy="0"/>
          </a:xfrm>
          <a:prstGeom prst="straightConnector1">
            <a:avLst/>
          </a:prstGeom>
          <a:noFill/>
          <a:ln cap="flat" cmpd="sng" w="12700">
            <a:solidFill>
              <a:srgbClr val="E8F4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4"/>
          <p:cNvSpPr/>
          <p:nvPr/>
        </p:nvSpPr>
        <p:spPr>
          <a:xfrm>
            <a:off x="299300" y="2423150"/>
            <a:ext cx="26232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Move between Google Admin OUs in seconds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No reimaging. No reconfiguration.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Kids Kiosk at 9am — IIC Kiosk by noon — Express Check by 6pm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Event day: swap to registration or self-checkout on the fly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218688" y="1234440"/>
            <a:ext cx="2697480" cy="32186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218688" y="1234440"/>
            <a:ext cx="2697480" cy="64008"/>
          </a:xfrm>
          <a:prstGeom prst="rect">
            <a:avLst/>
          </a:prstGeom>
          <a:solidFill>
            <a:srgbClr val="6F263D"/>
          </a:solidFill>
          <a:ln cap="flat" cmpd="sng" w="12700">
            <a:solidFill>
              <a:srgbClr val="6F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310128" y="1929384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26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6F263D"/>
                </a:solidFill>
                <a:latin typeface="Calibri"/>
                <a:ea typeface="Calibri"/>
                <a:cs typeface="Calibri"/>
                <a:sym typeface="Calibri"/>
              </a:rPr>
              <a:t>Always Private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4"/>
          <p:cNvCxnSpPr/>
          <p:nvPr/>
        </p:nvCxnSpPr>
        <p:spPr>
          <a:xfrm>
            <a:off x="3310128" y="2331720"/>
            <a:ext cx="2496312" cy="0"/>
          </a:xfrm>
          <a:prstGeom prst="straightConnector1">
            <a:avLst/>
          </a:prstGeom>
          <a:noFill/>
          <a:ln cap="flat" cmpd="sng" w="12700">
            <a:solidFill>
              <a:srgbClr val="E8F4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4"/>
          <p:cNvSpPr/>
          <p:nvPr/>
        </p:nvSpPr>
        <p:spPr>
          <a:xfrm>
            <a:off x="3292175" y="2423150"/>
            <a:ext cx="25800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3350" lvl="0" marL="133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Chrome OS wipes all history at session 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1333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No patron data is ever saved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1333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No browsing trails — no login required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1333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Privacy enforced at the OS level, not just the 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181344" y="1234440"/>
            <a:ext cx="2697600" cy="3218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181344" y="1234440"/>
            <a:ext cx="2697480" cy="64008"/>
          </a:xfrm>
          <a:prstGeom prst="rect">
            <a:avLst/>
          </a:prstGeom>
          <a:solidFill>
            <a:srgbClr val="004F61"/>
          </a:solidFill>
          <a:ln cap="flat" cmpd="sng" w="12700">
            <a:solidFill>
              <a:srgbClr val="00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272784" y="1929384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F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4F61"/>
                </a:solidFill>
                <a:latin typeface="Calibri"/>
                <a:ea typeface="Calibri"/>
                <a:cs typeface="Calibri"/>
                <a:sym typeface="Calibri"/>
              </a:rPr>
              <a:t>Radically Simple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4"/>
          <p:cNvCxnSpPr/>
          <p:nvPr/>
        </p:nvCxnSpPr>
        <p:spPr>
          <a:xfrm>
            <a:off x="6272784" y="2331720"/>
            <a:ext cx="2496312" cy="0"/>
          </a:xfrm>
          <a:prstGeom prst="straightConnector1">
            <a:avLst/>
          </a:prstGeom>
          <a:noFill/>
          <a:ln cap="flat" cmpd="sng" w="12700">
            <a:solidFill>
              <a:srgbClr val="E8F4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4"/>
          <p:cNvSpPr/>
          <p:nvPr/>
        </p:nvSpPr>
        <p:spPr>
          <a:xfrm>
            <a:off x="6254500" y="2423150"/>
            <a:ext cx="25800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3350" lvl="0" marL="133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Purpose-built touch interface — nothing extraneous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1333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Custom Home &amp; Back buttons always visible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1333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Auto-returns to home after 60 sec of inactivity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1333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Designed for walk-up public use with zero training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6F263D"/>
          </a:solidFill>
          <a:ln cap="flat" cmpd="sng" w="12700">
            <a:solidFill>
              <a:srgbClr val="6F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74320" y="4626864"/>
            <a:ext cx="8595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Move a device to a different OU in Google Admin — less than 60 seconds later, it's a completely different interface.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5750" y="51561"/>
            <a:ext cx="2623049" cy="555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4"/>
          <p:cNvSpPr/>
          <p:nvPr/>
        </p:nvSpPr>
        <p:spPr>
          <a:xfrm>
            <a:off x="4242951" y="1365802"/>
            <a:ext cx="630600" cy="630600"/>
          </a:xfrm>
          <a:prstGeom prst="ellipse">
            <a:avLst/>
          </a:prstGeom>
          <a:solidFill>
            <a:srgbClr val="6F263D"/>
          </a:solidFill>
          <a:ln cap="flat" cmpd="sng" w="15925">
            <a:solidFill>
              <a:srgbClr val="6F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675" lIns="114675" spcFirstLastPara="1" rIns="114675" wrap="square" tIns="114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6"/>
              <a:buFont typeface="Arial"/>
              <a:buNone/>
            </a:pPr>
            <a:r>
              <a:t/>
            </a:r>
            <a:endParaRPr b="0" i="0" sz="17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242954" y="1365798"/>
            <a:ext cx="630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325" lIns="114675" spcFirstLastPara="1" rIns="114675" wrap="square" tIns="57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8"/>
              <a:buFont typeface="Calibri"/>
              <a:buNone/>
            </a:pPr>
            <a:r>
              <a:rPr b="1" i="0" lang="en-US" sz="87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SECURE</a:t>
            </a:r>
            <a:endParaRPr b="0" i="0" sz="8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242176" y="1365839"/>
            <a:ext cx="630600" cy="630600"/>
          </a:xfrm>
          <a:prstGeom prst="ellipse">
            <a:avLst/>
          </a:prstGeom>
          <a:solidFill>
            <a:srgbClr val="004F61"/>
          </a:solidFill>
          <a:ln cap="flat" cmpd="sng" w="15925">
            <a:solidFill>
              <a:srgbClr val="004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675" lIns="114675" spcFirstLastPara="1" rIns="114675" wrap="square" tIns="114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6"/>
              <a:buFont typeface="Arial"/>
              <a:buNone/>
            </a:pPr>
            <a:r>
              <a:t/>
            </a:r>
            <a:endParaRPr b="0" i="0" sz="17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7242217" y="1365911"/>
            <a:ext cx="630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325" lIns="114675" spcFirstLastPara="1" rIns="114675" wrap="square" tIns="57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8"/>
              <a:buFont typeface="Calibri"/>
              <a:buNone/>
            </a:pPr>
            <a:r>
              <a:rPr b="1" i="0" lang="en-US" sz="87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SIMPLE</a:t>
            </a:r>
            <a:endParaRPr b="0" i="0" sz="8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B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980"/>
          </a:solidFill>
          <a:ln cap="flat" cmpd="sng" w="12700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65760" y="64008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Hardware: Low Cost, High Impact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IC Kiosk front-facing with category tiles" id="67" name="Google Shape;6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" y="749808"/>
            <a:ext cx="3291840" cy="431596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"/>
          <p:cNvSpPr/>
          <p:nvPr/>
        </p:nvSpPr>
        <p:spPr>
          <a:xfrm>
            <a:off x="201168" y="4636008"/>
            <a:ext cx="3291840" cy="292608"/>
          </a:xfrm>
          <a:prstGeom prst="rect">
            <a:avLst/>
          </a:prstGeom>
          <a:solidFill>
            <a:srgbClr val="006980">
              <a:alpha val="90196"/>
            </a:srgbClr>
          </a:solidFill>
          <a:ln cap="flat" cmpd="sng" w="12700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201168" y="464515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IIC Kiosk at Rochester Hills Public Library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675888" y="804672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F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04F61"/>
                </a:solidFill>
                <a:latin typeface="Calibri"/>
                <a:ea typeface="Calibri"/>
                <a:cs typeface="Calibri"/>
                <a:sym typeface="Calibri"/>
              </a:rPr>
              <a:t>IIC Discovery Kiosk Build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639312" y="1207008"/>
            <a:ext cx="5285232" cy="475488"/>
          </a:xfrm>
          <a:prstGeom prst="rect">
            <a:avLst/>
          </a:prstGeom>
          <a:solidFill>
            <a:srgbClr val="E8F4F7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694176" y="1298448"/>
            <a:ext cx="1051560" cy="292608"/>
          </a:xfrm>
          <a:prstGeom prst="rect">
            <a:avLst/>
          </a:prstGeom>
          <a:solidFill>
            <a:srgbClr val="006980"/>
          </a:solidFill>
          <a:ln cap="flat" cmpd="sng" w="12700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694176" y="1298448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Touchscreen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800600" y="1261872"/>
            <a:ext cx="2816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CUNPU 27" Nano IPS — 10-point touch, VESA mount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7616952" y="1261872"/>
            <a:ext cx="12618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26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F263D"/>
                </a:solidFill>
                <a:latin typeface="Calibri"/>
                <a:ea typeface="Calibri"/>
                <a:cs typeface="Calibri"/>
                <a:sym typeface="Calibri"/>
              </a:rPr>
              <a:t>$229.99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639312" y="1700784"/>
            <a:ext cx="5285232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694176" y="1792224"/>
            <a:ext cx="1051560" cy="292608"/>
          </a:xfrm>
          <a:prstGeom prst="rect">
            <a:avLst/>
          </a:prstGeom>
          <a:solidFill>
            <a:srgbClr val="006980"/>
          </a:solidFill>
          <a:ln cap="flat" cmpd="sng" w="12700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694176" y="1792224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800600" y="1755648"/>
            <a:ext cx="2816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HUANUO VESA Mount — 360 swivel, tempered glass base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7616952" y="1755648"/>
            <a:ext cx="12618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26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F263D"/>
                </a:solidFill>
                <a:latin typeface="Calibri"/>
                <a:ea typeface="Calibri"/>
                <a:cs typeface="Calibri"/>
                <a:sym typeface="Calibri"/>
              </a:rPr>
              <a:t>$20.49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639312" y="2194560"/>
            <a:ext cx="5285232" cy="475488"/>
          </a:xfrm>
          <a:prstGeom prst="rect">
            <a:avLst/>
          </a:prstGeom>
          <a:solidFill>
            <a:srgbClr val="E8F4F7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694176" y="2286000"/>
            <a:ext cx="1051560" cy="292608"/>
          </a:xfrm>
          <a:prstGeom prst="rect">
            <a:avLst/>
          </a:prstGeom>
          <a:solidFill>
            <a:srgbClr val="006980"/>
          </a:solidFill>
          <a:ln cap="flat" cmpd="sng" w="12700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694176" y="2286000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800600" y="2249424"/>
            <a:ext cx="2816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HP ChromeBox G4 — WiFi 6E, native Chrome 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7616952" y="2249424"/>
            <a:ext cx="12618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26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F263D"/>
                </a:solidFill>
                <a:latin typeface="Calibri"/>
                <a:ea typeface="Calibri"/>
                <a:cs typeface="Calibri"/>
                <a:sym typeface="Calibri"/>
              </a:rPr>
              <a:t>$276.91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3639312" y="2743200"/>
            <a:ext cx="5285232" cy="475488"/>
          </a:xfrm>
          <a:prstGeom prst="rect">
            <a:avLst/>
          </a:prstGeom>
          <a:solidFill>
            <a:srgbClr val="006980"/>
          </a:solidFill>
          <a:ln cap="flat" cmpd="sng" w="12700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3730752" y="281635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ChromeBox Build 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7498080" y="2816352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$527.39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639312" y="3417141"/>
            <a:ext cx="5285100" cy="384000"/>
          </a:xfrm>
          <a:prstGeom prst="rect">
            <a:avLst/>
          </a:prstGeom>
          <a:solidFill>
            <a:srgbClr val="FFFBF0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749040" y="3462861"/>
            <a:ext cx="5074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Budget option:  Swap ChromeBox for Dell OptiPlex 3060 refurb + Chrome OS Flex  -&gt;  ~$450-470 total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675912" y="4041652"/>
            <a:ext cx="5285100" cy="310800"/>
          </a:xfrm>
          <a:prstGeom prst="rect">
            <a:avLst/>
          </a:prstGeom>
          <a:solidFill>
            <a:srgbClr val="6F263D"/>
          </a:solidFill>
          <a:ln cap="flat" cmpd="sng" w="12700">
            <a:solidFill>
              <a:srgbClr val="6F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675912" y="4096516"/>
            <a:ext cx="5285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SAME HARDWARE  -&gt;  MULTIPLE ROLES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675912" y="4407412"/>
            <a:ext cx="5285100" cy="658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767352" y="4462276"/>
            <a:ext cx="5074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F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4F61"/>
                </a:solidFill>
                <a:latin typeface="Calibri"/>
                <a:ea typeface="Calibri"/>
                <a:cs typeface="Calibri"/>
                <a:sym typeface="Calibri"/>
              </a:rPr>
              <a:t>Polaris ExpressCheck Self-Checkout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767352" y="4681732"/>
            <a:ext cx="5074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Same base build  +  barcode scanner  +  receipt printer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Same device pool. Different OU in Google Admin. Completely different machine.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5750" y="48249"/>
            <a:ext cx="2623049" cy="55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F6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914400" y="2263772"/>
            <a:ext cx="7315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VIDEO WALKTHROUGH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57200" y="2578608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Vega Discover: Building the Kiosk Site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6"/>
          <p:cNvCxnSpPr/>
          <p:nvPr/>
        </p:nvCxnSpPr>
        <p:spPr>
          <a:xfrm>
            <a:off x="2286000" y="3337560"/>
            <a:ext cx="4572000" cy="0"/>
          </a:xfrm>
          <a:prstGeom prst="straightConnector1">
            <a:avLst/>
          </a:prstGeom>
          <a:noFill/>
          <a:ln cap="flat" cmpd="sng" w="25400">
            <a:solidFill>
              <a:srgbClr val="6F2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6"/>
          <p:cNvSpPr/>
          <p:nvPr/>
        </p:nvSpPr>
        <p:spPr>
          <a:xfrm>
            <a:off x="731520" y="345643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(1)  Site Config -&gt; Add New Site (Kiosk)  |  Experience Settings  |  Content Scoping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731520" y="3858768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(2)  Page Customizations -&gt; Custom Header &amp; Footer Code  (where the magic lives)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731520" y="4261104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(3)  Homepage Builder -&gt; Showcase Groups  |  Custom Pills  |  Hero Carousel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3474720" y="46817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r>
              <a:rPr i="1" lang="en-US" sz="1100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1" lang="en-US" sz="11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 minutes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0950" y="4588249"/>
            <a:ext cx="2623049" cy="5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6" title="Vega Kiosk Homepage Builder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2213" y="86653"/>
            <a:ext cx="3919575" cy="220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F6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/>
          <p:nvPr/>
        </p:nvSpPr>
        <p:spPr>
          <a:xfrm>
            <a:off x="785500" y="2171675"/>
            <a:ext cx="3129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 Device Settings Walkthrough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57200" y="2578608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Admin: Device &amp; Session Setup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7"/>
          <p:cNvCxnSpPr/>
          <p:nvPr/>
        </p:nvCxnSpPr>
        <p:spPr>
          <a:xfrm>
            <a:off x="2286000" y="3337560"/>
            <a:ext cx="4572000" cy="0"/>
          </a:xfrm>
          <a:prstGeom prst="straightConnector1">
            <a:avLst/>
          </a:prstGeom>
          <a:noFill/>
          <a:ln cap="flat" cmpd="sng" w="25400">
            <a:solidFill>
              <a:srgbClr val="6F2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7"/>
          <p:cNvSpPr/>
          <p:nvPr/>
        </p:nvSpPr>
        <p:spPr>
          <a:xfrm>
            <a:off x="1097280" y="3456432"/>
            <a:ext cx="6949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(1)  Apps &amp; Extensions → Kiosks  -  setting the auto-launch URL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1097280" y="3858768"/>
            <a:ext cx="6949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(2) Chrome Settings - user &amp; browser settings, device settings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1097280" y="4261104"/>
            <a:ext cx="6949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(3)  OU reassignment - IIC to Kids Kiosk and back in seconds (potential live demo)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657600" y="46817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~3 minutes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0950" y="4588249"/>
            <a:ext cx="2623049" cy="55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5228575" y="2171675"/>
            <a:ext cx="3129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 OU Reassignment Demonstration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UG 2026 Presentation Video - Chrome Kiosk Device Settings" id="125" name="Google Shape;125;p7" title="Chrome Kiosk Device Settings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6450" y="150675"/>
            <a:ext cx="3337600" cy="187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7" title="Kiosk OU Swap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24725" y="150675"/>
            <a:ext cx="3337600" cy="187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9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320040" y="150876"/>
            <a:ext cx="987552" cy="35661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320040" y="150876"/>
            <a:ext cx="98755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CSS</a:t>
            </a:r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1444752" y="73152"/>
            <a:ext cx="742492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CSS — Prevent Patron Login</a:t>
            </a:r>
            <a:endParaRPr/>
          </a:p>
        </p:txBody>
      </p:sp>
      <p:pic>
        <p:nvPicPr>
          <p:cNvPr id="136" name="Google Shape;1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82296"/>
            <a:ext cx="1920240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8"/>
          <p:cNvSpPr txBox="1"/>
          <p:nvPr/>
        </p:nvSpPr>
        <p:spPr>
          <a:xfrm>
            <a:off x="292608" y="749808"/>
            <a:ext cx="8595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4F61"/>
                </a:solidFill>
                <a:latin typeface="Calibri"/>
                <a:ea typeface="Calibri"/>
                <a:cs typeface="Calibri"/>
                <a:sym typeface="Calibri"/>
              </a:rPr>
              <a:t>Prevent patrons from logging in or making holds</a:t>
            </a:r>
            <a:endParaRPr/>
          </a:p>
        </p:txBody>
      </p:sp>
      <p:sp>
        <p:nvSpPr>
          <p:cNvPr id="138" name="Google Shape;138;p8"/>
          <p:cNvSpPr txBox="1"/>
          <p:nvPr/>
        </p:nvSpPr>
        <p:spPr>
          <a:xfrm>
            <a:off x="292608" y="1188720"/>
            <a:ext cx="8595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Hides the user panel and the forgot my passcode link — essential for any public kiosk.</a:t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256025" y="1554475"/>
            <a:ext cx="8668500" cy="3588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256025" y="1554475"/>
            <a:ext cx="59400" cy="3588900"/>
          </a:xfrm>
          <a:prstGeom prst="rect">
            <a:avLst/>
          </a:prstGeom>
          <a:solidFill>
            <a:srgbClr val="218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347465" y="1654170"/>
            <a:ext cx="8531400" cy="3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Remove Login Panel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Hides the user account/login panel — kiosk users should not be able to log in or access account settings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0" u="none" cap="none" strike="noStrik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#user-panel</a:t>
            </a:r>
            <a:r>
              <a:rPr b="0" i="0" lang="en-US" sz="9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9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display</a:t>
            </a:r>
            <a:r>
              <a:rPr b="0" i="0" lang="en-US" sz="9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9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b="0" i="0" lang="en-US" sz="9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9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320040" y="150876"/>
            <a:ext cx="987552" cy="35661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320040" y="150876"/>
            <a:ext cx="98755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CSS</a:t>
            </a:r>
            <a:endParaRPr/>
          </a:p>
        </p:txBody>
      </p:sp>
      <p:sp>
        <p:nvSpPr>
          <p:cNvPr id="150" name="Google Shape;150;p9"/>
          <p:cNvSpPr txBox="1"/>
          <p:nvPr/>
        </p:nvSpPr>
        <p:spPr>
          <a:xfrm>
            <a:off x="1444752" y="73152"/>
            <a:ext cx="742492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CSS — Remove Duplicate Vega Header</a:t>
            </a:r>
            <a:endParaRPr/>
          </a:p>
        </p:txBody>
      </p:sp>
      <p:pic>
        <p:nvPicPr>
          <p:cNvPr id="151" name="Google Shape;15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82296"/>
            <a:ext cx="1920240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9"/>
          <p:cNvSpPr txBox="1"/>
          <p:nvPr/>
        </p:nvSpPr>
        <p:spPr>
          <a:xfrm>
            <a:off x="292608" y="749808"/>
            <a:ext cx="8595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4F61"/>
                </a:solidFill>
                <a:latin typeface="Calibri"/>
                <a:ea typeface="Calibri"/>
                <a:cs typeface="Calibri"/>
                <a:sym typeface="Calibri"/>
              </a:rPr>
              <a:t>Remove the duplicate navigation bar Vega injects</a:t>
            </a:r>
            <a:endParaRPr/>
          </a:p>
        </p:txBody>
      </p:sp>
      <p:sp>
        <p:nvSpPr>
          <p:cNvPr id="153" name="Google Shape;153;p9"/>
          <p:cNvSpPr txBox="1"/>
          <p:nvPr/>
        </p:nvSpPr>
        <p:spPr>
          <a:xfrm>
            <a:off x="292608" y="1188720"/>
            <a:ext cx="8595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Vega forces a second global nav bar even with a premium custom header active.</a:t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256025" y="1554475"/>
            <a:ext cx="8668500" cy="3588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256025" y="1554475"/>
            <a:ext cx="59400" cy="3588900"/>
          </a:xfrm>
          <a:prstGeom prst="rect">
            <a:avLst/>
          </a:prstGeom>
          <a:solidFill>
            <a:srgbClr val="218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347465" y="1654170"/>
            <a:ext cx="8531400" cy="3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Remove the global header forced by Vega even when using a premium custom header */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Hides the second app-global-nav Vega injects into the header — prevents a duplicate navigation bar appearing */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.header</a:t>
            </a:r>
            <a:r>
              <a:rPr b="0" i="0" lang="en-US" sz="12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220" u="none" cap="none" strike="noStrik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app-global-nav:nth-child(2)</a:t>
            </a:r>
            <a:r>
              <a:rPr b="0" i="0" lang="en-US" sz="12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2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display</a:t>
            </a:r>
            <a:r>
              <a:rPr b="0" i="0" lang="en-US" sz="12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b="0" i="0" lang="en-US" sz="12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9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320040" y="150876"/>
            <a:ext cx="987552" cy="35661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0"/>
          <p:cNvSpPr txBox="1"/>
          <p:nvPr/>
        </p:nvSpPr>
        <p:spPr>
          <a:xfrm>
            <a:off x="320040" y="150876"/>
            <a:ext cx="98755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CSS</a:t>
            </a:r>
            <a:endParaRPr/>
          </a:p>
        </p:txBody>
      </p:sp>
      <p:sp>
        <p:nvSpPr>
          <p:cNvPr id="165" name="Google Shape;165;p10"/>
          <p:cNvSpPr txBox="1"/>
          <p:nvPr/>
        </p:nvSpPr>
        <p:spPr>
          <a:xfrm>
            <a:off x="1444752" y="73152"/>
            <a:ext cx="742492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CSS — Scale Down Custom Pill Images</a:t>
            </a:r>
            <a:endParaRPr/>
          </a:p>
        </p:txBody>
      </p:sp>
      <p:pic>
        <p:nvPicPr>
          <p:cNvPr id="166" name="Google Shape;1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82296"/>
            <a:ext cx="1920240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0"/>
          <p:cNvSpPr txBox="1"/>
          <p:nvPr/>
        </p:nvSpPr>
        <p:spPr>
          <a:xfrm>
            <a:off x="292608" y="749808"/>
            <a:ext cx="8595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4F61"/>
                </a:solidFill>
                <a:latin typeface="Calibri"/>
                <a:ea typeface="Calibri"/>
                <a:cs typeface="Calibri"/>
                <a:sym typeface="Calibri"/>
              </a:rPr>
              <a:t>Scale down custom pill images to fit the homepage grid</a:t>
            </a:r>
            <a:endParaRPr/>
          </a:p>
        </p:txBody>
      </p:sp>
      <p:sp>
        <p:nvSpPr>
          <p:cNvPr id="168" name="Google Shape;168;p10"/>
          <p:cNvSpPr txBox="1"/>
          <p:nvPr/>
        </p:nvSpPr>
        <p:spPr>
          <a:xfrm>
            <a:off x="292608" y="1188720"/>
            <a:ext cx="8595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Without this, pill images appear oversized and crowded. The 80% scale gives breathing room.</a:t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256025" y="1554475"/>
            <a:ext cx="8668500" cy="3588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256025" y="1554475"/>
            <a:ext cx="59400" cy="3588900"/>
          </a:xfrm>
          <a:prstGeom prst="rect">
            <a:avLst/>
          </a:prstGeom>
          <a:solidFill>
            <a:srgbClr val="218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347465" y="1654170"/>
            <a:ext cx="8531400" cy="3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Scales down images to 80% due to images being too large  */</a:t>
            </a:r>
            <a:endParaRPr sz="1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0" u="none" cap="none" strike="noStrik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.css-4k03bg</a:t>
            </a:r>
            <a:r>
              <a:rPr b="0" i="0" lang="en-US" sz="14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4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transform</a:t>
            </a:r>
            <a:r>
              <a:rPr b="0" i="0" lang="en-US" sz="14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scale(0.8)</a:t>
            </a:r>
            <a:r>
              <a:rPr b="0" i="0" lang="en-US" sz="14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9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320040" y="150876"/>
            <a:ext cx="987552" cy="35661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320040" y="150876"/>
            <a:ext cx="98755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CSS</a:t>
            </a:r>
            <a:endParaRPr/>
          </a:p>
        </p:txBody>
      </p:sp>
      <p:sp>
        <p:nvSpPr>
          <p:cNvPr id="180" name="Google Shape;180;p11"/>
          <p:cNvSpPr txBox="1"/>
          <p:nvPr/>
        </p:nvSpPr>
        <p:spPr>
          <a:xfrm>
            <a:off x="1444752" y="73152"/>
            <a:ext cx="742492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CSS — Home &amp; Back Navigation Buttons</a:t>
            </a:r>
            <a:endParaRPr/>
          </a:p>
        </p:txBody>
      </p:sp>
      <p:pic>
        <p:nvPicPr>
          <p:cNvPr id="181" name="Google Shape;1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82296"/>
            <a:ext cx="1920240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1"/>
          <p:cNvSpPr txBox="1"/>
          <p:nvPr/>
        </p:nvSpPr>
        <p:spPr>
          <a:xfrm>
            <a:off x="292608" y="749808"/>
            <a:ext cx="8595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4F61"/>
                </a:solidFill>
                <a:latin typeface="Calibri"/>
                <a:ea typeface="Calibri"/>
                <a:cs typeface="Calibri"/>
                <a:sym typeface="Calibri"/>
              </a:rPr>
              <a:t>Fixed Home &amp; Back buttons always visible for touch navigation</a:t>
            </a:r>
            <a:endParaRPr/>
          </a:p>
        </p:txBody>
      </p:sp>
      <p:sp>
        <p:nvSpPr>
          <p:cNvPr id="183" name="Google Shape;183;p11"/>
          <p:cNvSpPr txBox="1"/>
          <p:nvPr/>
        </p:nvSpPr>
        <p:spPr>
          <a:xfrm>
            <a:off x="292608" y="1188720"/>
            <a:ext cx="8595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Fixed-position, 1.5x scale for easy touch, z-index 999999 so they always stay on top.</a:t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256025" y="1554475"/>
            <a:ext cx="3913500" cy="3588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256025" y="1554475"/>
            <a:ext cx="59400" cy="3588900"/>
          </a:xfrm>
          <a:prstGeom prst="rect">
            <a:avLst/>
          </a:prstGeom>
          <a:solidFill>
            <a:srgbClr val="218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4443985" y="1554475"/>
            <a:ext cx="3913500" cy="3588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4443985" y="1554475"/>
            <a:ext cx="59400" cy="3588900"/>
          </a:xfrm>
          <a:prstGeom prst="rect">
            <a:avLst/>
          </a:prstGeom>
          <a:solidFill>
            <a:srgbClr val="218A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347465" y="1654170"/>
            <a:ext cx="3776400" cy="3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Positions a fixed "Back" button in the lower-left of the screen for kiosk touch navigation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#b-back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position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fixed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top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calc(100vh - 130px)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left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50px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#6f263d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padding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10px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white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border-radius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30px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22px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bold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z-index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999999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transform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scale(1.5)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Styles the anchor tag inside the back button — removes underline and keeps text white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#b-back a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white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text-decoration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189" name="Google Shape;189;p11"/>
          <p:cNvSpPr txBox="1"/>
          <p:nvPr/>
        </p:nvSpPr>
        <p:spPr>
          <a:xfrm>
            <a:off x="4535425" y="1654170"/>
            <a:ext cx="3776400" cy="3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Positions a fixed "Home" button just above the back button in the lower-left for kiosk navigation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#b-home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position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fixed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top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calc(100vh - 200px)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left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50px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#6f263d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padding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10px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white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border-radius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30px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22px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bold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z-index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999999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transform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scale(1.5)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Styles the anchor tag inside the home button — removes underline and keeps text white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#b-home a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white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820" u="none" cap="none" strike="noStrike">
                <a:solidFill>
                  <a:srgbClr val="0070C1"/>
                </a:solidFill>
                <a:latin typeface="Courier New"/>
                <a:ea typeface="Courier New"/>
                <a:cs typeface="Courier New"/>
                <a:sym typeface="Courier New"/>
              </a:rPr>
              <a:t>text-decoration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8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9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320040" y="150876"/>
            <a:ext cx="987552" cy="356616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320040" y="150876"/>
            <a:ext cx="98755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/>
          </a:p>
        </p:txBody>
      </p:sp>
      <p:sp>
        <p:nvSpPr>
          <p:cNvPr id="198" name="Google Shape;198;p12"/>
          <p:cNvSpPr txBox="1"/>
          <p:nvPr/>
        </p:nvSpPr>
        <p:spPr>
          <a:xfrm>
            <a:off x="1444752" y="73152"/>
            <a:ext cx="742492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JS — Image Link Mapping  (1 of 3)</a:t>
            </a:r>
            <a:endParaRPr/>
          </a:p>
        </p:txBody>
      </p:sp>
      <p:pic>
        <p:nvPicPr>
          <p:cNvPr id="199" name="Google Shape;19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82296"/>
            <a:ext cx="1920240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2"/>
          <p:cNvSpPr txBox="1"/>
          <p:nvPr/>
        </p:nvSpPr>
        <p:spPr>
          <a:xfrm>
            <a:off x="292608" y="749808"/>
            <a:ext cx="8595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4F61"/>
                </a:solidFill>
                <a:latin typeface="Calibri"/>
                <a:ea typeface="Calibri"/>
                <a:cs typeface="Calibri"/>
                <a:sym typeface="Calibri"/>
              </a:rPr>
              <a:t>Map homepage category images to filtered catalog search URLs</a:t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292608" y="1188720"/>
            <a:ext cx="8595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src matches an image filename. Font is small to show the full unabridged URLs on one line each.</a:t>
            </a:r>
            <a:endParaRPr/>
          </a:p>
        </p:txBody>
      </p:sp>
      <p:sp>
        <p:nvSpPr>
          <p:cNvPr id="202" name="Google Shape;202;p12"/>
          <p:cNvSpPr/>
          <p:nvPr/>
        </p:nvSpPr>
        <p:spPr>
          <a:xfrm>
            <a:off x="256025" y="1554475"/>
            <a:ext cx="8668500" cy="35706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256023" y="1554475"/>
            <a:ext cx="63900" cy="3570600"/>
          </a:xfrm>
          <a:prstGeom prst="rect">
            <a:avLst/>
          </a:prstGeom>
          <a:solidFill>
            <a:srgbClr val="0000C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 txBox="1"/>
          <p:nvPr/>
        </p:nvSpPr>
        <p:spPr>
          <a:xfrm>
            <a:off x="347472" y="1645920"/>
            <a:ext cx="8531352" cy="3127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Maps image filename fragments to their corresponding filtered catalog search URLs.</a:t>
            </a:r>
            <a:endParaRPr sz="7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   Each entry links a homepage banner/subject image to a specific collection or material type in the catalog. */</a:t>
            </a:r>
            <a:endParaRPr sz="7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const </a:t>
            </a:r>
            <a:r>
              <a:rPr b="0" i="0" lang="en-US" sz="750" u="none" cap="none" strike="noStrike">
                <a:solidFill>
                  <a:srgbClr val="6B3E00"/>
                </a:solidFill>
                <a:latin typeface="Courier New"/>
                <a:ea typeface="Courier New"/>
                <a:cs typeface="Courier New"/>
                <a:sym typeface="Courier New"/>
              </a:rPr>
              <a:t>imageLinks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endParaRPr sz="7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{ src: 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'WQ2r4'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      url: 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'https://mbiic-rhpl.na3.iiivega.com/search?query=*&amp;searchType=everything&amp;pageSize=40&amp;locationIds=15&amp;pageNum=0&amp;materialTypeIds=23'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7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{ src: 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'ArtsCrafts'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 url: 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'https://mbiic-rhpl.na3.iiivega.com/search?query=*&amp;searchType=everything&amp;pageSize=40&amp;locationIds=15&amp;pageNum=0&amp;materialTypeIds=23&amp;collectionIds=130'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7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{ src: 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'Electronics'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url: 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'https://mbiic-rhpl.na3.iiivega.com/search?query=*&amp;searchType=everything&amp;pageSize=40&amp;locationIds=15&amp;pageNum=0&amp;materialTypeIds=23&amp;collectionIds=131'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7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{ src: 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'Experiences'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url: 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'https://mbiic-rhpl.na3.iiivega.com/search?query=*&amp;searchType=everything&amp;pageSize=40&amp;locationIds=15&amp;pageNum=0&amp;materialTypeIds=23&amp;collectionIds=132'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7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{ src: 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'Household'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  url: 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'https://mbiic-rhpl.na3.iiivega.com/search?query=*&amp;searchType=everything&amp;pageSize=40&amp;locationIds=15&amp;pageNum=0&amp;materialTypeIds=23&amp;collectionIds=134'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7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{ src: 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'Tools'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      url: 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'https://mbiic-rhpl.na3.iiivega.com/search?query=*&amp;searchType=everything&amp;pageSize=40&amp;locationIds=15&amp;pageNum=0&amp;materialTypeIds=23&amp;collectionIds=137'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7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{ src: 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'Music'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      url: 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'https://mbiic-rhpl.na3.iiivega.com/search?query=*&amp;searchType=everything&amp;pageSize=40&amp;locationIds=15&amp;pageNum=0&amp;materialTypeIds=23&amp;collectionIds=135'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},</a:t>
            </a:r>
            <a:endParaRPr sz="7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{ src: 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'ngHdl'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      url: 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'https://mbiic-rhpl.na3.iiivega.com/search?query=*&amp;searchType=everything&amp;pageSize=40&amp;locationIds=15&amp;pageNum=0&amp;materialTypeIds=23&amp;collectionIds=136'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7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7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9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320040" y="150876"/>
            <a:ext cx="987552" cy="356616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320040" y="150876"/>
            <a:ext cx="98755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/>
          </a:p>
        </p:txBody>
      </p:sp>
      <p:sp>
        <p:nvSpPr>
          <p:cNvPr id="213" name="Google Shape;213;p13"/>
          <p:cNvSpPr/>
          <p:nvPr/>
        </p:nvSpPr>
        <p:spPr>
          <a:xfrm>
            <a:off x="1444752" y="169164"/>
            <a:ext cx="1261872" cy="3200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3"/>
          <p:cNvSpPr txBox="1"/>
          <p:nvPr/>
        </p:nvSpPr>
        <p:spPr>
          <a:xfrm>
            <a:off x="1444752" y="169164"/>
            <a:ext cx="1261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CONTINUED</a:t>
            </a:r>
            <a:endParaRPr/>
          </a:p>
        </p:txBody>
      </p:sp>
      <p:sp>
        <p:nvSpPr>
          <p:cNvPr id="215" name="Google Shape;215;p13"/>
          <p:cNvSpPr txBox="1"/>
          <p:nvPr/>
        </p:nvSpPr>
        <p:spPr>
          <a:xfrm>
            <a:off x="2834640" y="73152"/>
            <a:ext cx="6035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JS — Click Listener &amp; DOM Scan  (2 of 3)</a:t>
            </a:r>
            <a:endParaRPr/>
          </a:p>
        </p:txBody>
      </p:sp>
      <p:pic>
        <p:nvPicPr>
          <p:cNvPr id="216" name="Google Shape;21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82296"/>
            <a:ext cx="1920240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3"/>
          <p:cNvSpPr txBox="1"/>
          <p:nvPr/>
        </p:nvSpPr>
        <p:spPr>
          <a:xfrm>
            <a:off x="292608" y="749808"/>
            <a:ext cx="8595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4F61"/>
                </a:solidFill>
                <a:latin typeface="Calibri"/>
                <a:ea typeface="Calibri"/>
                <a:cs typeface="Calibri"/>
                <a:sym typeface="Calibri"/>
              </a:rPr>
              <a:t>Find the image for the links, and inject the link on top</a:t>
            </a:r>
            <a:endParaRPr/>
          </a:p>
        </p:txBody>
      </p:sp>
      <p:sp>
        <p:nvSpPr>
          <p:cNvPr id="218" name="Google Shape;218;p13"/>
          <p:cNvSpPr txBox="1"/>
          <p:nvPr/>
        </p:nvSpPr>
        <p:spPr>
          <a:xfrm>
            <a:off x="292608" y="1188720"/>
            <a:ext cx="8595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This allows all links to open in one window, instead of opening more tabs. Kiosks generally don’t support multiple tabs.</a:t>
            </a:r>
            <a:endParaRPr/>
          </a:p>
        </p:txBody>
      </p:sp>
      <p:sp>
        <p:nvSpPr>
          <p:cNvPr id="219" name="Google Shape;219;p13"/>
          <p:cNvSpPr/>
          <p:nvPr/>
        </p:nvSpPr>
        <p:spPr>
          <a:xfrm>
            <a:off x="256025" y="1554475"/>
            <a:ext cx="8668500" cy="3588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256025" y="1554475"/>
            <a:ext cx="63900" cy="3588900"/>
          </a:xfrm>
          <a:prstGeom prst="rect">
            <a:avLst/>
          </a:prstGeom>
          <a:solidFill>
            <a:srgbClr val="0000C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3"/>
          <p:cNvSpPr txBox="1"/>
          <p:nvPr/>
        </p:nvSpPr>
        <p:spPr>
          <a:xfrm>
            <a:off x="347475" y="1645926"/>
            <a:ext cx="8531400" cy="3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Scans the </a:t>
            </a:r>
            <a:r>
              <a:rPr lang="en-US" sz="750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page</a:t>
            </a:r>
            <a:r>
              <a:rPr b="0" i="0" lang="en-US" sz="75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 for images that haven't had a click listener attached yet.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   When an image is clicked, navigates to its corresponding catalog search URL after a short delay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   to allow any Vega internal click handlers to fire first.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function </a:t>
            </a:r>
            <a:r>
              <a:rPr b="0" i="0" lang="en-US" sz="750" u="none" cap="none" strike="noStrike">
                <a:solidFill>
                  <a:srgbClr val="6B3E00"/>
                </a:solidFill>
                <a:latin typeface="Courier New"/>
                <a:ea typeface="Courier New"/>
                <a:cs typeface="Courier New"/>
                <a:sym typeface="Courier New"/>
              </a:rPr>
              <a:t>addClickListenerToImage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7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let 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allBound = </a:t>
            </a:r>
            <a:r>
              <a:rPr b="0" i="0" lang="en-US" sz="7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imageLinks.forEach(</a:t>
            </a:r>
            <a:r>
              <a:rPr b="0" i="0" lang="en-US" sz="7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({ src, url })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7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const 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img = document.querySelector(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'img[src*="'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+ src + 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'"]:not([data-click-bound])'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7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(img)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img.setAttribute(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'data-click-bound'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'true'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img.addEventListener(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'click'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7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setTimeout(</a:t>
            </a:r>
            <a:r>
              <a:rPr b="0" i="0" lang="en-US" sz="7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window.location.href = url;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}, 100);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console.log(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'Listener bound for: 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+ src);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} </a:t>
            </a:r>
            <a:r>
              <a:rPr b="0" i="0" lang="en-US" sz="7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else if 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(!document.querySelector(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'img[src*="'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+ src + 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'"'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en-US" sz="75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Image not yet in DOM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allBound = </a:t>
            </a:r>
            <a:r>
              <a:rPr b="0" i="0" lang="en-US" sz="7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});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75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Once every image has </a:t>
            </a:r>
            <a:r>
              <a:rPr lang="en-US" sz="750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been found</a:t>
            </a:r>
            <a:r>
              <a:rPr b="0" i="0" lang="en-US" sz="75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, stop polling and </a:t>
            </a:r>
            <a:r>
              <a:rPr lang="en-US" sz="750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prevent memory leaks by reclaiming resources.</a:t>
            </a:r>
            <a:r>
              <a:rPr b="0" i="0" lang="en-US" sz="75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7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(allBound)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clearInterval(poller);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observer.disconnect();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console.log(</a:t>
            </a:r>
            <a:r>
              <a:rPr b="0" i="0" lang="en-US" sz="7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'All listeners bound'</a:t>
            </a: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9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320040" y="150876"/>
            <a:ext cx="987552" cy="356616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320040" y="150876"/>
            <a:ext cx="98755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/>
          </a:p>
        </p:txBody>
      </p:sp>
      <p:sp>
        <p:nvSpPr>
          <p:cNvPr id="230" name="Google Shape;230;p14"/>
          <p:cNvSpPr/>
          <p:nvPr/>
        </p:nvSpPr>
        <p:spPr>
          <a:xfrm>
            <a:off x="1444752" y="169164"/>
            <a:ext cx="1261872" cy="3200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4"/>
          <p:cNvSpPr txBox="1"/>
          <p:nvPr/>
        </p:nvSpPr>
        <p:spPr>
          <a:xfrm>
            <a:off x="1444752" y="169164"/>
            <a:ext cx="1261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CONTINUED</a:t>
            </a:r>
            <a:endParaRPr/>
          </a:p>
        </p:txBody>
      </p:sp>
      <p:sp>
        <p:nvSpPr>
          <p:cNvPr id="232" name="Google Shape;232;p14"/>
          <p:cNvSpPr txBox="1"/>
          <p:nvPr/>
        </p:nvSpPr>
        <p:spPr>
          <a:xfrm>
            <a:off x="2834640" y="73152"/>
            <a:ext cx="6035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JS — Polling &amp; DOM Observation  (3 of 3)</a:t>
            </a:r>
            <a:endParaRPr sz="1300"/>
          </a:p>
        </p:txBody>
      </p:sp>
      <p:pic>
        <p:nvPicPr>
          <p:cNvPr id="233" name="Google Shape;23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1125" y="82296"/>
            <a:ext cx="1920240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4"/>
          <p:cNvSpPr txBox="1"/>
          <p:nvPr/>
        </p:nvSpPr>
        <p:spPr>
          <a:xfrm>
            <a:off x="292608" y="749808"/>
            <a:ext cx="8595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4F61"/>
                </a:solidFill>
                <a:latin typeface="Calibri"/>
                <a:ea typeface="Calibri"/>
                <a:cs typeface="Calibri"/>
                <a:sym typeface="Calibri"/>
              </a:rPr>
              <a:t>Make sure all images receive the proper link, especially if the user re-navigates to the home page.</a:t>
            </a:r>
            <a:endParaRPr/>
          </a:p>
        </p:txBody>
      </p:sp>
      <p:sp>
        <p:nvSpPr>
          <p:cNvPr id="235" name="Google Shape;235;p14"/>
          <p:cNvSpPr txBox="1"/>
          <p:nvPr/>
        </p:nvSpPr>
        <p:spPr>
          <a:xfrm>
            <a:off x="292608" y="1188720"/>
            <a:ext cx="8595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Links will be re-injected if the home page is reloaded by natural navigation.</a:t>
            </a:r>
            <a:endParaRPr/>
          </a:p>
        </p:txBody>
      </p:sp>
      <p:sp>
        <p:nvSpPr>
          <p:cNvPr id="236" name="Google Shape;236;p14"/>
          <p:cNvSpPr/>
          <p:nvPr/>
        </p:nvSpPr>
        <p:spPr>
          <a:xfrm>
            <a:off x="256025" y="1554475"/>
            <a:ext cx="8668500" cy="3588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256025" y="1554475"/>
            <a:ext cx="59400" cy="3588900"/>
          </a:xfrm>
          <a:prstGeom prst="rect">
            <a:avLst/>
          </a:prstGeom>
          <a:solidFill>
            <a:srgbClr val="0000C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4"/>
          <p:cNvSpPr txBox="1"/>
          <p:nvPr/>
        </p:nvSpPr>
        <p:spPr>
          <a:xfrm>
            <a:off x="347475" y="1645926"/>
            <a:ext cx="85314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Polls every 500ms to catch images that load after </a:t>
            </a:r>
            <a:r>
              <a:rPr lang="en-US" sz="1120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the page was served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   (Vega lazy-renders content, so images may not be present on initial page load) */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const </a:t>
            </a:r>
            <a:r>
              <a:rPr b="0" i="0" lang="en-US" sz="11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poller = setInterval(addClickListenerToImage, 500);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</a:t>
            </a:r>
            <a:r>
              <a:rPr lang="en-US" sz="1120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Watches in case a new image is rendered, checks the new images,</a:t>
            </a:r>
            <a:br>
              <a:rPr lang="en-US" sz="1120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120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   and checks the file names once to make sure it’s not a listed image</a:t>
            </a:r>
            <a:r>
              <a:rPr b="0" i="0" lang="en-US" sz="112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const </a:t>
            </a:r>
            <a:r>
              <a:rPr b="0" i="0" lang="en-US" sz="11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observer = </a:t>
            </a:r>
            <a:r>
              <a:rPr b="0" i="0" lang="en-US" sz="112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0" i="0" lang="en-US" sz="1120" u="none" cap="none" strike="noStrike">
                <a:solidFill>
                  <a:srgbClr val="6B3E00"/>
                </a:solidFill>
                <a:latin typeface="Courier New"/>
                <a:ea typeface="Courier New"/>
                <a:cs typeface="Courier New"/>
                <a:sym typeface="Courier New"/>
              </a:rPr>
              <a:t>MutationObserver</a:t>
            </a:r>
            <a:r>
              <a:rPr b="0" i="0" lang="en-US" sz="11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12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b="0" i="0" lang="en-US" sz="11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addClickListenerToImage();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document.addEventListener(</a:t>
            </a:r>
            <a:r>
              <a:rPr b="0" i="0" lang="en-US" sz="11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'DOMContentLoaded'</a:t>
            </a:r>
            <a:r>
              <a:rPr b="0" i="0" lang="en-US" sz="11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12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b="0" i="0" lang="en-US" sz="11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addClickListenerToImage();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observer.observe(document.body, {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childList: </a:t>
            </a:r>
            <a:r>
              <a:rPr b="0" i="0" lang="en-US" sz="112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1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subtree: </a:t>
            </a:r>
            <a:r>
              <a:rPr b="0" i="0" lang="en-US" sz="112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1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attributes: </a:t>
            </a:r>
            <a:r>
              <a:rPr b="0" i="0" lang="en-US" sz="112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1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attributeFilter: [</a:t>
            </a:r>
            <a:r>
              <a:rPr b="0" i="0" lang="en-US" sz="11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'src'</a:t>
            </a:r>
            <a:r>
              <a:rPr b="0" i="0" lang="en-US" sz="11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});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9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320040" y="150876"/>
            <a:ext cx="987552" cy="356616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5"/>
          <p:cNvSpPr txBox="1"/>
          <p:nvPr/>
        </p:nvSpPr>
        <p:spPr>
          <a:xfrm>
            <a:off x="320040" y="150876"/>
            <a:ext cx="98755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/>
          </a:p>
        </p:txBody>
      </p:sp>
      <p:sp>
        <p:nvSpPr>
          <p:cNvPr id="247" name="Google Shape;247;p15"/>
          <p:cNvSpPr txBox="1"/>
          <p:nvPr/>
        </p:nvSpPr>
        <p:spPr>
          <a:xfrm>
            <a:off x="1444752" y="73152"/>
            <a:ext cx="742492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JS — Inactivity Timer</a:t>
            </a:r>
            <a:endParaRPr/>
          </a:p>
        </p:txBody>
      </p:sp>
      <p:pic>
        <p:nvPicPr>
          <p:cNvPr id="248" name="Google Shape;24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82296"/>
            <a:ext cx="1920240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5"/>
          <p:cNvSpPr txBox="1"/>
          <p:nvPr/>
        </p:nvSpPr>
        <p:spPr>
          <a:xfrm>
            <a:off x="292608" y="749808"/>
            <a:ext cx="8595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4F61"/>
                </a:solidFill>
                <a:latin typeface="Calibri"/>
                <a:ea typeface="Calibri"/>
                <a:cs typeface="Calibri"/>
                <a:sym typeface="Calibri"/>
              </a:rPr>
              <a:t>Auto-return to home page after 60 seconds of inactivity</a:t>
            </a:r>
            <a:endParaRPr/>
          </a:p>
        </p:txBody>
      </p:sp>
      <p:sp>
        <p:nvSpPr>
          <p:cNvPr id="250" name="Google Shape;250;p15"/>
          <p:cNvSpPr txBox="1"/>
          <p:nvPr/>
        </p:nvSpPr>
        <p:spPr>
          <a:xfrm>
            <a:off x="292608" y="1188720"/>
            <a:ext cx="8595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startTimer() activates on first interaction. resetTimer() clears and restarts the 60-second countdown.</a:t>
            </a:r>
            <a:endParaRPr/>
          </a:p>
        </p:txBody>
      </p:sp>
      <p:sp>
        <p:nvSpPr>
          <p:cNvPr id="251" name="Google Shape;251;p15"/>
          <p:cNvSpPr/>
          <p:nvPr/>
        </p:nvSpPr>
        <p:spPr>
          <a:xfrm>
            <a:off x="256025" y="1554475"/>
            <a:ext cx="8668500" cy="3588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256025" y="1554475"/>
            <a:ext cx="59400" cy="3588900"/>
          </a:xfrm>
          <a:prstGeom prst="rect">
            <a:avLst/>
          </a:prstGeom>
          <a:solidFill>
            <a:srgbClr val="0000C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5"/>
          <p:cNvSpPr txBox="1"/>
          <p:nvPr/>
        </p:nvSpPr>
        <p:spPr>
          <a:xfrm>
            <a:off x="347475" y="1554725"/>
            <a:ext cx="4728300" cy="3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let </a:t>
            </a: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inactivityTimer;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let </a:t>
            </a: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timerActive = </a:t>
            </a:r>
            <a:r>
              <a:rPr b="0" i="0" lang="en-US" sz="5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Change this to your specific URL/path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const </a:t>
            </a: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HOME_URL = </a:t>
            </a:r>
            <a:r>
              <a:rPr b="0" i="0" lang="en-US" sz="5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'/'</a:t>
            </a: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Activates the inactivity timer on the first user interaction — only fires once per page load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function </a:t>
            </a:r>
            <a:r>
              <a:rPr b="0" i="0" lang="en-US" sz="550" u="none" cap="none" strike="noStrike">
                <a:solidFill>
                  <a:srgbClr val="6B3E00"/>
                </a:solidFill>
                <a:latin typeface="Courier New"/>
                <a:ea typeface="Courier New"/>
                <a:cs typeface="Courier New"/>
                <a:sym typeface="Courier New"/>
              </a:rPr>
              <a:t>startTimer</a:t>
            </a: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5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(timerActive) </a:t>
            </a:r>
            <a:r>
              <a:rPr b="0" i="0" lang="en-US" sz="5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timerActive = </a:t>
            </a:r>
            <a:r>
              <a:rPr b="0" i="0" lang="en-US" sz="5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console.log(</a:t>
            </a:r>
            <a:r>
              <a:rPr b="0" i="0" lang="en-US" sz="5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'First interaction detected. Inactivity timer is now active.'</a:t>
            </a: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resetTimer();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Clears and restarts the 60-second countdown.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   If no interaction occurs within 60 seconds, the kiosk automatically redirects to the home page.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function </a:t>
            </a:r>
            <a:r>
              <a:rPr b="0" i="0" lang="en-US" sz="550" u="none" cap="none" strike="noStrike">
                <a:solidFill>
                  <a:srgbClr val="6B3E00"/>
                </a:solidFill>
                <a:latin typeface="Courier New"/>
                <a:ea typeface="Courier New"/>
                <a:cs typeface="Courier New"/>
                <a:sym typeface="Courier New"/>
              </a:rPr>
              <a:t>resetTimer</a:t>
            </a: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clearTimeout(inactivityTimer);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console.log(</a:t>
            </a:r>
            <a:r>
              <a:rPr b="0" i="0" lang="en-US" sz="5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'Inactivity timer reset. Redirecting in 60 seconds if no interaction...'</a:t>
            </a: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inactivityTimer = setTimeout(() =&gt;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console.log(</a:t>
            </a:r>
            <a:r>
              <a:rPr b="0" i="0" lang="en-US" sz="5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'No interaction detected for 60 seconds. Redirecting to home page...'</a:t>
            </a: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window.location.href = HOME_URL;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}, 60000);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On the home page, the timer only activates after the first touch or click.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   This prevents an idle kiosk from immediately bouncing back to home before anyone has interacted with it.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(window.location.pathname === HOME_URL)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console.log(</a:t>
            </a:r>
            <a:r>
              <a:rPr b="0" i="0" lang="en-US" sz="5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'On home page. Waiting for first click or touch...'</a:t>
            </a: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5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const </a:t>
            </a: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activationEvents = [</a:t>
            </a:r>
            <a:r>
              <a:rPr b="0" i="0" lang="en-US" sz="5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'click'</a:t>
            </a: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5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'touchstart'</a:t>
            </a: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activationEvents.forEach(event =&gt;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document.addEventListener(event, </a:t>
            </a:r>
            <a:r>
              <a:rPr b="0" i="0" lang="en-US" sz="5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function </a:t>
            </a:r>
            <a:r>
              <a:rPr b="0" i="0" lang="en-US" sz="550" u="none" cap="none" strike="noStrike">
                <a:solidFill>
                  <a:srgbClr val="6B3E00"/>
                </a:solidFill>
                <a:latin typeface="Courier New"/>
                <a:ea typeface="Courier New"/>
                <a:cs typeface="Courier New"/>
                <a:sym typeface="Courier New"/>
              </a:rPr>
              <a:t>onFirstInteraction</a:t>
            </a: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(e)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startTimer();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en-US" sz="55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Remove the activation listener after first interaction so startTimer is not called again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document.removeEventListener(event, onFirstInteraction);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});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});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0" i="0" lang="en-US" sz="5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55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On all other pages, start the inactivity timer immediately — the user is already browsing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console.log(</a:t>
            </a:r>
            <a:r>
              <a:rPr b="0" i="0" lang="en-US" sz="5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'Inactivity tracker initialized on '</a:t>
            </a: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+ window.location.pathname);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timerActive = </a:t>
            </a:r>
            <a:r>
              <a:rPr b="0" i="0" lang="en-US" sz="5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resetTimer();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54" name="Google Shape;254;p15"/>
          <p:cNvSpPr txBox="1"/>
          <p:nvPr/>
        </p:nvSpPr>
        <p:spPr>
          <a:xfrm>
            <a:off x="5048150" y="1554475"/>
            <a:ext cx="3876300" cy="3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20" u="none" cap="none" strike="noStrike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Resets the inactivity countdown on any meaningful user interaction across all pages */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2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const </a:t>
            </a:r>
            <a:r>
              <a:rPr b="0" i="0" lang="en-US" sz="6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events = [</a:t>
            </a:r>
            <a:r>
              <a:rPr b="0" i="0" lang="en-US" sz="6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'mousemove'</a:t>
            </a:r>
            <a:r>
              <a:rPr b="0" i="0" lang="en-US" sz="6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6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'mousedown'</a:t>
            </a:r>
            <a:r>
              <a:rPr b="0" i="0" lang="en-US" sz="6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6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'keydown'</a:t>
            </a:r>
            <a:r>
              <a:rPr b="0" i="0" lang="en-US" sz="6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6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'touchstart'</a:t>
            </a:r>
            <a:r>
              <a:rPr b="0" i="0" lang="en-US" sz="6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6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'scroll'</a:t>
            </a:r>
            <a:r>
              <a:rPr b="0" i="0" lang="en-US" sz="6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6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'click'</a:t>
            </a:r>
            <a:r>
              <a:rPr b="0" i="0" lang="en-US" sz="6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events.forEach(event =&gt; {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document.addEventListener(event, (e) =&gt; {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62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0" i="0" lang="en-US" sz="6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(!timerActive) </a:t>
            </a:r>
            <a:r>
              <a:rPr b="0" i="0" lang="en-US" sz="62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6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console.log(</a:t>
            </a:r>
            <a:r>
              <a:rPr b="0" i="0" lang="en-US" sz="6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'Interaction detected: ['</a:t>
            </a:r>
            <a:r>
              <a:rPr b="0" i="0" lang="en-US" sz="6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+ e.type + </a:t>
            </a:r>
            <a:r>
              <a:rPr b="0" i="0" lang="en-US" sz="62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']. Restarting timer.'</a:t>
            </a:r>
            <a:r>
              <a:rPr b="0" i="0" lang="en-US" sz="6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resetTimer();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});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2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1200"/>
          </a:p>
        </p:txBody>
      </p:sp>
      <p:sp>
        <p:nvSpPr>
          <p:cNvPr id="255" name="Google Shape;255;p15"/>
          <p:cNvSpPr/>
          <p:nvPr/>
        </p:nvSpPr>
        <p:spPr>
          <a:xfrm>
            <a:off x="5048150" y="1554725"/>
            <a:ext cx="59400" cy="3588900"/>
          </a:xfrm>
          <a:prstGeom prst="rect">
            <a:avLst/>
          </a:prstGeom>
          <a:solidFill>
            <a:srgbClr val="0000C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9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320040" y="150876"/>
            <a:ext cx="987552" cy="356616"/>
          </a:xfrm>
          <a:prstGeom prst="rect">
            <a:avLst/>
          </a:prstGeom>
          <a:solidFill>
            <a:srgbClr val="569C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6"/>
          <p:cNvSpPr txBox="1"/>
          <p:nvPr/>
        </p:nvSpPr>
        <p:spPr>
          <a:xfrm>
            <a:off x="320040" y="150876"/>
            <a:ext cx="98755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/>
          </a:p>
        </p:txBody>
      </p:sp>
      <p:sp>
        <p:nvSpPr>
          <p:cNvPr id="264" name="Google Shape;264;p16"/>
          <p:cNvSpPr txBox="1"/>
          <p:nvPr/>
        </p:nvSpPr>
        <p:spPr>
          <a:xfrm>
            <a:off x="1444752" y="73152"/>
            <a:ext cx="742492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JS — Link Override &amp; DOM Watcher</a:t>
            </a:r>
            <a:endParaRPr/>
          </a:p>
        </p:txBody>
      </p:sp>
      <p:pic>
        <p:nvPicPr>
          <p:cNvPr id="265" name="Google Shape;26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82296"/>
            <a:ext cx="1920240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6"/>
          <p:cNvSpPr txBox="1"/>
          <p:nvPr/>
        </p:nvSpPr>
        <p:spPr>
          <a:xfrm>
            <a:off x="292608" y="749808"/>
            <a:ext cx="8595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4F61"/>
                </a:solidFill>
                <a:latin typeface="Calibri"/>
                <a:ea typeface="Calibri"/>
                <a:cs typeface="Calibri"/>
                <a:sym typeface="Calibri"/>
              </a:rPr>
              <a:t>Force Vega to load all links in one window</a:t>
            </a:r>
            <a:endParaRPr/>
          </a:p>
        </p:txBody>
      </p:sp>
      <p:sp>
        <p:nvSpPr>
          <p:cNvPr id="267" name="Google Shape;267;p16"/>
          <p:cNvSpPr txBox="1"/>
          <p:nvPr/>
        </p:nvSpPr>
        <p:spPr>
          <a:xfrm>
            <a:off x="292608" y="1188720"/>
            <a:ext cx="8595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This prevents any default Vega links from opening in a new tab, to allow for Kiosk flexibility</a:t>
            </a:r>
            <a:endParaRPr/>
          </a:p>
        </p:txBody>
      </p:sp>
      <p:sp>
        <p:nvSpPr>
          <p:cNvPr id="268" name="Google Shape;268;p16"/>
          <p:cNvSpPr/>
          <p:nvPr/>
        </p:nvSpPr>
        <p:spPr>
          <a:xfrm>
            <a:off x="256025" y="1554475"/>
            <a:ext cx="3913500" cy="3588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256025" y="1554475"/>
            <a:ext cx="59400" cy="3588900"/>
          </a:xfrm>
          <a:prstGeom prst="rect">
            <a:avLst/>
          </a:prstGeom>
          <a:solidFill>
            <a:srgbClr val="0000C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4443975" y="1554475"/>
            <a:ext cx="3913500" cy="3588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4443973" y="1554475"/>
            <a:ext cx="59400" cy="3588900"/>
          </a:xfrm>
          <a:prstGeom prst="rect">
            <a:avLst/>
          </a:prstGeom>
          <a:solidFill>
            <a:srgbClr val="0000C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347475" y="1554425"/>
            <a:ext cx="37764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650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Log everything to console to be sure */</a:t>
            </a:r>
            <a:endParaRPr sz="65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const 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_log = (msg) =&gt; console.log(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`[fix-blank] ${Date.now()} — ${msg}`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6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650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Check if any links will try to load in a new window or tab */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function </a:t>
            </a:r>
            <a:r>
              <a:rPr b="0" i="0" lang="en-US" sz="650" u="none" cap="none" strike="noStrike">
                <a:solidFill>
                  <a:srgbClr val="6B3E00"/>
                </a:solidFill>
                <a:latin typeface="Courier New"/>
                <a:ea typeface="Courier New"/>
                <a:cs typeface="Courier New"/>
                <a:sym typeface="Courier New"/>
              </a:rPr>
              <a:t>fixLinks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(root) {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(!root) 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let 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count = </a:t>
            </a:r>
            <a:r>
              <a:rPr b="0" i="0" lang="en-US" sz="650" u="none" cap="none" strike="noStrike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(root.tagName === 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&amp;&amp; root.target === 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'_blank'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root.removeAttribute(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'target'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 count++;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root.querySelectorAll &amp;&amp; root.querySelectorAll(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'a[target="_blank"]'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).forEach(a =&gt; {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a.removeAttribute(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'target'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 count++;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});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(count &gt; </a:t>
            </a:r>
            <a:r>
              <a:rPr b="0" i="0" lang="en-US" sz="650" u="none" cap="none" strike="noStrike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 _log(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`fixed ${count} link(s) via ${root.tagName || 'root'}`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count;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6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650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Do a sweep and replace found links on the initial load*/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[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'pushState'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'replaceState'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].forEach(method =&gt; {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const 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orig = history[method].bind(history);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history[method] = 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(...args) {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_log(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`${method} → ${args[2]}`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orig(...args);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[</a:t>
            </a:r>
            <a:r>
              <a:rPr b="0" i="0" lang="en-US" sz="650" u="none" cap="none" strike="noStrike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650" u="none" cap="none" strike="noStrike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600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650" u="none" cap="none" strike="noStrike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1200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650" u="none" cap="none" strike="noStrike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2500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].forEach(ms =&gt;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setTimeout(() =&gt; {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const 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n = document.querySelectorAll(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'a[target="_blank"]'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).length;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_log(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`sweep +${ms}ms after ${method}: found ${n}`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fixLinks(document.body);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}, ms));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};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});</a:t>
            </a:r>
            <a:endParaRPr sz="650"/>
          </a:p>
        </p:txBody>
      </p:sp>
      <p:sp>
        <p:nvSpPr>
          <p:cNvPr id="273" name="Google Shape;273;p16"/>
          <p:cNvSpPr txBox="1"/>
          <p:nvPr/>
        </p:nvSpPr>
        <p:spPr>
          <a:xfrm>
            <a:off x="4535425" y="1554425"/>
            <a:ext cx="37764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Keep an observer up, for links that load after the page is served */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0" i="0" sz="6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const 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blankLinkObserver = 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b="0" i="0" lang="en-US" sz="650" u="none" cap="none" strike="noStrike">
                <a:solidFill>
                  <a:srgbClr val="6B3E00"/>
                </a:solidFill>
                <a:latin typeface="Courier New"/>
                <a:ea typeface="Courier New"/>
                <a:cs typeface="Courier New"/>
                <a:sym typeface="Courier New"/>
              </a:rPr>
              <a:t>MutationObserver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(mutations =&gt; {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mutations.forEach(m =&gt; {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m.addedNodes.forEach(n =&gt; {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(n.nodeType !== </a:t>
            </a:r>
            <a:r>
              <a:rPr b="0" i="0" lang="en-US" sz="650" u="none" cap="none" strike="noStrike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const 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self = n.tagName === 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&amp;&amp; n.getAttribute(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'target'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 === 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'_blank'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const 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desc = n.querySelectorAll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? n.querySelectorAll(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'a[target="_blank"]'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).length : </a:t>
            </a:r>
            <a:r>
              <a:rPr b="0" i="0" lang="en-US" sz="650" u="none" cap="none" strike="noStrike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(self || desc &gt; </a:t>
            </a:r>
            <a:r>
              <a:rPr b="0" i="0" lang="en-US" sz="650" u="none" cap="none" strike="noStrike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_log(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`observer: added ${n.tagName} with ${desc+(self?1:0)} blank link(s)`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fixLinks(n);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});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(m.type === 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'attributes'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&amp;&amp; m.target.tagName === 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&amp;&amp; m.target.getAttribute(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'target'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 === 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'_blank'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_log(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`observer: attribute target=_blank on .${m.target.className}`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m.target.removeAttribute(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'target'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});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});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blankLinkObserver.observe(document.body, {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childList: 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subtree: 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attributes: 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attributeFilter: [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'target'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});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_log(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'observer attached to document.body'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6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650">
                <a:solidFill>
                  <a:srgbClr val="218A00"/>
                </a:solidFill>
                <a:latin typeface="Courier New"/>
                <a:ea typeface="Courier New"/>
                <a:cs typeface="Courier New"/>
                <a:sym typeface="Courier New"/>
              </a:rPr>
              <a:t>/* If a link is found, log it to the console and replace it */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[</a:t>
            </a:r>
            <a:r>
              <a:rPr b="0" i="0" lang="en-US" sz="650" u="none" cap="none" strike="noStrike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650" u="none" cap="none" strike="noStrike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500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650" u="none" cap="none" strike="noStrike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1500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650" u="none" cap="none" strike="noStrike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3000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].forEach(ms =&gt;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setTimeout(() =&gt; {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0" i="0" lang="en-US" sz="6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const 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n = document.querySelectorAll(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'a[target="_blank"]'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).length;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_log(</a:t>
            </a:r>
            <a:r>
              <a:rPr b="0" i="0" lang="en-US" sz="650" u="none" cap="none" strike="noStrike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`initial sweep +${ms}ms: found ${n}`</a:t>
            </a: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fixLinks(document.body);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}, ms)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endParaRPr sz="6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})();</a:t>
            </a:r>
            <a:endParaRPr sz="6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B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980"/>
          </a:solidFill>
          <a:ln cap="flat" cmpd="sng" w="12700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365760" y="64008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Scan, Explore &amp; Connect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365712" y="752787"/>
            <a:ext cx="1763100" cy="1914300"/>
          </a:xfrm>
          <a:prstGeom prst="rect">
            <a:avLst/>
          </a:prstGeom>
          <a:solidFill>
            <a:srgbClr val="FFFFFF"/>
          </a:solidFill>
          <a:ln cap="flat" cmpd="sng" w="105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5973" rotWithShape="0" algn="bl" dir="8100000" dist="13993">
              <a:srgbClr val="000000">
                <a:alpha val="7058"/>
              </a:srgbClr>
            </a:outerShdw>
          </a:effectLst>
        </p:spPr>
        <p:txBody>
          <a:bodyPr anchorCtr="0" anchor="ctr" bIns="100725" lIns="100725" spcFirstLastPara="1" rIns="100725" wrap="square" tIns="100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365712" y="752787"/>
            <a:ext cx="1763100" cy="60600"/>
          </a:xfrm>
          <a:prstGeom prst="rect">
            <a:avLst/>
          </a:prstGeom>
          <a:solidFill>
            <a:srgbClr val="006980"/>
          </a:solidFill>
          <a:ln cap="flat" cmpd="sng" w="14000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725" lIns="100725" spcFirstLastPara="1" rIns="100725" wrap="square" tIns="100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IC Full Catalog" id="283" name="Google Shape;2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914" y="853538"/>
            <a:ext cx="1440743" cy="115863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7"/>
          <p:cNvSpPr/>
          <p:nvPr/>
        </p:nvSpPr>
        <p:spPr>
          <a:xfrm>
            <a:off x="365712" y="2052476"/>
            <a:ext cx="1763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50" lIns="100725" spcFirstLastPara="1" rIns="100725" wrap="square" tIns="50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F61"/>
              </a:buClr>
              <a:buSzPts val="992"/>
              <a:buFont typeface="Calibri"/>
              <a:buNone/>
            </a:pPr>
            <a:r>
              <a:rPr b="1" i="0" lang="en-US" sz="992" u="none" cap="none" strike="noStrike">
                <a:solidFill>
                  <a:srgbClr val="004F61"/>
                </a:solidFill>
                <a:latin typeface="Calibri"/>
                <a:ea typeface="Calibri"/>
                <a:cs typeface="Calibri"/>
                <a:sym typeface="Calibri"/>
              </a:rPr>
              <a:t>IIC Full Catalog</a:t>
            </a:r>
            <a:endParaRPr b="0" i="0" sz="9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365712" y="2314429"/>
            <a:ext cx="17631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50" lIns="100725" spcFirstLastPara="1" rIns="100725" wrap="square" tIns="50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6"/>
              <a:buFont typeface="Calibri"/>
              <a:buNone/>
            </a:pPr>
            <a:r>
              <a:rPr b="0" i="0" lang="en-US" sz="826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iic.rhpl.org</a:t>
            </a:r>
            <a:endParaRPr b="0" i="0" sz="8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2582239" y="752787"/>
            <a:ext cx="1763100" cy="1914300"/>
          </a:xfrm>
          <a:prstGeom prst="rect">
            <a:avLst/>
          </a:prstGeom>
          <a:solidFill>
            <a:srgbClr val="FFFFFF"/>
          </a:solidFill>
          <a:ln cap="flat" cmpd="sng" w="105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5973" rotWithShape="0" algn="bl" dir="8100000" dist="13993">
              <a:srgbClr val="000000">
                <a:alpha val="7058"/>
              </a:srgbClr>
            </a:outerShdw>
          </a:effectLst>
        </p:spPr>
        <p:txBody>
          <a:bodyPr anchorCtr="0" anchor="ctr" bIns="100725" lIns="100725" spcFirstLastPara="1" rIns="100725" wrap="square" tIns="100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2582239" y="752787"/>
            <a:ext cx="1763100" cy="60600"/>
          </a:xfrm>
          <a:prstGeom prst="rect">
            <a:avLst/>
          </a:prstGeom>
          <a:solidFill>
            <a:srgbClr val="006980"/>
          </a:solidFill>
          <a:ln cap="flat" cmpd="sng" w="14000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725" lIns="100725" spcFirstLastPara="1" rIns="100725" wrap="square" tIns="100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IC Kiosk (Stripped)" id="288" name="Google Shape;28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441" y="853538"/>
            <a:ext cx="1440742" cy="1158638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7"/>
          <p:cNvSpPr/>
          <p:nvPr/>
        </p:nvSpPr>
        <p:spPr>
          <a:xfrm>
            <a:off x="2582239" y="2052476"/>
            <a:ext cx="1763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50" lIns="100725" spcFirstLastPara="1" rIns="100725" wrap="square" tIns="50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F61"/>
              </a:buClr>
              <a:buSzPts val="992"/>
              <a:buFont typeface="Calibri"/>
              <a:buNone/>
            </a:pPr>
            <a:r>
              <a:rPr b="1" i="0" lang="en-US" sz="992" u="none" cap="none" strike="noStrike">
                <a:solidFill>
                  <a:srgbClr val="004F61"/>
                </a:solidFill>
                <a:latin typeface="Calibri"/>
                <a:ea typeface="Calibri"/>
                <a:cs typeface="Calibri"/>
                <a:sym typeface="Calibri"/>
              </a:rPr>
              <a:t>IIC Kiosk (Stripped)</a:t>
            </a:r>
            <a:endParaRPr b="0" i="0" sz="9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2582239" y="2314429"/>
            <a:ext cx="17631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50" lIns="100725" spcFirstLastPara="1" rIns="100725" wrap="square" tIns="50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6"/>
              <a:buFont typeface="Calibri"/>
              <a:buNone/>
            </a:pPr>
            <a:r>
              <a:rPr b="0" i="0" lang="en-US" sz="826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mbiic-rhpl.na3.iiivega.com</a:t>
            </a:r>
            <a:endParaRPr b="0" i="0" sz="8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4798766" y="752787"/>
            <a:ext cx="1763100" cy="1914300"/>
          </a:xfrm>
          <a:prstGeom prst="rect">
            <a:avLst/>
          </a:prstGeom>
          <a:solidFill>
            <a:srgbClr val="FFFFFF"/>
          </a:solidFill>
          <a:ln cap="flat" cmpd="sng" w="105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5973" rotWithShape="0" algn="bl" dir="8100000" dist="13993">
              <a:srgbClr val="000000">
                <a:alpha val="7058"/>
              </a:srgbClr>
            </a:outerShdw>
          </a:effectLst>
        </p:spPr>
        <p:txBody>
          <a:bodyPr anchorCtr="0" anchor="ctr" bIns="100725" lIns="100725" spcFirstLastPara="1" rIns="100725" wrap="square" tIns="100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4798766" y="752787"/>
            <a:ext cx="1763100" cy="60600"/>
          </a:xfrm>
          <a:prstGeom prst="rect">
            <a:avLst/>
          </a:prstGeom>
          <a:solidFill>
            <a:srgbClr val="006980"/>
          </a:solidFill>
          <a:ln cap="flat" cmpd="sng" w="14000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725" lIns="100725" spcFirstLastPara="1" rIns="100725" wrap="square" tIns="100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Kids Full Catalog" id="293" name="Google Shape;29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9968" y="853538"/>
            <a:ext cx="1440743" cy="1158638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7"/>
          <p:cNvSpPr/>
          <p:nvPr/>
        </p:nvSpPr>
        <p:spPr>
          <a:xfrm>
            <a:off x="4798766" y="2052476"/>
            <a:ext cx="1763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50" lIns="100725" spcFirstLastPara="1" rIns="100725" wrap="square" tIns="50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F61"/>
              </a:buClr>
              <a:buSzPts val="992"/>
              <a:buFont typeface="Calibri"/>
              <a:buNone/>
            </a:pPr>
            <a:r>
              <a:rPr b="1" i="0" lang="en-US" sz="992" u="none" cap="none" strike="noStrike">
                <a:solidFill>
                  <a:srgbClr val="004F61"/>
                </a:solidFill>
                <a:latin typeface="Calibri"/>
                <a:ea typeface="Calibri"/>
                <a:cs typeface="Calibri"/>
                <a:sym typeface="Calibri"/>
              </a:rPr>
              <a:t>Kids Full Catalog</a:t>
            </a:r>
            <a:endParaRPr b="0" i="0" sz="9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7"/>
          <p:cNvSpPr/>
          <p:nvPr/>
        </p:nvSpPr>
        <p:spPr>
          <a:xfrm>
            <a:off x="4798766" y="2314429"/>
            <a:ext cx="17631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50" lIns="100725" spcFirstLastPara="1" rIns="100725" wrap="square" tIns="50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6"/>
              <a:buFont typeface="Calibri"/>
              <a:buNone/>
            </a:pPr>
            <a:r>
              <a:rPr b="0" i="0" lang="en-US" sz="826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kids.rhpl.org</a:t>
            </a:r>
            <a:endParaRPr b="0" i="0" sz="8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7015293" y="752787"/>
            <a:ext cx="1763100" cy="1914300"/>
          </a:xfrm>
          <a:prstGeom prst="rect">
            <a:avLst/>
          </a:prstGeom>
          <a:solidFill>
            <a:srgbClr val="FFFFFF"/>
          </a:solidFill>
          <a:ln cap="flat" cmpd="sng" w="105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5973" rotWithShape="0" algn="bl" dir="8100000" dist="13993">
              <a:srgbClr val="000000">
                <a:alpha val="7058"/>
              </a:srgbClr>
            </a:outerShdw>
          </a:effectLst>
        </p:spPr>
        <p:txBody>
          <a:bodyPr anchorCtr="0" anchor="ctr" bIns="100725" lIns="100725" spcFirstLastPara="1" rIns="100725" wrap="square" tIns="100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7015293" y="752787"/>
            <a:ext cx="1763100" cy="60600"/>
          </a:xfrm>
          <a:prstGeom prst="rect">
            <a:avLst/>
          </a:prstGeom>
          <a:solidFill>
            <a:srgbClr val="006980"/>
          </a:solidFill>
          <a:ln cap="flat" cmpd="sng" w="14000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725" lIns="100725" spcFirstLastPara="1" rIns="100725" wrap="square" tIns="100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Kids Subject Kiosk" id="298" name="Google Shape;29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6495" y="853538"/>
            <a:ext cx="1440743" cy="1158638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7"/>
          <p:cNvSpPr/>
          <p:nvPr/>
        </p:nvSpPr>
        <p:spPr>
          <a:xfrm>
            <a:off x="7015293" y="2052476"/>
            <a:ext cx="1763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50" lIns="100725" spcFirstLastPara="1" rIns="100725" wrap="square" tIns="50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F61"/>
              </a:buClr>
              <a:buSzPts val="992"/>
              <a:buFont typeface="Calibri"/>
              <a:buNone/>
            </a:pPr>
            <a:r>
              <a:rPr b="1" i="0" lang="en-US" sz="992" u="none" cap="none" strike="noStrike">
                <a:solidFill>
                  <a:srgbClr val="004F61"/>
                </a:solidFill>
                <a:latin typeface="Calibri"/>
                <a:ea typeface="Calibri"/>
                <a:cs typeface="Calibri"/>
                <a:sym typeface="Calibri"/>
              </a:rPr>
              <a:t>Kids Subject Kiosk</a:t>
            </a:r>
            <a:endParaRPr b="0" i="0" sz="9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7015293" y="2314429"/>
            <a:ext cx="17631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50" lIns="100725" spcFirstLastPara="1" rIns="100725" wrap="square" tIns="50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6"/>
              <a:buFont typeface="Calibri"/>
              <a:buNone/>
            </a:pPr>
            <a:r>
              <a:rPr b="0" i="0" lang="en-US" sz="826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mbksub-rhpl.na3.iiivega.com</a:t>
            </a:r>
            <a:endParaRPr b="0" i="0" sz="8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" name="Google Shape;301;p17"/>
          <p:cNvCxnSpPr/>
          <p:nvPr/>
        </p:nvCxnSpPr>
        <p:spPr>
          <a:xfrm>
            <a:off x="201168" y="2761488"/>
            <a:ext cx="8741664" cy="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17"/>
          <p:cNvSpPr/>
          <p:nvPr/>
        </p:nvSpPr>
        <p:spPr>
          <a:xfrm>
            <a:off x="944484" y="2789225"/>
            <a:ext cx="2189700" cy="804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944484" y="2790875"/>
            <a:ext cx="63900" cy="802800"/>
          </a:xfrm>
          <a:prstGeom prst="rect">
            <a:avLst/>
          </a:prstGeom>
          <a:solidFill>
            <a:srgbClr val="006980"/>
          </a:solidFill>
          <a:ln cap="flat" cmpd="sng" w="12700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1090783" y="2825800"/>
            <a:ext cx="204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F6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4F61"/>
                </a:solidFill>
                <a:latin typeface="Calibri"/>
                <a:ea typeface="Calibri"/>
                <a:cs typeface="Calibri"/>
                <a:sym typeface="Calibri"/>
              </a:rPr>
              <a:t>Vega Custom </a:t>
            </a:r>
            <a:r>
              <a:rPr b="1" i="0" lang="en-US" sz="1100" u="none" cap="none" strike="noStrike">
                <a:solidFill>
                  <a:srgbClr val="004F61"/>
                </a:solidFill>
                <a:latin typeface="Calibri"/>
                <a:ea typeface="Calibri"/>
                <a:cs typeface="Calibri"/>
                <a:sym typeface="Calibri"/>
              </a:rPr>
              <a:t>Code on GitHub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7"/>
          <p:cNvSpPr/>
          <p:nvPr/>
        </p:nvSpPr>
        <p:spPr>
          <a:xfrm>
            <a:off x="1090783" y="3066375"/>
            <a:ext cx="204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All custom CSS, JS &amp; header/footer code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Free to use and adapt for your library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7"/>
          <p:cNvSpPr/>
          <p:nvPr/>
        </p:nvSpPr>
        <p:spPr>
          <a:xfrm>
            <a:off x="3211835" y="2792088"/>
            <a:ext cx="2714400" cy="804600"/>
          </a:xfrm>
          <a:prstGeom prst="rect">
            <a:avLst/>
          </a:prstGeom>
          <a:solidFill>
            <a:srgbClr val="006378"/>
          </a:solidFill>
          <a:ln cap="flat" cmpd="sng" w="12700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3320257" y="2864863"/>
            <a:ext cx="262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Derek Brown  |  Director of 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3320257" y="3120888"/>
            <a:ext cx="262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derek.brown@rhpl.org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3320257" y="3322063"/>
            <a:ext cx="262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(248) 650-7123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56600" y="3721150"/>
            <a:ext cx="9022500" cy="118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56600" y="3721150"/>
            <a:ext cx="66000" cy="1188600"/>
          </a:xfrm>
          <a:prstGeom prst="rect">
            <a:avLst/>
          </a:prstGeom>
          <a:solidFill>
            <a:srgbClr val="6F263D"/>
          </a:solidFill>
          <a:ln cap="flat" cmpd="sng" w="12700">
            <a:solidFill>
              <a:srgbClr val="6F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226478" y="3794302"/>
            <a:ext cx="8682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26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F263D"/>
                </a:solidFill>
                <a:latin typeface="Calibri"/>
                <a:ea typeface="Calibri"/>
                <a:cs typeface="Calibri"/>
                <a:sym typeface="Calibri"/>
              </a:rPr>
              <a:t>Find me again at IUG 2026 this week: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226478" y="4050334"/>
            <a:ext cx="8682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Tue Apr 14, 10:30am  |  Vega in Action: A Community Showcase of Customer Implementations  (Kane)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226478" y="4251502"/>
            <a:ext cx="8682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Tue Apr 14, 4:30pm    |  Lightning Rounds: From Door to Desktop - Identity Provider Integration  (Ballroom G)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226478" y="4452670"/>
            <a:ext cx="8682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Wed Apr 15, 9:00am  |  Lightning Rounds: Start Your Regional IUG Group  (Ballroom G)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226478" y="4653838"/>
            <a:ext cx="8682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Wed Apr 15, 1:30pm  |  All Things Vega Forum  (Kane)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0" y="4942200"/>
            <a:ext cx="9144000" cy="201300"/>
          </a:xfrm>
          <a:prstGeom prst="rect">
            <a:avLst/>
          </a:prstGeom>
          <a:solidFill>
            <a:srgbClr val="6F263D"/>
          </a:solidFill>
          <a:ln cap="flat" cmpd="sng" w="12700">
            <a:solidFill>
              <a:srgbClr val="6F2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274320" y="4953868"/>
            <a:ext cx="85953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"Happy to share code, answer questions, or geek out about kiosks. Just ask."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90399" y="2786813"/>
            <a:ext cx="735750" cy="81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55975" y="51561"/>
            <a:ext cx="2623049" cy="5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422" y="2771588"/>
            <a:ext cx="845062" cy="845062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7"/>
          <p:cNvSpPr/>
          <p:nvPr/>
        </p:nvSpPr>
        <p:spPr>
          <a:xfrm>
            <a:off x="6003884" y="2791813"/>
            <a:ext cx="2189700" cy="804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8193484" y="2792712"/>
            <a:ext cx="63900" cy="802800"/>
          </a:xfrm>
          <a:prstGeom prst="rect">
            <a:avLst/>
          </a:prstGeom>
          <a:solidFill>
            <a:srgbClr val="006980"/>
          </a:solidFill>
          <a:ln cap="flat" cmpd="sng" w="12700">
            <a:solidFill>
              <a:srgbClr val="0069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6150183" y="2828388"/>
            <a:ext cx="204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F6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4F61"/>
                </a:solidFill>
                <a:latin typeface="Calibri"/>
                <a:ea typeface="Calibri"/>
                <a:cs typeface="Calibri"/>
                <a:sym typeface="Calibri"/>
              </a:rPr>
              <a:t>Vega Kiosk Presentation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6150183" y="3068963"/>
            <a:ext cx="204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This</a:t>
            </a:r>
            <a:r>
              <a:rPr lang="en-US" sz="9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will link directly to this presentation and it will be uploaded to the IUG Clearinghouse after the event.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254309" y="2786825"/>
            <a:ext cx="814576" cy="81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